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30"/>
  </p:notes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84327" autoAdjust="0"/>
  </p:normalViewPr>
  <p:slideViewPr>
    <p:cSldViewPr snapToGrid="0">
      <p:cViewPr varScale="1">
        <p:scale>
          <a:sx n="81" d="100"/>
          <a:sy n="81" d="100"/>
        </p:scale>
        <p:origin x="90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en-US"/>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05CAAF65-2EB2-438A-BE19-D7685DAAC792}" type="datetimeFigureOut">
              <a:rPr lang="en-US" smtClean="0"/>
              <a:t>11/3/2025</a:t>
            </a:fld>
            <a:endParaRPr lang="en-US"/>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en-US"/>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en-US"/>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6D4267D9-C593-47CC-A9FE-4BE12A019743}" type="slidenum">
              <a:rPr lang="en-US" smtClean="0"/>
              <a:t>‹#›</a:t>
            </a:fld>
            <a:endParaRPr lang="en-US"/>
          </a:p>
        </p:txBody>
      </p:sp>
    </p:spTree>
    <p:extLst>
      <p:ext uri="{BB962C8B-B14F-4D97-AF65-F5344CB8AC3E}">
        <p14:creationId xmlns:p14="http://schemas.microsoft.com/office/powerpoint/2010/main" val="86477842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smallbizgenius.net/by-the-numbers/ux-statistics/#gref" TargetMode="External"/><Relationship Id="rId2" Type="http://schemas.openxmlformats.org/officeDocument/2006/relationships/slide" Target="../slides/slide24.xml"/><Relationship Id="rId1" Type="http://schemas.openxmlformats.org/officeDocument/2006/relationships/notesMaster" Target="../notesMasters/notesMaster1.xml"/><Relationship Id="rId6" Type="http://schemas.openxmlformats.org/officeDocument/2006/relationships/hyperlink" Target="https://www.nngroup.com/articles/return-on-investment-for-usability/" TargetMode="External"/><Relationship Id="rId5" Type="http://schemas.openxmlformats.org/officeDocument/2006/relationships/hyperlink" Target="https://www.engagency.com/blog/what-is-ux-and-why-you-need-it" TargetMode="External"/><Relationship Id="rId4" Type="http://schemas.openxmlformats.org/officeDocument/2006/relationships/hyperlink" Target="https://www.toptal.com/designers/ux/ux-statistics-insights-infographic"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10"/>
          </p:nvPr>
        </p:nvSpPr>
        <p:spPr/>
        <p:txBody>
          <a:bodyPr/>
          <a:lstStyle/>
          <a:p>
            <a:fld id="{6D4267D9-C593-47CC-A9FE-4BE12A019743}" type="slidenum">
              <a:rPr lang="en-US" smtClean="0"/>
              <a:t>7</a:t>
            </a:fld>
            <a:endParaRPr lang="en-US" dirty="0"/>
          </a:p>
        </p:txBody>
      </p:sp>
    </p:spTree>
    <p:extLst>
      <p:ext uri="{BB962C8B-B14F-4D97-AF65-F5344CB8AC3E}">
        <p14:creationId xmlns:p14="http://schemas.microsoft.com/office/powerpoint/2010/main" val="2996588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10"/>
          </p:nvPr>
        </p:nvSpPr>
        <p:spPr/>
        <p:txBody>
          <a:bodyPr/>
          <a:lstStyle/>
          <a:p>
            <a:fld id="{6D4267D9-C593-47CC-A9FE-4BE12A019743}" type="slidenum">
              <a:rPr lang="en-US" smtClean="0"/>
              <a:t>11</a:t>
            </a:fld>
            <a:endParaRPr lang="en-US" dirty="0"/>
          </a:p>
        </p:txBody>
      </p:sp>
    </p:spTree>
    <p:extLst>
      <p:ext uri="{BB962C8B-B14F-4D97-AF65-F5344CB8AC3E}">
        <p14:creationId xmlns:p14="http://schemas.microsoft.com/office/powerpoint/2010/main" val="3494434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r" rtl="1"/>
            <a:r>
              <a:rPr lang="ar-YE" sz="1200" b="0" i="0" kern="1200" dirty="0" smtClean="0">
                <a:solidFill>
                  <a:schemeClr val="tx1"/>
                </a:solidFill>
                <a:effectLst/>
                <a:latin typeface="+mn-lt"/>
                <a:ea typeface="+mn-ea"/>
                <a:cs typeface="+mn-cs"/>
              </a:rPr>
              <a:t>عند الرغبة في استعمال حاسوبٍ في سبعينيات القرن العشرين، كان على الشخص استخدام واجهة سطر الأوامر، حيث لم تكن الواجهات الرسومية المستخدمة اليوم موجودةً عندها. وليعمل الحاسوب، احتاج المستخدمون إلى التواصل عبر لغة البرمجة، ما يتطلب سطور كثيرة من التعليمات البرمجية لإتمام مهمةٍ بسيطةٍ.</a:t>
            </a:r>
          </a:p>
          <a:p>
            <a:pPr algn="r" rtl="1"/>
            <a:r>
              <a:rPr lang="ar-YE" sz="1200" b="0" i="0" kern="1200" dirty="0" smtClean="0">
                <a:solidFill>
                  <a:schemeClr val="tx1"/>
                </a:solidFill>
                <a:effectLst/>
                <a:latin typeface="+mn-lt"/>
                <a:ea typeface="+mn-ea"/>
                <a:cs typeface="+mn-cs"/>
              </a:rPr>
              <a:t>وبحلول ثمانينيات القرن العشرين، تم تطوير أول واجهة مستخدمٍ رسومية (</a:t>
            </a:r>
            <a:r>
              <a:rPr lang="en-US" sz="1200" b="0" i="0" kern="1200" dirty="0" smtClean="0">
                <a:solidFill>
                  <a:schemeClr val="tx1"/>
                </a:solidFill>
                <a:effectLst/>
                <a:latin typeface="+mn-lt"/>
                <a:ea typeface="+mn-ea"/>
                <a:cs typeface="+mn-cs"/>
              </a:rPr>
              <a:t>GUI) </a:t>
            </a:r>
            <a:r>
              <a:rPr lang="ar-YE" sz="1200" b="0" i="0" kern="1200" dirty="0" smtClean="0">
                <a:solidFill>
                  <a:schemeClr val="tx1"/>
                </a:solidFill>
                <a:effectLst/>
                <a:latin typeface="+mn-lt"/>
                <a:ea typeface="+mn-ea"/>
                <a:cs typeface="+mn-cs"/>
              </a:rPr>
              <a:t>من قِبل علماء الكمبيوتر في </a:t>
            </a:r>
            <a:r>
              <a:rPr lang="en-US" sz="1200" b="0" i="0" kern="1200" dirty="0" smtClean="0">
                <a:solidFill>
                  <a:schemeClr val="tx1"/>
                </a:solidFill>
                <a:effectLst/>
                <a:latin typeface="+mn-lt"/>
                <a:ea typeface="+mn-ea"/>
                <a:cs typeface="+mn-cs"/>
              </a:rPr>
              <a:t>Xerox PARC. </a:t>
            </a:r>
            <a:r>
              <a:rPr lang="ar-YE" sz="1200" b="0" i="0" kern="1200" dirty="0" smtClean="0">
                <a:solidFill>
                  <a:schemeClr val="tx1"/>
                </a:solidFill>
                <a:effectLst/>
                <a:latin typeface="+mn-lt"/>
                <a:ea typeface="+mn-ea"/>
                <a:cs typeface="+mn-cs"/>
              </a:rPr>
              <a:t>وبفضل ذلك، يستطيع المستخدمون الآن التفاعل مع حواسيبهم بصريًا بإرسال الأوامر عبر الرموز، والأزرار، والقوائم، وخانات الاختيار.</a:t>
            </a:r>
          </a:p>
          <a:p>
            <a:pPr algn="r" rtl="1"/>
            <a:r>
              <a:rPr lang="ar-YE" sz="1200" b="0" i="0" kern="1200" dirty="0" smtClean="0">
                <a:solidFill>
                  <a:schemeClr val="tx1"/>
                </a:solidFill>
                <a:effectLst/>
                <a:latin typeface="+mn-lt"/>
                <a:ea typeface="+mn-ea"/>
                <a:cs typeface="+mn-cs"/>
              </a:rPr>
              <a:t>ويعني هذا التحول في التكنولوجيا أن أي شخصٍ يستطيع استخدام الكمبيوتر، دون الحاجة إلى الترميز، وبدأت ثورة الكمبيوتر الشخصي.</a:t>
            </a:r>
          </a:p>
          <a:p>
            <a:pPr algn="r" rtl="1"/>
            <a:endParaRPr lang="ar-YE" sz="1200" b="0" i="0" kern="1200" dirty="0" smtClean="0">
              <a:solidFill>
                <a:schemeClr val="tx1"/>
              </a:solidFill>
              <a:effectLst/>
              <a:latin typeface="+mn-lt"/>
              <a:ea typeface="+mn-ea"/>
              <a:cs typeface="+mn-cs"/>
            </a:endParaRPr>
          </a:p>
          <a:p>
            <a:pPr algn="r" rtl="1"/>
            <a:r>
              <a:rPr lang="ar-YE" sz="1200" b="0" i="0" kern="1200" dirty="0" smtClean="0">
                <a:solidFill>
                  <a:schemeClr val="tx1"/>
                </a:solidFill>
                <a:effectLst/>
                <a:latin typeface="+mn-lt"/>
                <a:ea typeface="+mn-ea"/>
                <a:cs typeface="+mn-cs"/>
              </a:rPr>
              <a:t>اليوم، يعمل مصممو واجهة المستخدم ليس على واجهات الكمبيوتر فقط، بل أيضًا على الهواتف المحمولة، والواقع المعزز والافتراضي، وحتى واجهات “غير مرئية” أو بدون شاشات (يشار إليها أيضًا باسم واجهة المستخدم الصفرية </a:t>
            </a:r>
            <a:r>
              <a:rPr lang="en-US" sz="1200" b="0" i="0" kern="1200" dirty="0" smtClean="0">
                <a:solidFill>
                  <a:schemeClr val="tx1"/>
                </a:solidFill>
                <a:effectLst/>
                <a:latin typeface="+mn-lt"/>
                <a:ea typeface="+mn-ea"/>
                <a:cs typeface="+mn-cs"/>
              </a:rPr>
              <a:t>zero UI) </a:t>
            </a:r>
            <a:r>
              <a:rPr lang="ar-YE" sz="1200" b="0" i="0" kern="1200" dirty="0" smtClean="0">
                <a:solidFill>
                  <a:schemeClr val="tx1"/>
                </a:solidFill>
                <a:effectLst/>
                <a:latin typeface="+mn-lt"/>
                <a:ea typeface="+mn-ea"/>
                <a:cs typeface="+mn-cs"/>
              </a:rPr>
              <a:t>مثل الصوت، والإيماءات، والضوء.</a:t>
            </a:r>
          </a:p>
          <a:p>
            <a:pPr algn="r" rtl="1"/>
            <a:endParaRPr lang="en-US" dirty="0" smtClean="0"/>
          </a:p>
          <a:p>
            <a:endParaRPr lang="en-US" dirty="0"/>
          </a:p>
        </p:txBody>
      </p:sp>
      <p:sp>
        <p:nvSpPr>
          <p:cNvPr id="4" name="عنصر نائب لرقم الشريحة 3"/>
          <p:cNvSpPr>
            <a:spLocks noGrp="1"/>
          </p:cNvSpPr>
          <p:nvPr>
            <p:ph type="sldNum" sz="quarter" idx="10"/>
          </p:nvPr>
        </p:nvSpPr>
        <p:spPr/>
        <p:txBody>
          <a:bodyPr/>
          <a:lstStyle/>
          <a:p>
            <a:fld id="{6D4267D9-C593-47CC-A9FE-4BE12A019743}" type="slidenum">
              <a:rPr lang="en-US" smtClean="0"/>
              <a:t>13</a:t>
            </a:fld>
            <a:endParaRPr lang="en-US" dirty="0"/>
          </a:p>
        </p:txBody>
      </p:sp>
    </p:spTree>
    <p:extLst>
      <p:ext uri="{BB962C8B-B14F-4D97-AF65-F5344CB8AC3E}">
        <p14:creationId xmlns:p14="http://schemas.microsoft.com/office/powerpoint/2010/main" val="38645101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r" rtl="1"/>
            <a:r>
              <a:rPr lang="ar-YE" sz="1200" b="0" i="0" kern="1200" dirty="0" smtClean="0">
                <a:solidFill>
                  <a:schemeClr val="tx1"/>
                </a:solidFill>
                <a:effectLst/>
                <a:latin typeface="+mn-lt"/>
                <a:ea typeface="+mn-ea"/>
                <a:cs typeface="+mn-cs"/>
              </a:rPr>
              <a:t>فيراعي تصميم تجربة المستخدم (</a:t>
            </a:r>
            <a:r>
              <a:rPr lang="en-US" sz="1200" b="0" i="0" kern="1200" dirty="0" smtClean="0">
                <a:solidFill>
                  <a:schemeClr val="tx1"/>
                </a:solidFill>
                <a:effectLst/>
                <a:latin typeface="+mn-lt"/>
                <a:ea typeface="+mn-ea"/>
                <a:cs typeface="+mn-cs"/>
              </a:rPr>
              <a:t>UX design) </a:t>
            </a:r>
            <a:r>
              <a:rPr lang="ar-YE" sz="1200" b="0" i="0" kern="1200" dirty="0" smtClean="0">
                <a:solidFill>
                  <a:schemeClr val="tx1"/>
                </a:solidFill>
                <a:effectLst/>
                <a:latin typeface="+mn-lt"/>
                <a:ea typeface="+mn-ea"/>
                <a:cs typeface="+mn-cs"/>
              </a:rPr>
              <a:t>الدوافع والأسباب التي تدفع الناس إلى استخدام المنتج سواء أكان قيمةً وشعورًا يريدون الحصول عليه أو مهمة معينة يرغبون في إنجازها.</a:t>
            </a:r>
            <a:endParaRPr lang="en-US" sz="1200" b="0" i="0" kern="1200" dirty="0" smtClean="0">
              <a:solidFill>
                <a:schemeClr val="tx1"/>
              </a:solidFill>
              <a:effectLst/>
              <a:latin typeface="+mn-lt"/>
              <a:ea typeface="+mn-ea"/>
              <a:cs typeface="+mn-cs"/>
            </a:endParaRPr>
          </a:p>
          <a:p>
            <a:pPr algn="r" rtl="1"/>
            <a:endParaRPr lang="en-US" sz="1200" b="0" i="0" kern="1200" dirty="0" smtClean="0">
              <a:solidFill>
                <a:schemeClr val="tx1"/>
              </a:solidFill>
              <a:effectLst/>
              <a:latin typeface="+mn-lt"/>
              <a:ea typeface="+mn-ea"/>
              <a:cs typeface="+mn-cs"/>
            </a:endParaRPr>
          </a:p>
          <a:p>
            <a:pPr algn="r" rtl="1"/>
            <a:r>
              <a:rPr lang="ar-YE" sz="1200" b="0" i="0" kern="1200" dirty="0" smtClean="0">
                <a:solidFill>
                  <a:schemeClr val="tx1"/>
                </a:solidFill>
                <a:effectLst/>
                <a:latin typeface="+mn-lt"/>
                <a:ea typeface="+mn-ea"/>
                <a:cs typeface="+mn-cs"/>
              </a:rPr>
              <a:t>لنتفق من البداية على أن مفهوم تصميم تجربة المستخدم قديم جداً، لكن لم يطلق عليه هذا المسمى إلا في وقت متأخر، ولن نتطرق لتاريخ علم تجربة المستخدم كثيراً لأنني لست من محبي مادة التاريخ </a:t>
            </a:r>
            <a:r>
              <a:rPr lang="en-US" sz="1200" b="0" i="0" kern="1200" dirty="0" smtClean="0">
                <a:solidFill>
                  <a:schemeClr val="tx1"/>
                </a:solidFill>
                <a:effectLst/>
                <a:latin typeface="+mn-lt"/>
                <a:ea typeface="+mn-ea"/>
                <a:cs typeface="+mn-cs"/>
              </a:rPr>
              <a:t>😅 </a:t>
            </a:r>
            <a:r>
              <a:rPr lang="ar-YE" sz="1200" b="0" i="0" kern="1200" dirty="0" smtClean="0">
                <a:solidFill>
                  <a:schemeClr val="tx1"/>
                </a:solidFill>
                <a:effectLst/>
                <a:latin typeface="+mn-lt"/>
                <a:ea typeface="+mn-ea"/>
                <a:cs typeface="+mn-cs"/>
              </a:rPr>
              <a:t>لكن ما يهمنا هو معرفة أن </a:t>
            </a:r>
            <a:r>
              <a:rPr lang="ar-YE" sz="1200" b="1" i="0" kern="1200" dirty="0" smtClean="0">
                <a:solidFill>
                  <a:schemeClr val="tx1"/>
                </a:solidFill>
                <a:effectLst/>
                <a:latin typeface="+mn-lt"/>
                <a:ea typeface="+mn-ea"/>
                <a:cs typeface="+mn-cs"/>
              </a:rPr>
              <a:t>أول من وضع بصمة لهذا المسمى هو دونالد نورمان </a:t>
            </a:r>
            <a:r>
              <a:rPr lang="ar-YE" sz="1200" b="0" i="0" kern="1200" dirty="0" smtClean="0">
                <a:solidFill>
                  <a:schemeClr val="tx1"/>
                </a:solidFill>
                <a:effectLst/>
                <a:latin typeface="+mn-lt"/>
                <a:ea typeface="+mn-ea"/>
                <a:cs typeface="+mn-cs"/>
              </a:rPr>
              <a:t>والذي انضم لفريق شركة أبل في أوائل التسعينات، مما جعله أول شخص لديه مسمى تجربة مستخدم في وظيفته</a:t>
            </a:r>
          </a:p>
          <a:p>
            <a:pPr algn="r" rtl="1"/>
            <a:endParaRPr lang="en-US" dirty="0" smtClean="0"/>
          </a:p>
          <a:p>
            <a:endParaRPr lang="en-US" dirty="0"/>
          </a:p>
        </p:txBody>
      </p:sp>
      <p:sp>
        <p:nvSpPr>
          <p:cNvPr id="4" name="عنصر نائب لرقم الشريحة 3"/>
          <p:cNvSpPr>
            <a:spLocks noGrp="1"/>
          </p:cNvSpPr>
          <p:nvPr>
            <p:ph type="sldNum" sz="quarter" idx="10"/>
          </p:nvPr>
        </p:nvSpPr>
        <p:spPr/>
        <p:txBody>
          <a:bodyPr/>
          <a:lstStyle/>
          <a:p>
            <a:fld id="{6D4267D9-C593-47CC-A9FE-4BE12A019743}" type="slidenum">
              <a:rPr lang="en-US" smtClean="0"/>
              <a:t>14</a:t>
            </a:fld>
            <a:endParaRPr lang="en-US" dirty="0"/>
          </a:p>
        </p:txBody>
      </p:sp>
    </p:spTree>
    <p:extLst>
      <p:ext uri="{BB962C8B-B14F-4D97-AF65-F5344CB8AC3E}">
        <p14:creationId xmlns:p14="http://schemas.microsoft.com/office/powerpoint/2010/main" val="567554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r" rtl="1"/>
            <a:r>
              <a:rPr lang="ar-YE" sz="1200" b="0" i="0" u="none" strike="noStrike" kern="1200" dirty="0" smtClean="0">
                <a:solidFill>
                  <a:schemeClr val="tx1"/>
                </a:solidFill>
                <a:effectLst/>
                <a:latin typeface="+mn-lt"/>
                <a:ea typeface="+mn-ea"/>
                <a:cs typeface="+mn-cs"/>
              </a:rPr>
              <a:t>قد يعتقد البعض أن العمل ضمن المجالين بنفس الوقت أمر مستحيل وهذا غير دقيق، صحيح أن الشركات الكبيرة تعتمد على موظفين مختلفين للقيام بكل مهمة على حدى، لكن على أرض الواقع وضمن المشاريع المتوسطة والصغيرة الموضوع مختلف تماماً.</a:t>
            </a:r>
          </a:p>
          <a:p>
            <a:pPr algn="r" rtl="1"/>
            <a:r>
              <a:rPr lang="ar-YE" sz="1200" b="0" i="0" u="none" strike="noStrike" kern="1200" dirty="0" smtClean="0">
                <a:solidFill>
                  <a:schemeClr val="tx1"/>
                </a:solidFill>
                <a:effectLst/>
                <a:latin typeface="+mn-lt"/>
                <a:ea typeface="+mn-ea"/>
                <a:cs typeface="+mn-cs"/>
              </a:rPr>
              <a:t>فالعلاقة بين التخصصين كبيرة ومهمة جداً فهما فعلياً يكملان بعضمها البعض أثناء مراحل التصميم الاولى للمنتج أو التطبيق وحتى ضمن المراحل التالية أثناء عملية التطوير، ولكن توظيف أشخاص متخصصين للقيام بكل مهمة ضمن المشاريع المتوسطة والصغيرة أمر صعب بسبب التكاليف العالية، لذلك فإن القيام بمهام التصميم والبحث والمتابعة ضمن </a:t>
            </a:r>
            <a:r>
              <a:rPr lang="ar-YE" sz="1200" b="0" i="0" u="none" strike="noStrike" kern="1200" dirty="0" err="1" smtClean="0">
                <a:solidFill>
                  <a:schemeClr val="tx1"/>
                </a:solidFill>
                <a:effectLst/>
                <a:latin typeface="+mn-lt"/>
                <a:ea typeface="+mn-ea"/>
                <a:cs typeface="+mn-cs"/>
              </a:rPr>
              <a:t>المجاليين</a:t>
            </a:r>
            <a:r>
              <a:rPr lang="ar-YE" sz="1200" b="0" i="0" u="none" strike="noStrike" kern="1200" dirty="0" smtClean="0">
                <a:solidFill>
                  <a:schemeClr val="tx1"/>
                </a:solidFill>
                <a:effectLst/>
                <a:latin typeface="+mn-lt"/>
                <a:ea typeface="+mn-ea"/>
                <a:cs typeface="+mn-cs"/>
              </a:rPr>
              <a:t> غالباً ما تقع على عاتق شخص واحد.</a:t>
            </a:r>
          </a:p>
          <a:p>
            <a:pPr algn="r" rtl="1"/>
            <a:r>
              <a:rPr lang="ar-YE" sz="1200" b="0" i="0" u="none" strike="noStrike" kern="1200" dirty="0" smtClean="0">
                <a:solidFill>
                  <a:schemeClr val="tx1"/>
                </a:solidFill>
                <a:effectLst/>
                <a:latin typeface="+mn-lt"/>
                <a:ea typeface="+mn-ea"/>
                <a:cs typeface="+mn-cs"/>
              </a:rPr>
              <a:t>ومن هنا ظهرت تسمية مصمم واجهات </a:t>
            </a:r>
            <a:r>
              <a:rPr lang="ar-YE" sz="1200" b="0" i="0" u="none" strike="noStrike" kern="1200" dirty="0" err="1" smtClean="0">
                <a:solidFill>
                  <a:schemeClr val="tx1"/>
                </a:solidFill>
                <a:effectLst/>
                <a:latin typeface="+mn-lt"/>
                <a:ea typeface="+mn-ea"/>
                <a:cs typeface="+mn-cs"/>
              </a:rPr>
              <a:t>الإستخدام</a:t>
            </a:r>
            <a:r>
              <a:rPr lang="ar-YE" sz="1200" b="0" i="0" u="none" strike="noStrike" kern="1200" dirty="0" smtClean="0">
                <a:solidFill>
                  <a:schemeClr val="tx1"/>
                </a:solidFill>
                <a:effectLst/>
                <a:latin typeface="+mn-lt"/>
                <a:ea typeface="+mn-ea"/>
                <a:cs typeface="+mn-cs"/>
              </a:rPr>
              <a:t> وتجربة المستخدم </a:t>
            </a:r>
            <a:r>
              <a:rPr lang="en-US" sz="1200" b="0" i="0" u="none" strike="noStrike" kern="1200" dirty="0" smtClean="0">
                <a:solidFill>
                  <a:schemeClr val="tx1"/>
                </a:solidFill>
                <a:effectLst/>
                <a:latin typeface="+mn-lt"/>
                <a:ea typeface="+mn-ea"/>
                <a:cs typeface="+mn-cs"/>
              </a:rPr>
              <a:t>UI / UX </a:t>
            </a:r>
            <a:r>
              <a:rPr lang="ar-YE" sz="1200" b="0" i="0" u="none" strike="noStrike" kern="1200" dirty="0" smtClean="0">
                <a:solidFill>
                  <a:schemeClr val="tx1"/>
                </a:solidFill>
                <a:effectLst/>
                <a:latin typeface="+mn-lt"/>
                <a:ea typeface="+mn-ea"/>
                <a:cs typeface="+mn-cs"/>
              </a:rPr>
              <a:t>كون هذا الشخص هو من سيقوم بالعمل ضمن </a:t>
            </a:r>
            <a:r>
              <a:rPr lang="ar-YE" sz="1200" b="0" i="0" u="none" strike="noStrike" kern="1200" dirty="0" err="1" smtClean="0">
                <a:solidFill>
                  <a:schemeClr val="tx1"/>
                </a:solidFill>
                <a:effectLst/>
                <a:latin typeface="+mn-lt"/>
                <a:ea typeface="+mn-ea"/>
                <a:cs typeface="+mn-cs"/>
              </a:rPr>
              <a:t>المجاليين</a:t>
            </a:r>
            <a:r>
              <a:rPr lang="ar-YE" sz="1200" b="0" i="0" u="none" strike="noStrike" kern="1200" dirty="0" smtClean="0">
                <a:solidFill>
                  <a:schemeClr val="tx1"/>
                </a:solidFill>
                <a:effectLst/>
                <a:latin typeface="+mn-lt"/>
                <a:ea typeface="+mn-ea"/>
                <a:cs typeface="+mn-cs"/>
              </a:rPr>
              <a:t> بداية من عملية البحث والتحليل وإخراج النماذج الاولية وتصميم واجهة المستخدم النهائية … إلخ.</a:t>
            </a:r>
          </a:p>
          <a:p>
            <a:endParaRPr lang="en-US" dirty="0"/>
          </a:p>
        </p:txBody>
      </p:sp>
      <p:sp>
        <p:nvSpPr>
          <p:cNvPr id="4" name="عنصر نائب لرقم الشريحة 3"/>
          <p:cNvSpPr>
            <a:spLocks noGrp="1"/>
          </p:cNvSpPr>
          <p:nvPr>
            <p:ph type="sldNum" sz="quarter" idx="10"/>
          </p:nvPr>
        </p:nvSpPr>
        <p:spPr/>
        <p:txBody>
          <a:bodyPr/>
          <a:lstStyle/>
          <a:p>
            <a:fld id="{6D4267D9-C593-47CC-A9FE-4BE12A019743}" type="slidenum">
              <a:rPr lang="en-US" smtClean="0"/>
              <a:t>23</a:t>
            </a:fld>
            <a:endParaRPr lang="en-US"/>
          </a:p>
        </p:txBody>
      </p:sp>
    </p:spTree>
    <p:extLst>
      <p:ext uri="{BB962C8B-B14F-4D97-AF65-F5344CB8AC3E}">
        <p14:creationId xmlns:p14="http://schemas.microsoft.com/office/powerpoint/2010/main" val="2856296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r" rtl="1"/>
            <a:r>
              <a:rPr lang="ar-YE" sz="1200" b="0" i="0" kern="1200" dirty="0" smtClean="0">
                <a:solidFill>
                  <a:schemeClr val="tx1"/>
                </a:solidFill>
                <a:effectLst/>
                <a:latin typeface="+mn-lt"/>
                <a:ea typeface="+mn-ea"/>
                <a:cs typeface="+mn-cs"/>
              </a:rPr>
              <a:t>عبّر نحو</a:t>
            </a:r>
            <a:r>
              <a:rPr lang="ar-YE" sz="1200" b="0" i="0" u="none" kern="1200" dirty="0" smtClean="0">
                <a:solidFill>
                  <a:schemeClr val="bg1"/>
                </a:solidFill>
                <a:effectLst/>
                <a:latin typeface="+mn-lt"/>
                <a:ea typeface="+mn-ea"/>
                <a:cs typeface="+mn-cs"/>
              </a:rPr>
              <a:t> </a:t>
            </a:r>
            <a:r>
              <a:rPr lang="ar-YE" sz="1200" b="0" i="0" u="none" strike="noStrike" kern="1200" dirty="0" smtClean="0">
                <a:solidFill>
                  <a:schemeClr val="bg1"/>
                </a:solidFill>
                <a:effectLst/>
                <a:latin typeface="+mn-lt"/>
                <a:ea typeface="+mn-ea"/>
                <a:cs typeface="+mn-cs"/>
                <a:hlinkClick r:id="rId3">
                  <a:extLst>
                    <a:ext uri="{A12FA001-AC4F-418D-AE19-62706E023703}">
                      <ahyp:hlinkClr xmlns:lc="http://schemas.openxmlformats.org/drawingml/2006/lockedCanvas" xmlns:ahyp="http://schemas.microsoft.com/office/drawing/2018/hyperlinkcolor" xmlns="" val="tx"/>
                    </a:ext>
                  </a:extLst>
                </a:hlinkClick>
              </a:rPr>
              <a:t>88% من المتسوقين</a:t>
            </a:r>
            <a:r>
              <a:rPr lang="ar-YE" sz="1200" b="0" i="0" kern="1200" dirty="0" smtClean="0">
                <a:solidFill>
                  <a:schemeClr val="tx1"/>
                </a:solidFill>
                <a:effectLst/>
                <a:latin typeface="+mn-lt"/>
                <a:ea typeface="+mn-ea"/>
                <a:cs typeface="+mn-cs"/>
              </a:rPr>
              <a:t> عبر الإنترنت عن عدم رغبتهم في معاودة الشراء من المواقع الإلكترونية التي اختبروا معها تجربة استخدام سيئة. وفي سياق ذي صلة، تفشل 70% من الأنشطة التجارية عبر الإنترنت بسبب صعوبة استخدام خدماتها. في الجهة المقابلة ووفقًا </a:t>
            </a:r>
            <a:r>
              <a:rPr lang="ar-YE" sz="1200" b="0" i="0" u="none" strike="noStrike" kern="1200" dirty="0" err="1" smtClean="0">
                <a:solidFill>
                  <a:schemeClr val="bg1"/>
                </a:solidFill>
                <a:effectLst/>
                <a:latin typeface="+mn-lt"/>
                <a:ea typeface="+mn-ea"/>
                <a:cs typeface="+mn-cs"/>
                <a:hlinkClick r:id="rId4">
                  <a:extLst>
                    <a:ext uri="{A12FA001-AC4F-418D-AE19-62706E023703}">
                      <ahyp:hlinkClr xmlns:lc="http://schemas.openxmlformats.org/drawingml/2006/lockedCanvas" xmlns:ahyp="http://schemas.microsoft.com/office/drawing/2018/hyperlinkcolor" xmlns="" val="tx"/>
                    </a:ext>
                  </a:extLst>
                </a:hlinkClick>
              </a:rPr>
              <a:t>لفوسترس</a:t>
            </a:r>
            <a:r>
              <a:rPr lang="ar-YE" sz="1200" b="0" i="0" kern="1200" dirty="0" smtClean="0">
                <a:solidFill>
                  <a:schemeClr val="tx1"/>
                </a:solidFill>
                <a:effectLst/>
                <a:latin typeface="+mn-lt"/>
                <a:ea typeface="+mn-ea"/>
                <a:cs typeface="+mn-cs"/>
              </a:rPr>
              <a:t> فإن العائد الاستثماري الذي يتحقق عند تصميم تجربة مستخدم مميزة يعزز معدل تحويل العملاء الـ (</a:t>
            </a:r>
            <a:r>
              <a:rPr lang="en-US" sz="1200" b="0" i="0" kern="1200" dirty="0" smtClean="0">
                <a:solidFill>
                  <a:schemeClr val="tx1"/>
                </a:solidFill>
                <a:effectLst/>
                <a:latin typeface="+mn-lt"/>
                <a:ea typeface="+mn-ea"/>
                <a:cs typeface="+mn-cs"/>
              </a:rPr>
              <a:t>conversion Rate) </a:t>
            </a:r>
            <a:r>
              <a:rPr lang="ar-YE" sz="1200" b="0" i="0" kern="1200" dirty="0" smtClean="0">
                <a:solidFill>
                  <a:schemeClr val="tx1"/>
                </a:solidFill>
                <a:effectLst/>
                <a:latin typeface="+mn-lt"/>
                <a:ea typeface="+mn-ea"/>
                <a:cs typeface="+mn-cs"/>
              </a:rPr>
              <a:t>بنسبة تصل إلى 400%.</a:t>
            </a:r>
            <a:endParaRPr lang="en-US" sz="1200" b="0" i="0" kern="1200" dirty="0" smtClean="0">
              <a:solidFill>
                <a:schemeClr val="tx1"/>
              </a:solidFill>
              <a:effectLst/>
              <a:latin typeface="+mn-lt"/>
              <a:ea typeface="+mn-ea"/>
              <a:cs typeface="+mn-cs"/>
            </a:endParaRPr>
          </a:p>
          <a:p>
            <a:pPr algn="r" rtl="1"/>
            <a:r>
              <a:rPr lang="en-US" sz="1200" b="0" i="0" kern="1200" dirty="0" smtClean="0">
                <a:solidFill>
                  <a:schemeClr val="bg1"/>
                </a:solidFill>
                <a:effectLst/>
                <a:latin typeface="+mn-lt"/>
                <a:ea typeface="+mn-ea"/>
                <a:cs typeface="+mn-cs"/>
              </a:rPr>
              <a:t>Most businesses today understand the importance of investing in </a:t>
            </a:r>
            <a:r>
              <a:rPr lang="en-US" sz="1200" b="0" i="0" u="none" strike="noStrike" kern="1200" dirty="0" smtClean="0">
                <a:solidFill>
                  <a:schemeClr val="bg1"/>
                </a:solidFill>
                <a:effectLst/>
                <a:latin typeface="+mn-lt"/>
                <a:ea typeface="+mn-ea"/>
                <a:cs typeface="+mn-cs"/>
                <a:hlinkClick r:id="rId5">
                  <a:extLst>
                    <a:ext uri="{A12FA001-AC4F-418D-AE19-62706E023703}">
                      <ahyp:hlinkClr xmlns:lc="http://schemas.openxmlformats.org/drawingml/2006/lockedCanvas" xmlns:ahyp="http://schemas.microsoft.com/office/drawing/2018/hyperlinkcolor" xmlns="" val="tx"/>
                    </a:ext>
                  </a:extLst>
                </a:hlinkClick>
              </a:rPr>
              <a:t>user experience design (UXD)</a:t>
            </a:r>
            <a:r>
              <a:rPr lang="en-US" sz="1200" b="0" i="0" kern="1200" dirty="0" smtClean="0">
                <a:solidFill>
                  <a:schemeClr val="bg1"/>
                </a:solidFill>
                <a:effectLst/>
                <a:latin typeface="+mn-lt"/>
                <a:ea typeface="+mn-ea"/>
                <a:cs typeface="+mn-cs"/>
              </a:rPr>
              <a:t>. Experts estimate that at minimum, </a:t>
            </a:r>
            <a:r>
              <a:rPr lang="en-US" sz="1200" b="0" i="0" u="none" strike="noStrike" kern="1200" dirty="0" smtClean="0">
                <a:solidFill>
                  <a:schemeClr val="bg1"/>
                </a:solidFill>
                <a:effectLst/>
                <a:latin typeface="+mn-lt"/>
                <a:ea typeface="+mn-ea"/>
                <a:cs typeface="+mn-cs"/>
                <a:hlinkClick r:id="rId6">
                  <a:extLst>
                    <a:ext uri="{A12FA001-AC4F-418D-AE19-62706E023703}">
                      <ahyp:hlinkClr xmlns:lc="http://schemas.openxmlformats.org/drawingml/2006/lockedCanvas" xmlns:ahyp="http://schemas.microsoft.com/office/drawing/2018/hyperlinkcolor" xmlns="" val="tx"/>
                    </a:ext>
                  </a:extLst>
                </a:hlinkClick>
              </a:rPr>
              <a:t>at least 10% of a project’s budget</a:t>
            </a:r>
            <a:r>
              <a:rPr lang="en-US" sz="1200" b="0" i="0" kern="1200" dirty="0" smtClean="0">
                <a:solidFill>
                  <a:schemeClr val="bg1"/>
                </a:solidFill>
                <a:effectLst/>
                <a:latin typeface="+mn-lt"/>
                <a:ea typeface="+mn-ea"/>
                <a:cs typeface="+mn-cs"/>
              </a:rPr>
              <a:t> should be devoted to UX design. However, more successful projects dedicate up to 40%.</a:t>
            </a:r>
            <a:endParaRPr lang="en-US" b="0" dirty="0" smtClean="0">
              <a:solidFill>
                <a:schemeClr val="bg1"/>
              </a:solidFill>
            </a:endParaRPr>
          </a:p>
          <a:p>
            <a:endParaRPr lang="en-US" dirty="0"/>
          </a:p>
        </p:txBody>
      </p:sp>
      <p:sp>
        <p:nvSpPr>
          <p:cNvPr id="4" name="عنصر نائب لرقم الشريحة 3"/>
          <p:cNvSpPr>
            <a:spLocks noGrp="1"/>
          </p:cNvSpPr>
          <p:nvPr>
            <p:ph type="sldNum" sz="quarter" idx="10"/>
          </p:nvPr>
        </p:nvSpPr>
        <p:spPr/>
        <p:txBody>
          <a:bodyPr/>
          <a:lstStyle/>
          <a:p>
            <a:fld id="{6D4267D9-C593-47CC-A9FE-4BE12A019743}" type="slidenum">
              <a:rPr lang="en-US" smtClean="0"/>
              <a:t>24</a:t>
            </a:fld>
            <a:endParaRPr lang="en-US"/>
          </a:p>
        </p:txBody>
      </p:sp>
    </p:spTree>
    <p:extLst>
      <p:ext uri="{BB962C8B-B14F-4D97-AF65-F5344CB8AC3E}">
        <p14:creationId xmlns:p14="http://schemas.microsoft.com/office/powerpoint/2010/main" val="14795043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10"/>
          </p:nvPr>
        </p:nvSpPr>
        <p:spPr/>
        <p:txBody>
          <a:bodyPr/>
          <a:lstStyle/>
          <a:p>
            <a:fld id="{6D4267D9-C593-47CC-A9FE-4BE12A019743}" type="slidenum">
              <a:rPr lang="en-US" smtClean="0"/>
              <a:t>25</a:t>
            </a:fld>
            <a:endParaRPr lang="en-US"/>
          </a:p>
        </p:txBody>
      </p:sp>
    </p:spTree>
    <p:extLst>
      <p:ext uri="{BB962C8B-B14F-4D97-AF65-F5344CB8AC3E}">
        <p14:creationId xmlns:p14="http://schemas.microsoft.com/office/powerpoint/2010/main" val="2754359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marL="469900" marR="5080" indent="-457200" algn="r" rtl="1">
              <a:lnSpc>
                <a:spcPct val="150000"/>
              </a:lnSpc>
              <a:spcBef>
                <a:spcPts val="100"/>
              </a:spcBef>
              <a:buFontTx/>
              <a:buChar char="-"/>
            </a:pPr>
            <a:r>
              <a:rPr lang="ar-SA" b="0" dirty="0" smtClean="0"/>
              <a:t>لا توجد متطلبات لتكون مصمم </a:t>
            </a:r>
            <a:r>
              <a:rPr lang="en-US" b="0" dirty="0" smtClean="0"/>
              <a:t>UX </a:t>
            </a:r>
            <a:r>
              <a:rPr lang="ar-SA" b="0" dirty="0" smtClean="0"/>
              <a:t>يفضل أن يكون لديك معرفة بـ:</a:t>
            </a:r>
          </a:p>
          <a:p>
            <a:pPr marL="469900" marR="5080" indent="-457200" algn="r" rtl="1">
              <a:lnSpc>
                <a:spcPct val="150000"/>
              </a:lnSpc>
              <a:spcBef>
                <a:spcPts val="100"/>
              </a:spcBef>
              <a:buFontTx/>
              <a:buChar char="-"/>
            </a:pPr>
            <a:r>
              <a:rPr lang="ar-YE" b="0" dirty="0" smtClean="0"/>
              <a:t>     </a:t>
            </a:r>
            <a:r>
              <a:rPr lang="ar-YE" sz="1200" dirty="0" smtClean="0">
                <a:solidFill>
                  <a:srgbClr val="053A5C"/>
                </a:solidFill>
                <a:latin typeface="Almarai" pitchFamily="2" charset="-78"/>
                <a:cs typeface="Almarai" pitchFamily="2" charset="-78"/>
              </a:rPr>
              <a:t>علم نفس.</a:t>
            </a:r>
          </a:p>
          <a:p>
            <a:pPr marL="469900" marR="5080" indent="-457200" algn="r" rtl="1">
              <a:lnSpc>
                <a:spcPct val="150000"/>
              </a:lnSpc>
              <a:spcBef>
                <a:spcPts val="100"/>
              </a:spcBef>
              <a:buFontTx/>
              <a:buChar char="-"/>
            </a:pPr>
            <a:r>
              <a:rPr lang="ar-YE" sz="1200" dirty="0" smtClean="0">
                <a:solidFill>
                  <a:srgbClr val="053A5C"/>
                </a:solidFill>
                <a:latin typeface="Almarai" pitchFamily="2" charset="-78"/>
                <a:cs typeface="Almarai" pitchFamily="2" charset="-78"/>
              </a:rPr>
              <a:t>مهارات تصميم.</a:t>
            </a:r>
          </a:p>
          <a:p>
            <a:pPr marL="469900" marR="5080" indent="-457200" algn="r" rtl="1">
              <a:lnSpc>
                <a:spcPct val="150000"/>
              </a:lnSpc>
              <a:spcBef>
                <a:spcPts val="100"/>
              </a:spcBef>
              <a:buFontTx/>
              <a:buChar char="-"/>
            </a:pPr>
            <a:r>
              <a:rPr lang="ar-YE" sz="1200" dirty="0" smtClean="0">
                <a:solidFill>
                  <a:srgbClr val="053A5C"/>
                </a:solidFill>
                <a:latin typeface="Almarai" pitchFamily="2" charset="-78"/>
                <a:cs typeface="Almarai" pitchFamily="2" charset="-78"/>
              </a:rPr>
              <a:t>إبداع.</a:t>
            </a:r>
          </a:p>
          <a:p>
            <a:pPr algn="r" rtl="1"/>
            <a:r>
              <a:rPr lang="en-US" b="0" dirty="0" smtClean="0"/>
              <a:t>-</a:t>
            </a:r>
            <a:r>
              <a:rPr lang="ar-SA" b="0" dirty="0" smtClean="0"/>
              <a:t> يفضل معرفة بالتقنيات التي سيتم برمجة </a:t>
            </a:r>
            <a:r>
              <a:rPr lang="ar-SA" b="0" dirty="0" err="1" smtClean="0"/>
              <a:t>الفرنت</a:t>
            </a:r>
            <a:r>
              <a:rPr lang="ar-SA" b="0" dirty="0" smtClean="0"/>
              <a:t> </a:t>
            </a:r>
            <a:r>
              <a:rPr lang="ar-SA" b="0" dirty="0" err="1" smtClean="0"/>
              <a:t>إند</a:t>
            </a:r>
            <a:r>
              <a:rPr lang="ar-SA" b="0" dirty="0" smtClean="0"/>
              <a:t> بها</a:t>
            </a:r>
            <a:endParaRPr lang="en-US" b="0" dirty="0" smtClean="0"/>
          </a:p>
          <a:p>
            <a:endParaRPr lang="en-US" dirty="0"/>
          </a:p>
        </p:txBody>
      </p:sp>
      <p:sp>
        <p:nvSpPr>
          <p:cNvPr id="4" name="عنصر نائب لرقم الشريحة 3"/>
          <p:cNvSpPr>
            <a:spLocks noGrp="1"/>
          </p:cNvSpPr>
          <p:nvPr>
            <p:ph type="sldNum" sz="quarter" idx="10"/>
          </p:nvPr>
        </p:nvSpPr>
        <p:spPr/>
        <p:txBody>
          <a:bodyPr/>
          <a:lstStyle/>
          <a:p>
            <a:fld id="{6D4267D9-C593-47CC-A9FE-4BE12A019743}" type="slidenum">
              <a:rPr lang="en-US" smtClean="0"/>
              <a:t>26</a:t>
            </a:fld>
            <a:endParaRPr lang="en-US"/>
          </a:p>
        </p:txBody>
      </p:sp>
    </p:spTree>
    <p:extLst>
      <p:ext uri="{BB962C8B-B14F-4D97-AF65-F5344CB8AC3E}">
        <p14:creationId xmlns:p14="http://schemas.microsoft.com/office/powerpoint/2010/main" val="899497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1524000" y="1122363"/>
            <a:ext cx="9144000" cy="2387600"/>
          </a:xfrm>
        </p:spPr>
        <p:txBody>
          <a:bodyPr anchor="b"/>
          <a:lstStyle>
            <a:lvl1pPr algn="ctr">
              <a:defRPr sz="6000"/>
            </a:lvl1pPr>
          </a:lstStyle>
          <a:p>
            <a:r>
              <a:rPr lang="ar-SA" smtClean="0"/>
              <a:t>انقر لتحرير نمط العنوان الرئيسي</a:t>
            </a:r>
            <a:endParaRPr lang="en-US"/>
          </a:p>
        </p:txBody>
      </p:sp>
      <p:sp>
        <p:nvSpPr>
          <p:cNvPr id="3" name="عنوان فرعي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smtClean="0"/>
              <a:t>انقر لتحرير نمط العنوان الثانوي الرئيسي</a:t>
            </a:r>
            <a:endParaRPr lang="en-US"/>
          </a:p>
        </p:txBody>
      </p:sp>
      <p:sp>
        <p:nvSpPr>
          <p:cNvPr id="4" name="عنصر نائب للتاريخ 3"/>
          <p:cNvSpPr>
            <a:spLocks noGrp="1"/>
          </p:cNvSpPr>
          <p:nvPr>
            <p:ph type="dt" sz="half" idx="10"/>
          </p:nvPr>
        </p:nvSpPr>
        <p:spPr/>
        <p:txBody>
          <a:bodyPr/>
          <a:lstStyle/>
          <a:p>
            <a:fld id="{AA543732-A1A7-421A-A2F4-2B29F8B6DC89}" type="datetimeFigureOut">
              <a:rPr lang="en-US" smtClean="0"/>
              <a:t>11/3/2025</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88135630-DAB4-4A5E-BA9F-A89A9F787A5C}" type="slidenum">
              <a:rPr lang="en-US" smtClean="0"/>
              <a:t>‹#›</a:t>
            </a:fld>
            <a:endParaRPr lang="en-US"/>
          </a:p>
        </p:txBody>
      </p:sp>
    </p:spTree>
    <p:extLst>
      <p:ext uri="{BB962C8B-B14F-4D97-AF65-F5344CB8AC3E}">
        <p14:creationId xmlns:p14="http://schemas.microsoft.com/office/powerpoint/2010/main" val="3826419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محتوى 2"/>
          <p:cNvSpPr>
            <a:spLocks noGrp="1"/>
          </p:cNvSpPr>
          <p:nvPr>
            <p:ph idx="1"/>
          </p:nvPr>
        </p:nvSpPr>
        <p:spPr/>
        <p:txBody>
          <a:body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10"/>
          </p:nvPr>
        </p:nvSpPr>
        <p:spPr/>
        <p:txBody>
          <a:bodyPr/>
          <a:lstStyle/>
          <a:p>
            <a:fld id="{AA543732-A1A7-421A-A2F4-2B29F8B6DC89}" type="datetimeFigureOut">
              <a:rPr lang="en-US" smtClean="0"/>
              <a:t>11/3/2025</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88135630-DAB4-4A5E-BA9F-A89A9F787A5C}" type="slidenum">
              <a:rPr lang="en-US" smtClean="0"/>
              <a:t>‹#›</a:t>
            </a:fld>
            <a:endParaRPr lang="en-US"/>
          </a:p>
        </p:txBody>
      </p:sp>
    </p:spTree>
    <p:extLst>
      <p:ext uri="{BB962C8B-B14F-4D97-AF65-F5344CB8AC3E}">
        <p14:creationId xmlns:p14="http://schemas.microsoft.com/office/powerpoint/2010/main" val="1316206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831850" y="1709738"/>
            <a:ext cx="10515600" cy="2852737"/>
          </a:xfrm>
        </p:spPr>
        <p:txBody>
          <a:bodyPr anchor="b"/>
          <a:lstStyle>
            <a:lvl1pPr>
              <a:defRPr sz="6000"/>
            </a:lvl1pPr>
          </a:lstStyle>
          <a:p>
            <a:r>
              <a:rPr lang="ar-SA" smtClean="0"/>
              <a:t>انقر لتحرير نمط العنوان الرئيسي</a:t>
            </a:r>
            <a:endParaRPr lang="en-US"/>
          </a:p>
        </p:txBody>
      </p:sp>
      <p:sp>
        <p:nvSpPr>
          <p:cNvPr id="3" name="عنصر نائب للنص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smtClean="0"/>
              <a:t>تحرير أنماط النص الرئيسي</a:t>
            </a:r>
          </a:p>
        </p:txBody>
      </p:sp>
      <p:sp>
        <p:nvSpPr>
          <p:cNvPr id="4" name="عنصر نائب للتاريخ 3"/>
          <p:cNvSpPr>
            <a:spLocks noGrp="1"/>
          </p:cNvSpPr>
          <p:nvPr>
            <p:ph type="dt" sz="half" idx="10"/>
          </p:nvPr>
        </p:nvSpPr>
        <p:spPr/>
        <p:txBody>
          <a:bodyPr/>
          <a:lstStyle/>
          <a:p>
            <a:fld id="{AA543732-A1A7-421A-A2F4-2B29F8B6DC89}" type="datetimeFigureOut">
              <a:rPr lang="en-US" smtClean="0"/>
              <a:t>11/3/2025</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88135630-DAB4-4A5E-BA9F-A89A9F787A5C}" type="slidenum">
              <a:rPr lang="en-US" smtClean="0"/>
              <a:t>‹#›</a:t>
            </a:fld>
            <a:endParaRPr lang="en-US"/>
          </a:p>
        </p:txBody>
      </p:sp>
    </p:spTree>
    <p:extLst>
      <p:ext uri="{BB962C8B-B14F-4D97-AF65-F5344CB8AC3E}">
        <p14:creationId xmlns:p14="http://schemas.microsoft.com/office/powerpoint/2010/main" val="3369293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محتوى 2"/>
          <p:cNvSpPr>
            <a:spLocks noGrp="1"/>
          </p:cNvSpPr>
          <p:nvPr>
            <p:ph sz="half" idx="1"/>
          </p:nvPr>
        </p:nvSpPr>
        <p:spPr>
          <a:xfrm>
            <a:off x="838200" y="1825625"/>
            <a:ext cx="5181600" cy="4351338"/>
          </a:xfrm>
        </p:spPr>
        <p:txBody>
          <a:body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محتوى 3"/>
          <p:cNvSpPr>
            <a:spLocks noGrp="1"/>
          </p:cNvSpPr>
          <p:nvPr>
            <p:ph sz="half" idx="2"/>
          </p:nvPr>
        </p:nvSpPr>
        <p:spPr>
          <a:xfrm>
            <a:off x="6172200" y="1825625"/>
            <a:ext cx="5181600" cy="4351338"/>
          </a:xfrm>
        </p:spPr>
        <p:txBody>
          <a:body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5" name="عنصر نائب للتاريخ 4"/>
          <p:cNvSpPr>
            <a:spLocks noGrp="1"/>
          </p:cNvSpPr>
          <p:nvPr>
            <p:ph type="dt" sz="half" idx="10"/>
          </p:nvPr>
        </p:nvSpPr>
        <p:spPr/>
        <p:txBody>
          <a:bodyPr/>
          <a:lstStyle/>
          <a:p>
            <a:fld id="{AA543732-A1A7-421A-A2F4-2B29F8B6DC89}" type="datetimeFigureOut">
              <a:rPr lang="en-US" smtClean="0"/>
              <a:t>11/3/2025</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88135630-DAB4-4A5E-BA9F-A89A9F787A5C}" type="slidenum">
              <a:rPr lang="en-US" smtClean="0"/>
              <a:t>‹#›</a:t>
            </a:fld>
            <a:endParaRPr lang="en-US"/>
          </a:p>
        </p:txBody>
      </p:sp>
    </p:spTree>
    <p:extLst>
      <p:ext uri="{BB962C8B-B14F-4D97-AF65-F5344CB8AC3E}">
        <p14:creationId xmlns:p14="http://schemas.microsoft.com/office/powerpoint/2010/main" val="1810294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a:xfrm>
            <a:off x="839788" y="365125"/>
            <a:ext cx="10515600" cy="1325563"/>
          </a:xfrm>
        </p:spPr>
        <p:txBody>
          <a:bodyPr/>
          <a:lstStyle/>
          <a:p>
            <a:r>
              <a:rPr lang="ar-SA" smtClean="0"/>
              <a:t>انقر لتحرير نمط العنوان الرئيسي</a:t>
            </a:r>
            <a:endParaRPr lang="en-US"/>
          </a:p>
        </p:txBody>
      </p:sp>
      <p:sp>
        <p:nvSpPr>
          <p:cNvPr id="3" name="عنصر نائب للنص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تحرير أنماط النص الرئيسي</a:t>
            </a:r>
          </a:p>
        </p:txBody>
      </p:sp>
      <p:sp>
        <p:nvSpPr>
          <p:cNvPr id="4" name="عنصر نائب للمحتوى 3"/>
          <p:cNvSpPr>
            <a:spLocks noGrp="1"/>
          </p:cNvSpPr>
          <p:nvPr>
            <p:ph sz="half" idx="2"/>
          </p:nvPr>
        </p:nvSpPr>
        <p:spPr>
          <a:xfrm>
            <a:off x="839788" y="2505075"/>
            <a:ext cx="5157787" cy="3684588"/>
          </a:xfrm>
        </p:spPr>
        <p:txBody>
          <a:body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5" name="عنصر نائب للنص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تحرير أنماط النص الرئيسي</a:t>
            </a:r>
          </a:p>
        </p:txBody>
      </p:sp>
      <p:sp>
        <p:nvSpPr>
          <p:cNvPr id="6" name="عنصر نائب للمحتوى 5"/>
          <p:cNvSpPr>
            <a:spLocks noGrp="1"/>
          </p:cNvSpPr>
          <p:nvPr>
            <p:ph sz="quarter" idx="4"/>
          </p:nvPr>
        </p:nvSpPr>
        <p:spPr>
          <a:xfrm>
            <a:off x="6172200" y="2505075"/>
            <a:ext cx="5183188" cy="3684588"/>
          </a:xfrm>
        </p:spPr>
        <p:txBody>
          <a:body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7" name="عنصر نائب للتاريخ 6"/>
          <p:cNvSpPr>
            <a:spLocks noGrp="1"/>
          </p:cNvSpPr>
          <p:nvPr>
            <p:ph type="dt" sz="half" idx="10"/>
          </p:nvPr>
        </p:nvSpPr>
        <p:spPr/>
        <p:txBody>
          <a:bodyPr/>
          <a:lstStyle/>
          <a:p>
            <a:fld id="{AA543732-A1A7-421A-A2F4-2B29F8B6DC89}" type="datetimeFigureOut">
              <a:rPr lang="en-US" smtClean="0"/>
              <a:t>11/3/2025</a:t>
            </a:fld>
            <a:endParaRPr lang="en-US"/>
          </a:p>
        </p:txBody>
      </p:sp>
      <p:sp>
        <p:nvSpPr>
          <p:cNvPr id="8" name="عنصر نائب للتذييل 7"/>
          <p:cNvSpPr>
            <a:spLocks noGrp="1"/>
          </p:cNvSpPr>
          <p:nvPr>
            <p:ph type="ftr" sz="quarter" idx="11"/>
          </p:nvPr>
        </p:nvSpPr>
        <p:spPr/>
        <p:txBody>
          <a:bodyPr/>
          <a:lstStyle/>
          <a:p>
            <a:endParaRPr lang="en-US"/>
          </a:p>
        </p:txBody>
      </p:sp>
      <p:sp>
        <p:nvSpPr>
          <p:cNvPr id="9" name="عنصر نائب لرقم الشريحة 8"/>
          <p:cNvSpPr>
            <a:spLocks noGrp="1"/>
          </p:cNvSpPr>
          <p:nvPr>
            <p:ph type="sldNum" sz="quarter" idx="12"/>
          </p:nvPr>
        </p:nvSpPr>
        <p:spPr/>
        <p:txBody>
          <a:bodyPr/>
          <a:lstStyle/>
          <a:p>
            <a:fld id="{88135630-DAB4-4A5E-BA9F-A89A9F787A5C}" type="slidenum">
              <a:rPr lang="en-US" smtClean="0"/>
              <a:t>‹#›</a:t>
            </a:fld>
            <a:endParaRPr lang="en-US"/>
          </a:p>
        </p:txBody>
      </p:sp>
    </p:spTree>
    <p:extLst>
      <p:ext uri="{BB962C8B-B14F-4D97-AF65-F5344CB8AC3E}">
        <p14:creationId xmlns:p14="http://schemas.microsoft.com/office/powerpoint/2010/main" val="1534253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تاريخ 2"/>
          <p:cNvSpPr>
            <a:spLocks noGrp="1"/>
          </p:cNvSpPr>
          <p:nvPr>
            <p:ph type="dt" sz="half" idx="10"/>
          </p:nvPr>
        </p:nvSpPr>
        <p:spPr/>
        <p:txBody>
          <a:bodyPr/>
          <a:lstStyle/>
          <a:p>
            <a:fld id="{AA543732-A1A7-421A-A2F4-2B29F8B6DC89}" type="datetimeFigureOut">
              <a:rPr lang="en-US" smtClean="0"/>
              <a:t>11/3/2025</a:t>
            </a:fld>
            <a:endParaRPr lang="en-US"/>
          </a:p>
        </p:txBody>
      </p:sp>
      <p:sp>
        <p:nvSpPr>
          <p:cNvPr id="4" name="عنصر نائب للتذييل 3"/>
          <p:cNvSpPr>
            <a:spLocks noGrp="1"/>
          </p:cNvSpPr>
          <p:nvPr>
            <p:ph type="ftr" sz="quarter" idx="11"/>
          </p:nvPr>
        </p:nvSpPr>
        <p:spPr/>
        <p:txBody>
          <a:bodyPr/>
          <a:lstStyle/>
          <a:p>
            <a:endParaRPr lang="en-US"/>
          </a:p>
        </p:txBody>
      </p:sp>
      <p:sp>
        <p:nvSpPr>
          <p:cNvPr id="5" name="عنصر نائب لرقم الشريحة 4"/>
          <p:cNvSpPr>
            <a:spLocks noGrp="1"/>
          </p:cNvSpPr>
          <p:nvPr>
            <p:ph type="sldNum" sz="quarter" idx="12"/>
          </p:nvPr>
        </p:nvSpPr>
        <p:spPr/>
        <p:txBody>
          <a:bodyPr/>
          <a:lstStyle/>
          <a:p>
            <a:fld id="{88135630-DAB4-4A5E-BA9F-A89A9F787A5C}" type="slidenum">
              <a:rPr lang="en-US" smtClean="0"/>
              <a:t>‹#›</a:t>
            </a:fld>
            <a:endParaRPr lang="en-US"/>
          </a:p>
        </p:txBody>
      </p:sp>
    </p:spTree>
    <p:extLst>
      <p:ext uri="{BB962C8B-B14F-4D97-AF65-F5344CB8AC3E}">
        <p14:creationId xmlns:p14="http://schemas.microsoft.com/office/powerpoint/2010/main" val="2349664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AA543732-A1A7-421A-A2F4-2B29F8B6DC89}" type="datetimeFigureOut">
              <a:rPr lang="en-US" smtClean="0"/>
              <a:t>11/3/2025</a:t>
            </a:fld>
            <a:endParaRPr lang="en-US"/>
          </a:p>
        </p:txBody>
      </p:sp>
      <p:sp>
        <p:nvSpPr>
          <p:cNvPr id="3" name="عنصر نائب للتذييل 2"/>
          <p:cNvSpPr>
            <a:spLocks noGrp="1"/>
          </p:cNvSpPr>
          <p:nvPr>
            <p:ph type="ftr" sz="quarter" idx="11"/>
          </p:nvPr>
        </p:nvSpPr>
        <p:spPr/>
        <p:txBody>
          <a:bodyPr/>
          <a:lstStyle/>
          <a:p>
            <a:endParaRPr lang="en-US"/>
          </a:p>
        </p:txBody>
      </p:sp>
      <p:sp>
        <p:nvSpPr>
          <p:cNvPr id="4" name="عنصر نائب لرقم الشريحة 3"/>
          <p:cNvSpPr>
            <a:spLocks noGrp="1"/>
          </p:cNvSpPr>
          <p:nvPr>
            <p:ph type="sldNum" sz="quarter" idx="12"/>
          </p:nvPr>
        </p:nvSpPr>
        <p:spPr/>
        <p:txBody>
          <a:bodyPr/>
          <a:lstStyle/>
          <a:p>
            <a:fld id="{88135630-DAB4-4A5E-BA9F-A89A9F787A5C}" type="slidenum">
              <a:rPr lang="en-US" smtClean="0"/>
              <a:t>‹#›</a:t>
            </a:fld>
            <a:endParaRPr lang="en-US"/>
          </a:p>
        </p:txBody>
      </p:sp>
    </p:spTree>
    <p:extLst>
      <p:ext uri="{BB962C8B-B14F-4D97-AF65-F5344CB8AC3E}">
        <p14:creationId xmlns:p14="http://schemas.microsoft.com/office/powerpoint/2010/main" val="3319441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839788" y="457200"/>
            <a:ext cx="3932237" cy="1600200"/>
          </a:xfrm>
        </p:spPr>
        <p:txBody>
          <a:bodyPr anchor="b"/>
          <a:lstStyle>
            <a:lvl1pPr>
              <a:defRPr sz="3200"/>
            </a:lvl1pPr>
          </a:lstStyle>
          <a:p>
            <a:r>
              <a:rPr lang="ar-SA" smtClean="0"/>
              <a:t>انقر لتحرير نمط العنوان الرئيسي</a:t>
            </a:r>
            <a:endParaRPr lang="en-US"/>
          </a:p>
        </p:txBody>
      </p:sp>
      <p:sp>
        <p:nvSpPr>
          <p:cNvPr id="3" name="عنصر نائب للمحتوى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نص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smtClean="0"/>
              <a:t>تحرير أنماط النص الرئيسي</a:t>
            </a:r>
          </a:p>
        </p:txBody>
      </p:sp>
      <p:sp>
        <p:nvSpPr>
          <p:cNvPr id="5" name="عنصر نائب للتاريخ 4"/>
          <p:cNvSpPr>
            <a:spLocks noGrp="1"/>
          </p:cNvSpPr>
          <p:nvPr>
            <p:ph type="dt" sz="half" idx="10"/>
          </p:nvPr>
        </p:nvSpPr>
        <p:spPr/>
        <p:txBody>
          <a:bodyPr/>
          <a:lstStyle/>
          <a:p>
            <a:fld id="{AA543732-A1A7-421A-A2F4-2B29F8B6DC89}" type="datetimeFigureOut">
              <a:rPr lang="en-US" smtClean="0"/>
              <a:t>11/3/2025</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88135630-DAB4-4A5E-BA9F-A89A9F787A5C}" type="slidenum">
              <a:rPr lang="en-US" smtClean="0"/>
              <a:t>‹#›</a:t>
            </a:fld>
            <a:endParaRPr lang="en-US"/>
          </a:p>
        </p:txBody>
      </p:sp>
    </p:spTree>
    <p:extLst>
      <p:ext uri="{BB962C8B-B14F-4D97-AF65-F5344CB8AC3E}">
        <p14:creationId xmlns:p14="http://schemas.microsoft.com/office/powerpoint/2010/main" val="3546285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839788" y="457200"/>
            <a:ext cx="3932237" cy="1600200"/>
          </a:xfrm>
        </p:spPr>
        <p:txBody>
          <a:bodyPr anchor="b"/>
          <a:lstStyle>
            <a:lvl1pPr>
              <a:defRPr sz="3200"/>
            </a:lvl1pPr>
          </a:lstStyle>
          <a:p>
            <a:r>
              <a:rPr lang="ar-SA" smtClean="0"/>
              <a:t>انقر لتحرير نمط العنوان الرئيسي</a:t>
            </a:r>
            <a:endParaRPr lang="en-US"/>
          </a:p>
        </p:txBody>
      </p:sp>
      <p:sp>
        <p:nvSpPr>
          <p:cNvPr id="3" name="عنصر نائب للصورة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عنصر نائب للنص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smtClean="0"/>
              <a:t>تحرير أنماط النص الرئيسي</a:t>
            </a:r>
          </a:p>
        </p:txBody>
      </p:sp>
      <p:sp>
        <p:nvSpPr>
          <p:cNvPr id="5" name="عنصر نائب للتاريخ 4"/>
          <p:cNvSpPr>
            <a:spLocks noGrp="1"/>
          </p:cNvSpPr>
          <p:nvPr>
            <p:ph type="dt" sz="half" idx="10"/>
          </p:nvPr>
        </p:nvSpPr>
        <p:spPr/>
        <p:txBody>
          <a:bodyPr/>
          <a:lstStyle/>
          <a:p>
            <a:fld id="{AA543732-A1A7-421A-A2F4-2B29F8B6DC89}" type="datetimeFigureOut">
              <a:rPr lang="en-US" smtClean="0"/>
              <a:t>11/3/2025</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88135630-DAB4-4A5E-BA9F-A89A9F787A5C}" type="slidenum">
              <a:rPr lang="en-US" smtClean="0"/>
              <a:t>‹#›</a:t>
            </a:fld>
            <a:endParaRPr lang="en-US"/>
          </a:p>
        </p:txBody>
      </p:sp>
    </p:spTree>
    <p:extLst>
      <p:ext uri="{BB962C8B-B14F-4D97-AF65-F5344CB8AC3E}">
        <p14:creationId xmlns:p14="http://schemas.microsoft.com/office/powerpoint/2010/main" val="1730919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عنوان العمودي 2"/>
          <p:cNvSpPr>
            <a:spLocks noGrp="1"/>
          </p:cNvSpPr>
          <p:nvPr>
            <p:ph type="body" orient="vert" idx="1"/>
          </p:nvPr>
        </p:nvSpPr>
        <p:spPr/>
        <p:txBody>
          <a:bodyPr vert="eaVert"/>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10"/>
          </p:nvPr>
        </p:nvSpPr>
        <p:spPr/>
        <p:txBody>
          <a:bodyPr/>
          <a:lstStyle/>
          <a:p>
            <a:fld id="{AA543732-A1A7-421A-A2F4-2B29F8B6DC89}" type="datetimeFigureOut">
              <a:rPr lang="en-US" smtClean="0"/>
              <a:t>11/3/2025</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88135630-DAB4-4A5E-BA9F-A89A9F787A5C}" type="slidenum">
              <a:rPr lang="en-US" smtClean="0"/>
              <a:t>‹#›</a:t>
            </a:fld>
            <a:endParaRPr lang="en-US"/>
          </a:p>
        </p:txBody>
      </p:sp>
    </p:spTree>
    <p:extLst>
      <p:ext uri="{BB962C8B-B14F-4D97-AF65-F5344CB8AC3E}">
        <p14:creationId xmlns:p14="http://schemas.microsoft.com/office/powerpoint/2010/main" val="3119254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8724900" y="365125"/>
            <a:ext cx="2628900" cy="5811838"/>
          </a:xfrm>
        </p:spPr>
        <p:txBody>
          <a:bodyPr vert="eaVert"/>
          <a:lstStyle/>
          <a:p>
            <a:r>
              <a:rPr lang="ar-SA" smtClean="0"/>
              <a:t>انقر لتحرير نمط العنوان الرئيسي</a:t>
            </a:r>
            <a:endParaRPr lang="en-US"/>
          </a:p>
        </p:txBody>
      </p:sp>
      <p:sp>
        <p:nvSpPr>
          <p:cNvPr id="3" name="عنصر نائب للعنوان العمودي 2"/>
          <p:cNvSpPr>
            <a:spLocks noGrp="1"/>
          </p:cNvSpPr>
          <p:nvPr>
            <p:ph type="body" orient="vert" idx="1"/>
          </p:nvPr>
        </p:nvSpPr>
        <p:spPr>
          <a:xfrm>
            <a:off x="838200" y="365125"/>
            <a:ext cx="7734300" cy="5811838"/>
          </a:xfrm>
        </p:spPr>
        <p:txBody>
          <a:bodyPr vert="eaVert"/>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10"/>
          </p:nvPr>
        </p:nvSpPr>
        <p:spPr/>
        <p:txBody>
          <a:bodyPr/>
          <a:lstStyle/>
          <a:p>
            <a:fld id="{AA543732-A1A7-421A-A2F4-2B29F8B6DC89}" type="datetimeFigureOut">
              <a:rPr lang="en-US" smtClean="0"/>
              <a:t>11/3/2025</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88135630-DAB4-4A5E-BA9F-A89A9F787A5C}" type="slidenum">
              <a:rPr lang="en-US" smtClean="0"/>
              <a:t>‹#›</a:t>
            </a:fld>
            <a:endParaRPr lang="en-US"/>
          </a:p>
        </p:txBody>
      </p:sp>
    </p:spTree>
    <p:extLst>
      <p:ext uri="{BB962C8B-B14F-4D97-AF65-F5344CB8AC3E}">
        <p14:creationId xmlns:p14="http://schemas.microsoft.com/office/powerpoint/2010/main" val="3446205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smtClean="0"/>
              <a:t>انقر لتحرير نمط العنوان الرئيسي</a:t>
            </a:r>
            <a:endParaRPr lang="en-US"/>
          </a:p>
        </p:txBody>
      </p:sp>
      <p:sp>
        <p:nvSpPr>
          <p:cNvPr id="3" name="عنصر نائب للنص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AA543732-A1A7-421A-A2F4-2B29F8B6DC89}" type="datetimeFigureOut">
              <a:rPr lang="en-US" smtClean="0"/>
              <a:t>11/3/2025</a:t>
            </a:fld>
            <a:endParaRPr lang="en-US"/>
          </a:p>
        </p:txBody>
      </p:sp>
      <p:sp>
        <p:nvSpPr>
          <p:cNvPr id="5" name="عنصر نائب للتذييل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US"/>
          </a:p>
        </p:txBody>
      </p:sp>
      <p:sp>
        <p:nvSpPr>
          <p:cNvPr id="6" name="عنصر نائب لرقم الشريحة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88135630-DAB4-4A5E-BA9F-A89A9F787A5C}" type="slidenum">
              <a:rPr lang="en-US" smtClean="0"/>
              <a:t>‹#›</a:t>
            </a:fld>
            <a:endParaRPr lang="en-US"/>
          </a:p>
        </p:txBody>
      </p:sp>
    </p:spTree>
    <p:extLst>
      <p:ext uri="{BB962C8B-B14F-4D97-AF65-F5344CB8AC3E}">
        <p14:creationId xmlns:p14="http://schemas.microsoft.com/office/powerpoint/2010/main" val="2333806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483455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5" name="Group 2">
            <a:extLst>
              <a:ext uri="{FF2B5EF4-FFF2-40B4-BE49-F238E27FC236}">
                <a16:creationId xmlns:a16="http://schemas.microsoft.com/office/drawing/2014/main" id="{8F6D5683-E490-40E6-ABF2-A4BAEFA6DA9C}"/>
              </a:ext>
            </a:extLst>
          </p:cNvPr>
          <p:cNvGrpSpPr/>
          <p:nvPr/>
        </p:nvGrpSpPr>
        <p:grpSpPr>
          <a:xfrm>
            <a:off x="2000806" y="2441429"/>
            <a:ext cx="8190388" cy="1975143"/>
            <a:chOff x="2000806" y="2272315"/>
            <a:chExt cx="8190388" cy="1975143"/>
          </a:xfrm>
        </p:grpSpPr>
        <p:sp>
          <p:nvSpPr>
            <p:cNvPr id="6" name="object 4">
              <a:extLst>
                <a:ext uri="{FF2B5EF4-FFF2-40B4-BE49-F238E27FC236}">
                  <a16:creationId xmlns:a16="http://schemas.microsoft.com/office/drawing/2014/main" id="{1F7357F0-DB2D-4073-97B5-79DFB48FF1A9}"/>
                </a:ext>
              </a:extLst>
            </p:cNvPr>
            <p:cNvSpPr txBox="1">
              <a:spLocks/>
            </p:cNvSpPr>
            <p:nvPr/>
          </p:nvSpPr>
          <p:spPr>
            <a:xfrm>
              <a:off x="2298700" y="3926857"/>
              <a:ext cx="2145220" cy="320601"/>
            </a:xfrm>
            <a:prstGeom prst="rect">
              <a:avLst/>
            </a:prstGeom>
          </p:spPr>
          <p:txBody>
            <a:bodyPr vert="horz" wrap="square" lIns="0" tIns="1270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5080" algn="r" rtl="1">
                <a:lnSpc>
                  <a:spcPct val="100000"/>
                </a:lnSpc>
                <a:spcBef>
                  <a:spcPts val="100"/>
                </a:spcBef>
              </a:pPr>
              <a:r>
                <a:rPr lang="ar-SA" sz="2000" dirty="0" smtClean="0">
                  <a:solidFill>
                    <a:schemeClr val="bg1">
                      <a:lumMod val="95000"/>
                    </a:schemeClr>
                  </a:solidFill>
                  <a:latin typeface="Avenir Arabic Black" panose="020B0803020203020204" pitchFamily="34" charset="-78"/>
                  <a:cs typeface="Avenir Arabic Black" panose="020B0803020203020204" pitchFamily="34" charset="-78"/>
                </a:rPr>
                <a:t> </a:t>
              </a:r>
              <a:r>
                <a:rPr lang="ar-SA" sz="2000" dirty="0">
                  <a:solidFill>
                    <a:schemeClr val="bg1">
                      <a:lumMod val="95000"/>
                    </a:schemeClr>
                  </a:solidFill>
                  <a:latin typeface="Avenir Arabic Black" panose="020B0803020203020204" pitchFamily="34" charset="-78"/>
                  <a:cs typeface="Avenir Arabic Black" panose="020B0803020203020204" pitchFamily="34" charset="-78"/>
                </a:rPr>
                <a:t>م. </a:t>
              </a:r>
              <a:r>
                <a:rPr lang="ar-YE" sz="2000" dirty="0" smtClean="0">
                  <a:solidFill>
                    <a:schemeClr val="bg1">
                      <a:lumMod val="95000"/>
                    </a:schemeClr>
                  </a:solidFill>
                  <a:latin typeface="Avenir Arabic Black" panose="020B0803020203020204" pitchFamily="34" charset="-78"/>
                  <a:cs typeface="Avenir Arabic Black" panose="020B0803020203020204" pitchFamily="34" charset="-78"/>
                </a:rPr>
                <a:t>نادر منصور</a:t>
              </a:r>
              <a:endParaRPr lang="ar-YE" sz="700" dirty="0">
                <a:solidFill>
                  <a:schemeClr val="bg1">
                    <a:lumMod val="95000"/>
                  </a:schemeClr>
                </a:solidFill>
                <a:latin typeface="Avenir Arabic Black" panose="020B0803020203020204" pitchFamily="34" charset="-78"/>
                <a:cs typeface="Avenir Arabic Black" panose="020B0803020203020204" pitchFamily="34" charset="-78"/>
              </a:endParaRPr>
            </a:p>
          </p:txBody>
        </p:sp>
        <p:sp>
          <p:nvSpPr>
            <p:cNvPr id="7" name="object 4">
              <a:extLst>
                <a:ext uri="{FF2B5EF4-FFF2-40B4-BE49-F238E27FC236}">
                  <a16:creationId xmlns:a16="http://schemas.microsoft.com/office/drawing/2014/main" id="{60372CFF-7FE1-45F9-8B2F-7A7D07439CF9}"/>
                </a:ext>
              </a:extLst>
            </p:cNvPr>
            <p:cNvSpPr txBox="1">
              <a:spLocks/>
            </p:cNvSpPr>
            <p:nvPr/>
          </p:nvSpPr>
          <p:spPr>
            <a:xfrm>
              <a:off x="2000806" y="2272315"/>
              <a:ext cx="8190388" cy="1490152"/>
            </a:xfrm>
            <a:prstGeom prst="rect">
              <a:avLst/>
            </a:prstGeom>
          </p:spPr>
          <p:txBody>
            <a:bodyPr vert="horz" wrap="square" lIns="0" tIns="1270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5080" algn="ctr" rtl="1">
                <a:lnSpc>
                  <a:spcPct val="100000"/>
                </a:lnSpc>
                <a:spcBef>
                  <a:spcPts val="100"/>
                </a:spcBef>
              </a:pPr>
              <a:r>
                <a:rPr lang="ar-SA" sz="9600" b="1" dirty="0">
                  <a:solidFill>
                    <a:schemeClr val="bg1">
                      <a:lumMod val="95000"/>
                    </a:schemeClr>
                  </a:solidFill>
                  <a:latin typeface="Avenir Arabic Black" panose="020B0803020203020204" pitchFamily="34" charset="-78"/>
                  <a:cs typeface="Avenir Arabic Black" panose="020B0803020203020204" pitchFamily="34" charset="-78"/>
                </a:rPr>
                <a:t>دورة الـــــ </a:t>
              </a:r>
              <a:r>
                <a:rPr lang="en-US" sz="9600" b="1" dirty="0">
                  <a:solidFill>
                    <a:schemeClr val="bg1">
                      <a:lumMod val="95000"/>
                    </a:schemeClr>
                  </a:solidFill>
                  <a:latin typeface="Avenir Arabic Black" panose="020B0803020203020204" pitchFamily="34" charset="-78"/>
                  <a:cs typeface="Avenir Arabic Black" panose="020B0803020203020204" pitchFamily="34" charset="-78"/>
                </a:rPr>
                <a:t>UX/UI</a:t>
              </a:r>
              <a:endParaRPr lang="ar-YE" sz="3600" b="1" dirty="0">
                <a:solidFill>
                  <a:schemeClr val="bg1">
                    <a:lumMod val="95000"/>
                  </a:schemeClr>
                </a:solidFill>
                <a:latin typeface="Avenir Arabic Black" panose="020B0803020203020204" pitchFamily="34" charset="-78"/>
                <a:cs typeface="Avenir Arabic Black" panose="020B0803020203020204" pitchFamily="34" charset="-78"/>
              </a:endParaRPr>
            </a:p>
          </p:txBody>
        </p:sp>
      </p:grpSp>
    </p:spTree>
    <p:extLst>
      <p:ext uri="{BB962C8B-B14F-4D97-AF65-F5344CB8AC3E}">
        <p14:creationId xmlns:p14="http://schemas.microsoft.com/office/powerpoint/2010/main" val="39897677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3585883" y="1309591"/>
            <a:ext cx="6688602"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SA" b="1" dirty="0">
                <a:solidFill>
                  <a:schemeClr val="bg1">
                    <a:lumMod val="95000"/>
                  </a:schemeClr>
                </a:solidFill>
              </a:rPr>
              <a:t>شروط وقوانين:</a:t>
            </a:r>
            <a:endParaRPr lang="ar-YE" b="1" dirty="0">
              <a:solidFill>
                <a:schemeClr val="bg1">
                  <a:lumMod val="95000"/>
                </a:schemeClr>
              </a:solidFill>
            </a:endParaRP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555812" y="2384112"/>
            <a:ext cx="9718673" cy="285719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تصميت الهواتف.</a:t>
            </a:r>
            <a:endParaRPr lang="en-US" sz="2800" dirty="0">
              <a:solidFill>
                <a:schemeClr val="bg1">
                  <a:lumMod val="95000"/>
                </a:schemeClr>
              </a:solidFill>
              <a:latin typeface="Avenir Arabic Black" panose="020B0803020203020204" pitchFamily="34" charset="-78"/>
              <a:cs typeface="Avenir Arabic Black" panose="020B0803020203020204" pitchFamily="34" charset="-78"/>
            </a:endParaRPr>
          </a:p>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القات ممنوع.</a:t>
            </a:r>
          </a:p>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الالتزام بالوقت (سواء في الحضور أو في تسليم المشاريع).</a:t>
            </a:r>
          </a:p>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في حالة الغياب أكثر من ثلاث أيام، يجب مراجعة الإدارة.</a:t>
            </a:r>
          </a:p>
          <a:p>
            <a:pPr marL="469900" marR="5080" indent="-457200" algn="r" rtl="1">
              <a:lnSpc>
                <a:spcPct val="150000"/>
              </a:lnSpc>
              <a:spcBef>
                <a:spcPts val="100"/>
              </a:spcBef>
              <a:buFont typeface="+mj-lt"/>
              <a:buAutoNum type="arabicPeriod"/>
            </a:pPr>
            <a:endParaRPr lang="ar-YE" sz="9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30339482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875"/>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3585883" y="1309591"/>
            <a:ext cx="6688602"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SA" dirty="0">
                <a:solidFill>
                  <a:schemeClr val="bg1">
                    <a:lumMod val="95000"/>
                  </a:schemeClr>
                </a:solidFill>
              </a:rPr>
              <a:t>محاور </a:t>
            </a:r>
            <a:r>
              <a:rPr lang="ar-YE" dirty="0" smtClean="0">
                <a:solidFill>
                  <a:schemeClr val="bg1">
                    <a:lumMod val="95000"/>
                  </a:schemeClr>
                </a:solidFill>
              </a:rPr>
              <a:t>الاساسية</a:t>
            </a:r>
            <a:r>
              <a:rPr lang="ar-SA" dirty="0" smtClean="0">
                <a:solidFill>
                  <a:schemeClr val="bg1">
                    <a:lumMod val="95000"/>
                  </a:schemeClr>
                </a:solidFill>
              </a:rPr>
              <a:t>:</a:t>
            </a:r>
            <a:endParaRPr lang="ar-YE" dirty="0">
              <a:solidFill>
                <a:schemeClr val="bg1">
                  <a:lumMod val="95000"/>
                </a:schemeClr>
              </a:solidFill>
            </a:endParaRP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555812" y="2262607"/>
            <a:ext cx="9718673" cy="263661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أساسيات ال</a:t>
            </a:r>
            <a:r>
              <a:rPr lang="en-US" sz="2800" dirty="0">
                <a:solidFill>
                  <a:schemeClr val="bg1">
                    <a:lumMod val="95000"/>
                  </a:schemeClr>
                </a:solidFill>
                <a:latin typeface="Avenir Arabic Black" panose="020B0803020203020204" pitchFamily="34" charset="-78"/>
                <a:cs typeface="Avenir Arabic Black" panose="020B0803020203020204" pitchFamily="34" charset="-78"/>
              </a:rPr>
              <a:t>UX</a:t>
            </a:r>
          </a:p>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أساسيات ال</a:t>
            </a:r>
            <a:r>
              <a:rPr lang="en-US" sz="2800" dirty="0">
                <a:solidFill>
                  <a:schemeClr val="bg1">
                    <a:lumMod val="95000"/>
                  </a:schemeClr>
                </a:solidFill>
                <a:latin typeface="Avenir Arabic Black" panose="020B0803020203020204" pitchFamily="34" charset="-78"/>
                <a:cs typeface="Avenir Arabic Black" panose="020B0803020203020204" pitchFamily="34" charset="-78"/>
              </a:rPr>
              <a:t>UI</a:t>
            </a:r>
          </a:p>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مراحل تصميم ال</a:t>
            </a:r>
            <a:r>
              <a:rPr lang="en-US" sz="2800" dirty="0">
                <a:solidFill>
                  <a:schemeClr val="bg1">
                    <a:lumMod val="95000"/>
                  </a:schemeClr>
                </a:solidFill>
                <a:latin typeface="Avenir Arabic Black" panose="020B0803020203020204" pitchFamily="34" charset="-78"/>
                <a:cs typeface="Avenir Arabic Black" panose="020B0803020203020204" pitchFamily="34" charset="-78"/>
              </a:rPr>
              <a:t>UX/UI</a:t>
            </a:r>
          </a:p>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تصميم مواقع الويب والتطبيقات</a:t>
            </a:r>
            <a:endParaRPr lang="ar-YE" sz="9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39550151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3585883" y="2071591"/>
            <a:ext cx="6688602"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SA" dirty="0">
                <a:solidFill>
                  <a:schemeClr val="bg1">
                    <a:lumMod val="95000"/>
                  </a:schemeClr>
                </a:solidFill>
              </a:rPr>
              <a:t>الآلية التي </a:t>
            </a:r>
            <a:r>
              <a:rPr lang="ar-SA" dirty="0" smtClean="0">
                <a:solidFill>
                  <a:schemeClr val="bg1">
                    <a:lumMod val="95000"/>
                  </a:schemeClr>
                </a:solidFill>
              </a:rPr>
              <a:t>س</a:t>
            </a:r>
            <a:r>
              <a:rPr lang="ar-YE" dirty="0" smtClean="0">
                <a:solidFill>
                  <a:schemeClr val="bg1">
                    <a:lumMod val="95000"/>
                  </a:schemeClr>
                </a:solidFill>
              </a:rPr>
              <a:t>تتم</a:t>
            </a:r>
            <a:r>
              <a:rPr lang="ar-SA" dirty="0" smtClean="0">
                <a:solidFill>
                  <a:schemeClr val="bg1">
                    <a:lumMod val="95000"/>
                  </a:schemeClr>
                </a:solidFill>
              </a:rPr>
              <a:t>:</a:t>
            </a:r>
            <a:endParaRPr lang="ar-SA" dirty="0">
              <a:solidFill>
                <a:schemeClr val="bg1">
                  <a:lumMod val="95000"/>
                </a:schemeClr>
              </a:solidFill>
            </a:endParaRP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555812" y="2824868"/>
            <a:ext cx="9718673" cy="2198038"/>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 typeface="+mj-lt"/>
              <a:buAutoNum type="arabicPeriod"/>
            </a:pPr>
            <a:r>
              <a:rPr lang="ar-YE" sz="2800" dirty="0" smtClean="0">
                <a:solidFill>
                  <a:schemeClr val="bg1">
                    <a:lumMod val="95000"/>
                  </a:schemeClr>
                </a:solidFill>
                <a:latin typeface="Avenir Arabic Black" panose="020B0803020203020204" pitchFamily="34" charset="-78"/>
                <a:cs typeface="Avenir Arabic Black" panose="020B0803020203020204" pitchFamily="34" charset="-78"/>
              </a:rPr>
              <a:t>شرح الدروس والتدريب الى ان نصل المستوى المطلوب </a:t>
            </a:r>
          </a:p>
          <a:p>
            <a:pPr marL="469900" marR="5080" indent="-457200" algn="r" rtl="1">
              <a:lnSpc>
                <a:spcPct val="150000"/>
              </a:lnSpc>
              <a:spcBef>
                <a:spcPts val="100"/>
              </a:spcBef>
              <a:buFont typeface="+mj-lt"/>
              <a:buAutoNum type="arabicPeriod"/>
            </a:pPr>
            <a:r>
              <a:rPr lang="ar-YE" sz="2800" dirty="0" smtClean="0">
                <a:solidFill>
                  <a:schemeClr val="bg1">
                    <a:lumMod val="95000"/>
                  </a:schemeClr>
                </a:solidFill>
                <a:latin typeface="Avenir Arabic Black" panose="020B0803020203020204" pitchFamily="34" charset="-78"/>
                <a:cs typeface="Avenir Arabic Black" panose="020B0803020203020204" pitchFamily="34" charset="-78"/>
              </a:rPr>
              <a:t>القيام بمشاريع واقعية مثل موقع و تطبيق </a:t>
            </a:r>
          </a:p>
          <a:p>
            <a:pPr marL="469900" marR="5080" indent="-457200" algn="r" rtl="1">
              <a:lnSpc>
                <a:spcPct val="150000"/>
              </a:lnSpc>
              <a:spcBef>
                <a:spcPts val="100"/>
              </a:spcBef>
              <a:buFont typeface="+mj-lt"/>
              <a:buAutoNum type="arabicPeriod"/>
            </a:pPr>
            <a:r>
              <a:rPr lang="ar-YE" sz="2800" dirty="0" smtClean="0">
                <a:solidFill>
                  <a:schemeClr val="bg1">
                    <a:lumMod val="95000"/>
                  </a:schemeClr>
                </a:solidFill>
                <a:latin typeface="Avenir Arabic Black" panose="020B0803020203020204" pitchFamily="34" charset="-78"/>
                <a:cs typeface="Avenir Arabic Black" panose="020B0803020203020204" pitchFamily="34" charset="-78"/>
              </a:rPr>
              <a:t>مناقشة التكاليف المقدمة لكم بداية كل محاضرة </a:t>
            </a:r>
            <a:endParaRPr lang="ar-SA" sz="2800" dirty="0">
              <a:solidFill>
                <a:schemeClr val="bg1">
                  <a:lumMod val="95000"/>
                </a:schemeClr>
              </a:solidFill>
              <a:latin typeface="Avenir Arabic Black" panose="020B0803020203020204" pitchFamily="34" charset="-78"/>
              <a:cs typeface="Avenir Arabic Black" panose="020B0803020203020204" pitchFamily="34" charset="-78"/>
            </a:endParaRPr>
          </a:p>
          <a:p>
            <a:pPr marL="469900" marR="5080" indent="-457200" algn="r" rtl="1">
              <a:lnSpc>
                <a:spcPct val="150000"/>
              </a:lnSpc>
              <a:spcBef>
                <a:spcPts val="100"/>
              </a:spcBef>
              <a:buFont typeface="+mj-lt"/>
              <a:buAutoNum type="arabicPeriod"/>
            </a:pPr>
            <a:endParaRPr lang="ar-YE" sz="9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948037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object 4">
            <a:extLst>
              <a:ext uri="{FF2B5EF4-FFF2-40B4-BE49-F238E27FC236}">
                <a16:creationId xmlns:a16="http://schemas.microsoft.com/office/drawing/2014/main" id="{239831BB-6478-4671-8F2F-4F3524E329FD}"/>
              </a:ext>
            </a:extLst>
          </p:cNvPr>
          <p:cNvSpPr txBox="1">
            <a:spLocks/>
          </p:cNvSpPr>
          <p:nvPr/>
        </p:nvSpPr>
        <p:spPr>
          <a:xfrm>
            <a:off x="3750983" y="1309591"/>
            <a:ext cx="6688602"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SA" dirty="0">
                <a:solidFill>
                  <a:schemeClr val="bg1">
                    <a:lumMod val="95000"/>
                  </a:schemeClr>
                </a:solidFill>
              </a:rPr>
              <a:t>عن </a:t>
            </a:r>
            <a:r>
              <a:rPr lang="ar-YE" dirty="0" smtClean="0">
                <a:solidFill>
                  <a:schemeClr val="bg1">
                    <a:lumMod val="95000"/>
                  </a:schemeClr>
                </a:solidFill>
              </a:rPr>
              <a:t>المدرس</a:t>
            </a:r>
            <a:r>
              <a:rPr lang="ar-SA" dirty="0" smtClean="0">
                <a:solidFill>
                  <a:schemeClr val="bg1">
                    <a:lumMod val="95000"/>
                  </a:schemeClr>
                </a:solidFill>
              </a:rPr>
              <a:t>:</a:t>
            </a:r>
            <a:endParaRPr lang="ar-YE" dirty="0">
              <a:solidFill>
                <a:schemeClr val="bg1">
                  <a:lumMod val="95000"/>
                </a:schemeClr>
              </a:solidFill>
            </a:endParaRPr>
          </a:p>
        </p:txBody>
      </p:sp>
      <p:sp>
        <p:nvSpPr>
          <p:cNvPr id="15" name="object 4">
            <a:extLst>
              <a:ext uri="{FF2B5EF4-FFF2-40B4-BE49-F238E27FC236}">
                <a16:creationId xmlns:a16="http://schemas.microsoft.com/office/drawing/2014/main" id="{8F244AE8-97F6-4763-8530-373F49477464}"/>
              </a:ext>
            </a:extLst>
          </p:cNvPr>
          <p:cNvSpPr txBox="1">
            <a:spLocks/>
          </p:cNvSpPr>
          <p:nvPr/>
        </p:nvSpPr>
        <p:spPr>
          <a:xfrm>
            <a:off x="670112" y="2135324"/>
            <a:ext cx="9718673" cy="153888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بكالوريوس </a:t>
            </a:r>
            <a:r>
              <a:rPr lang="ar-YE" sz="2800" dirty="0" smtClean="0">
                <a:solidFill>
                  <a:schemeClr val="bg1">
                    <a:lumMod val="95000"/>
                  </a:schemeClr>
                </a:solidFill>
                <a:latin typeface="Avenir Arabic Black" panose="020B0803020203020204" pitchFamily="34" charset="-78"/>
                <a:cs typeface="Avenir Arabic Black" panose="020B0803020203020204" pitchFamily="34" charset="-78"/>
              </a:rPr>
              <a:t>علوم حاسوب </a:t>
            </a:r>
            <a:r>
              <a:rPr lang="ar-SA" sz="2800" dirty="0" smtClean="0">
                <a:solidFill>
                  <a:schemeClr val="bg1">
                    <a:lumMod val="95000"/>
                  </a:schemeClr>
                </a:solidFill>
                <a:latin typeface="Avenir Arabic Black" panose="020B0803020203020204" pitchFamily="34" charset="-78"/>
                <a:cs typeface="Avenir Arabic Black" panose="020B0803020203020204" pitchFamily="34" charset="-78"/>
              </a:rPr>
              <a:t>– </a:t>
            </a:r>
            <a:r>
              <a:rPr lang="ar-SA" sz="2800" dirty="0">
                <a:solidFill>
                  <a:schemeClr val="bg1">
                    <a:lumMod val="95000"/>
                  </a:schemeClr>
                </a:solidFill>
                <a:latin typeface="Avenir Arabic Black" panose="020B0803020203020204" pitchFamily="34" charset="-78"/>
                <a:cs typeface="Avenir Arabic Black" panose="020B0803020203020204" pitchFamily="34" charset="-78"/>
              </a:rPr>
              <a:t>جامعة صنعاء</a:t>
            </a:r>
          </a:p>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مصمم </a:t>
            </a:r>
            <a:r>
              <a:rPr lang="en-US" sz="2800" dirty="0">
                <a:solidFill>
                  <a:schemeClr val="bg1">
                    <a:lumMod val="95000"/>
                  </a:schemeClr>
                </a:solidFill>
                <a:latin typeface="Avenir Arabic Black" panose="020B0803020203020204" pitchFamily="34" charset="-78"/>
                <a:cs typeface="Avenir Arabic Black" panose="020B0803020203020204" pitchFamily="34" charset="-78"/>
              </a:rPr>
              <a:t>UX/UI</a:t>
            </a:r>
            <a:endParaRPr lang="ar-SA" sz="2800" dirty="0">
              <a:solidFill>
                <a:schemeClr val="bg1">
                  <a:lumMod val="95000"/>
                </a:schemeClr>
              </a:solidFill>
              <a:latin typeface="Avenir Arabic Black" panose="020B0803020203020204" pitchFamily="34" charset="-78"/>
              <a:cs typeface="Avenir Arabic Black" panose="020B0803020203020204" pitchFamily="34" charset="-78"/>
            </a:endParaRPr>
          </a:p>
          <a:p>
            <a:pPr marL="469900" marR="5080" indent="-457200" algn="r" rtl="1">
              <a:lnSpc>
                <a:spcPct val="150000"/>
              </a:lnSpc>
              <a:spcBef>
                <a:spcPts val="100"/>
              </a:spcBef>
              <a:buFont typeface="+mj-lt"/>
              <a:buAutoNum type="arabicPeriod"/>
            </a:pPr>
            <a:endParaRPr lang="ar-YE" sz="900" dirty="0">
              <a:solidFill>
                <a:schemeClr val="bg1">
                  <a:lumMod val="95000"/>
                </a:schemeClr>
              </a:solidFill>
              <a:latin typeface="Avenir Arabic Black" panose="020B0803020203020204" pitchFamily="34" charset="-78"/>
              <a:cs typeface="Avenir Arabic Black" panose="020B0803020203020204" pitchFamily="34" charset="-78"/>
            </a:endParaRPr>
          </a:p>
        </p:txBody>
      </p:sp>
      <p:sp>
        <p:nvSpPr>
          <p:cNvPr id="16" name="object 4">
            <a:extLst>
              <a:ext uri="{FF2B5EF4-FFF2-40B4-BE49-F238E27FC236}">
                <a16:creationId xmlns:a16="http://schemas.microsoft.com/office/drawing/2014/main" id="{4D2BD408-B5D3-4B97-B394-6963E4CC60F4}"/>
              </a:ext>
            </a:extLst>
          </p:cNvPr>
          <p:cNvSpPr txBox="1">
            <a:spLocks/>
          </p:cNvSpPr>
          <p:nvPr/>
        </p:nvSpPr>
        <p:spPr>
          <a:xfrm>
            <a:off x="3738283" y="3679367"/>
            <a:ext cx="6688602"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SA" dirty="0">
                <a:solidFill>
                  <a:schemeClr val="bg1">
                    <a:lumMod val="95000"/>
                  </a:schemeClr>
                </a:solidFill>
              </a:rPr>
              <a:t>طرق التواصل</a:t>
            </a:r>
            <a:endParaRPr lang="ar-YE" dirty="0">
              <a:solidFill>
                <a:schemeClr val="bg1">
                  <a:lumMod val="95000"/>
                </a:schemeClr>
              </a:solidFill>
            </a:endParaRPr>
          </a:p>
        </p:txBody>
      </p:sp>
      <p:sp>
        <p:nvSpPr>
          <p:cNvPr id="17" name="object 4">
            <a:extLst>
              <a:ext uri="{FF2B5EF4-FFF2-40B4-BE49-F238E27FC236}">
                <a16:creationId xmlns:a16="http://schemas.microsoft.com/office/drawing/2014/main" id="{3B64E0AF-FC4C-4596-8631-6189A1CE2A47}"/>
              </a:ext>
            </a:extLst>
          </p:cNvPr>
          <p:cNvSpPr txBox="1">
            <a:spLocks/>
          </p:cNvSpPr>
          <p:nvPr/>
        </p:nvSpPr>
        <p:spPr>
          <a:xfrm>
            <a:off x="708212" y="4654403"/>
            <a:ext cx="9718673" cy="1240276"/>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 typeface="+mj-lt"/>
              <a:buAutoNum type="arabicPeriod"/>
            </a:pPr>
            <a:r>
              <a:rPr lang="ar-SA" sz="2800" dirty="0" smtClean="0">
                <a:solidFill>
                  <a:schemeClr val="bg1">
                    <a:lumMod val="95000"/>
                  </a:schemeClr>
                </a:solidFill>
                <a:latin typeface="Avenir Arabic Black" panose="020B0803020203020204" pitchFamily="34" charset="-78"/>
                <a:cs typeface="Avenir Arabic Black" panose="020B0803020203020204" pitchFamily="34" charset="-78"/>
              </a:rPr>
              <a:t>تيليجرام</a:t>
            </a:r>
            <a:r>
              <a:rPr lang="en-US" sz="2800" dirty="0" smtClean="0">
                <a:solidFill>
                  <a:schemeClr val="bg1">
                    <a:lumMod val="95000"/>
                  </a:schemeClr>
                </a:solidFill>
                <a:latin typeface="Avenir Arabic Black" panose="020B0803020203020204" pitchFamily="34" charset="-78"/>
                <a:cs typeface="Avenir Arabic Black" panose="020B0803020203020204" pitchFamily="34" charset="-78"/>
              </a:rPr>
              <a:t> </a:t>
            </a:r>
            <a:r>
              <a:rPr lang="ar-SA" sz="2800" dirty="0" smtClean="0">
                <a:solidFill>
                  <a:schemeClr val="bg1">
                    <a:lumMod val="95000"/>
                  </a:schemeClr>
                </a:solidFill>
                <a:latin typeface="Avenir Arabic Black" panose="020B0803020203020204" pitchFamily="34" charset="-78"/>
                <a:cs typeface="Avenir Arabic Black" panose="020B0803020203020204" pitchFamily="34" charset="-78"/>
              </a:rPr>
              <a:t>:</a:t>
            </a:r>
            <a:r>
              <a:rPr lang="en-US" sz="2800" dirty="0" smtClean="0">
                <a:solidFill>
                  <a:schemeClr val="bg1">
                    <a:lumMod val="95000"/>
                  </a:schemeClr>
                </a:solidFill>
                <a:latin typeface="Avenir Arabic Black" panose="020B0803020203020204" pitchFamily="34" charset="-78"/>
                <a:cs typeface="Avenir Arabic Black" panose="020B0803020203020204" pitchFamily="34" charset="-78"/>
              </a:rPr>
              <a:t> @n2_1a_d2  </a:t>
            </a:r>
            <a:r>
              <a:rPr lang="ar-SA" sz="2800" dirty="0" smtClean="0">
                <a:solidFill>
                  <a:schemeClr val="bg1">
                    <a:lumMod val="95000"/>
                  </a:schemeClr>
                </a:solidFill>
                <a:latin typeface="Avenir Arabic Black" panose="020B0803020203020204" pitchFamily="34" charset="-78"/>
                <a:cs typeface="Avenir Arabic Black" panose="020B0803020203020204" pitchFamily="34" charset="-78"/>
              </a:rPr>
              <a:t> </a:t>
            </a:r>
            <a:endParaRPr lang="en-US" sz="2800" dirty="0" smtClean="0">
              <a:solidFill>
                <a:schemeClr val="bg1">
                  <a:lumMod val="95000"/>
                </a:schemeClr>
              </a:solidFill>
              <a:latin typeface="Avenir Arabic Black" panose="020B0803020203020204" pitchFamily="34" charset="-78"/>
              <a:cs typeface="Avenir Arabic Black" panose="020B0803020203020204" pitchFamily="34" charset="-78"/>
            </a:endParaRPr>
          </a:p>
          <a:p>
            <a:pPr marL="469900" marR="5080" indent="-457200" algn="r" rtl="1">
              <a:lnSpc>
                <a:spcPct val="150000"/>
              </a:lnSpc>
              <a:spcBef>
                <a:spcPts val="100"/>
              </a:spcBef>
              <a:buFont typeface="+mj-lt"/>
              <a:buAutoNum type="arabicPeriod"/>
            </a:pPr>
            <a:r>
              <a:rPr lang="ar-SA" sz="2800" dirty="0" smtClean="0">
                <a:solidFill>
                  <a:schemeClr val="bg1">
                    <a:lumMod val="95000"/>
                  </a:schemeClr>
                </a:solidFill>
                <a:latin typeface="Avenir Arabic Black" panose="020B0803020203020204" pitchFamily="34" charset="-78"/>
                <a:cs typeface="Avenir Arabic Black" panose="020B0803020203020204" pitchFamily="34" charset="-78"/>
              </a:rPr>
              <a:t>اتصال و</a:t>
            </a:r>
            <a:r>
              <a:rPr lang="en-US" sz="2800" dirty="0" smtClean="0">
                <a:solidFill>
                  <a:schemeClr val="bg1">
                    <a:lumMod val="95000"/>
                  </a:schemeClr>
                </a:solidFill>
                <a:latin typeface="Avenir Arabic Black" panose="020B0803020203020204" pitchFamily="34" charset="-78"/>
                <a:cs typeface="Avenir Arabic Black" panose="020B0803020203020204" pitchFamily="34" charset="-78"/>
              </a:rPr>
              <a:t> </a:t>
            </a:r>
            <a:r>
              <a:rPr lang="ar-SA" sz="2800" dirty="0" smtClean="0">
                <a:solidFill>
                  <a:schemeClr val="bg1">
                    <a:lumMod val="95000"/>
                  </a:schemeClr>
                </a:solidFill>
                <a:latin typeface="Avenir Arabic Black" panose="020B0803020203020204" pitchFamily="34" charset="-78"/>
                <a:cs typeface="Avenir Arabic Black" panose="020B0803020203020204" pitchFamily="34" charset="-78"/>
              </a:rPr>
              <a:t>واتس</a:t>
            </a:r>
            <a:r>
              <a:rPr lang="en-US" sz="2800" dirty="0" smtClean="0">
                <a:solidFill>
                  <a:schemeClr val="bg1">
                    <a:lumMod val="95000"/>
                  </a:schemeClr>
                </a:solidFill>
                <a:latin typeface="Avenir Arabic Black" panose="020B0803020203020204" pitchFamily="34" charset="-78"/>
                <a:cs typeface="Avenir Arabic Black" panose="020B0803020203020204" pitchFamily="34" charset="-78"/>
              </a:rPr>
              <a:t> </a:t>
            </a:r>
            <a:r>
              <a:rPr lang="ar-SA" sz="2800" dirty="0" smtClean="0">
                <a:solidFill>
                  <a:schemeClr val="bg1">
                    <a:lumMod val="95000"/>
                  </a:schemeClr>
                </a:solidFill>
                <a:latin typeface="Avenir Arabic Black" panose="020B0803020203020204" pitchFamily="34" charset="-78"/>
                <a:cs typeface="Avenir Arabic Black" panose="020B0803020203020204" pitchFamily="34" charset="-78"/>
              </a:rPr>
              <a:t>: </a:t>
            </a:r>
            <a:r>
              <a:rPr lang="en-US" sz="2800" dirty="0" smtClean="0">
                <a:solidFill>
                  <a:schemeClr val="bg1">
                    <a:lumMod val="95000"/>
                  </a:schemeClr>
                </a:solidFill>
                <a:latin typeface="Avenir Arabic Black" panose="020B0803020203020204" pitchFamily="34" charset="-78"/>
                <a:cs typeface="Avenir Arabic Black" panose="020B0803020203020204" pitchFamily="34" charset="-78"/>
              </a:rPr>
              <a:t>773234337</a:t>
            </a:r>
            <a:endParaRPr lang="ar-YE" sz="9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13322409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object 4">
            <a:extLst>
              <a:ext uri="{FF2B5EF4-FFF2-40B4-BE49-F238E27FC236}">
                <a16:creationId xmlns:a16="http://schemas.microsoft.com/office/drawing/2014/main" id="{60372CFF-7FE1-45F9-8B2F-7A7D07439CF9}"/>
              </a:ext>
            </a:extLst>
          </p:cNvPr>
          <p:cNvSpPr txBox="1">
            <a:spLocks/>
          </p:cNvSpPr>
          <p:nvPr/>
        </p:nvSpPr>
        <p:spPr>
          <a:xfrm>
            <a:off x="2000806" y="1702766"/>
            <a:ext cx="8190388" cy="296747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gn="ctr" rtl="1">
              <a:lnSpc>
                <a:spcPct val="100000"/>
              </a:lnSpc>
              <a:spcBef>
                <a:spcPts val="100"/>
              </a:spcBef>
            </a:pPr>
            <a:r>
              <a:rPr lang="ar-SA" sz="9600" b="1" dirty="0">
                <a:solidFill>
                  <a:schemeClr val="bg1">
                    <a:lumMod val="95000"/>
                  </a:schemeClr>
                </a:solidFill>
                <a:latin typeface="Avenir Arabic Black" panose="020B0803020203020204" pitchFamily="34" charset="-78"/>
                <a:cs typeface="Avenir Arabic Black" panose="020B0803020203020204" pitchFamily="34" charset="-78"/>
              </a:rPr>
              <a:t>نقاط ونصائح قبل البدء</a:t>
            </a:r>
            <a:endParaRPr lang="ar-YE" sz="3600" b="1"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27854578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5" name="Group 2">
            <a:extLst>
              <a:ext uri="{FF2B5EF4-FFF2-40B4-BE49-F238E27FC236}">
                <a16:creationId xmlns:a16="http://schemas.microsoft.com/office/drawing/2014/main" id="{8F6D5683-E490-40E6-ABF2-A4BAEFA6DA9C}"/>
              </a:ext>
            </a:extLst>
          </p:cNvPr>
          <p:cNvGrpSpPr/>
          <p:nvPr/>
        </p:nvGrpSpPr>
        <p:grpSpPr>
          <a:xfrm>
            <a:off x="2000806" y="2441429"/>
            <a:ext cx="8190388" cy="1975143"/>
            <a:chOff x="2000806" y="2272315"/>
            <a:chExt cx="8190388" cy="1975143"/>
          </a:xfrm>
        </p:grpSpPr>
        <p:sp>
          <p:nvSpPr>
            <p:cNvPr id="6" name="object 4">
              <a:extLst>
                <a:ext uri="{FF2B5EF4-FFF2-40B4-BE49-F238E27FC236}">
                  <a16:creationId xmlns:a16="http://schemas.microsoft.com/office/drawing/2014/main" id="{1F7357F0-DB2D-4073-97B5-79DFB48FF1A9}"/>
                </a:ext>
              </a:extLst>
            </p:cNvPr>
            <p:cNvSpPr txBox="1">
              <a:spLocks/>
            </p:cNvSpPr>
            <p:nvPr/>
          </p:nvSpPr>
          <p:spPr>
            <a:xfrm>
              <a:off x="2169458" y="3926857"/>
              <a:ext cx="2617362" cy="32060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gn="r" rtl="1">
                <a:lnSpc>
                  <a:spcPct val="100000"/>
                </a:lnSpc>
                <a:spcBef>
                  <a:spcPts val="100"/>
                </a:spcBef>
              </a:pPr>
              <a:r>
                <a:rPr lang="ar-SA" sz="2000" dirty="0">
                  <a:solidFill>
                    <a:schemeClr val="bg1">
                      <a:lumMod val="95000"/>
                    </a:schemeClr>
                  </a:solidFill>
                  <a:latin typeface="Avenir Arabic Black" panose="020B0803020203020204" pitchFamily="34" charset="-78"/>
                  <a:cs typeface="Avenir Arabic Black" panose="020B0803020203020204" pitchFamily="34" charset="-78"/>
                </a:rPr>
                <a:t>المدرب: م. </a:t>
              </a:r>
              <a:r>
                <a:rPr lang="ar-YE" sz="2000" dirty="0" smtClean="0">
                  <a:solidFill>
                    <a:schemeClr val="bg1">
                      <a:lumMod val="95000"/>
                    </a:schemeClr>
                  </a:solidFill>
                  <a:latin typeface="Avenir Arabic Black" panose="020B0803020203020204" pitchFamily="34" charset="-78"/>
                  <a:cs typeface="Avenir Arabic Black" panose="020B0803020203020204" pitchFamily="34" charset="-78"/>
                </a:rPr>
                <a:t>نادر منصور</a:t>
              </a:r>
              <a:endParaRPr lang="ar-YE" sz="700" dirty="0">
                <a:solidFill>
                  <a:schemeClr val="bg1">
                    <a:lumMod val="95000"/>
                  </a:schemeClr>
                </a:solidFill>
                <a:latin typeface="Avenir Arabic Black" panose="020B0803020203020204" pitchFamily="34" charset="-78"/>
                <a:cs typeface="Avenir Arabic Black" panose="020B0803020203020204" pitchFamily="34" charset="-78"/>
              </a:endParaRPr>
            </a:p>
          </p:txBody>
        </p:sp>
        <p:sp>
          <p:nvSpPr>
            <p:cNvPr id="7" name="object 4">
              <a:extLst>
                <a:ext uri="{FF2B5EF4-FFF2-40B4-BE49-F238E27FC236}">
                  <a16:creationId xmlns:a16="http://schemas.microsoft.com/office/drawing/2014/main" id="{60372CFF-7FE1-45F9-8B2F-7A7D07439CF9}"/>
                </a:ext>
              </a:extLst>
            </p:cNvPr>
            <p:cNvSpPr txBox="1">
              <a:spLocks/>
            </p:cNvSpPr>
            <p:nvPr/>
          </p:nvSpPr>
          <p:spPr>
            <a:xfrm>
              <a:off x="2000806" y="2272315"/>
              <a:ext cx="8190388" cy="149015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gn="ctr" rtl="1">
                <a:lnSpc>
                  <a:spcPct val="100000"/>
                </a:lnSpc>
                <a:spcBef>
                  <a:spcPts val="100"/>
                </a:spcBef>
              </a:pPr>
              <a:r>
                <a:rPr lang="ar-SA" sz="9600" b="1" dirty="0">
                  <a:solidFill>
                    <a:schemeClr val="bg1">
                      <a:lumMod val="95000"/>
                    </a:schemeClr>
                  </a:solidFill>
                  <a:latin typeface="Avenir Arabic Black" panose="020B0803020203020204" pitchFamily="34" charset="-78"/>
                  <a:cs typeface="Avenir Arabic Black" panose="020B0803020203020204" pitchFamily="34" charset="-78"/>
                </a:rPr>
                <a:t>لمحة تعريفية</a:t>
              </a:r>
              <a:endParaRPr lang="ar-YE" sz="3600" b="1" dirty="0">
                <a:solidFill>
                  <a:schemeClr val="bg1">
                    <a:lumMod val="95000"/>
                  </a:schemeClr>
                </a:solidFill>
                <a:latin typeface="Avenir Arabic Black" panose="020B0803020203020204" pitchFamily="34" charset="-78"/>
                <a:cs typeface="Avenir Arabic Black" panose="020B0803020203020204" pitchFamily="34" charset="-78"/>
              </a:endParaRPr>
            </a:p>
          </p:txBody>
        </p:sp>
      </p:grpSp>
    </p:spTree>
    <p:extLst>
      <p:ext uri="{BB962C8B-B14F-4D97-AF65-F5344CB8AC3E}">
        <p14:creationId xmlns:p14="http://schemas.microsoft.com/office/powerpoint/2010/main" val="5503768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object 4">
            <a:extLst>
              <a:ext uri="{FF2B5EF4-FFF2-40B4-BE49-F238E27FC236}">
                <a16:creationId xmlns:a16="http://schemas.microsoft.com/office/drawing/2014/main" id="{239831BB-6478-4671-8F2F-4F3524E329FD}"/>
              </a:ext>
            </a:extLst>
          </p:cNvPr>
          <p:cNvSpPr txBox="1">
            <a:spLocks/>
          </p:cNvSpPr>
          <p:nvPr/>
        </p:nvSpPr>
        <p:spPr>
          <a:xfrm>
            <a:off x="3839883" y="451636"/>
            <a:ext cx="6688602"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SA" dirty="0">
                <a:solidFill>
                  <a:schemeClr val="bg1">
                    <a:lumMod val="95000"/>
                  </a:schemeClr>
                </a:solidFill>
              </a:rPr>
              <a:t>محاور اليوم:</a:t>
            </a:r>
            <a:endParaRPr lang="ar-YE" dirty="0">
              <a:solidFill>
                <a:schemeClr val="bg1">
                  <a:lumMod val="95000"/>
                </a:schemeClr>
              </a:solidFill>
            </a:endParaRPr>
          </a:p>
        </p:txBody>
      </p:sp>
      <p:sp>
        <p:nvSpPr>
          <p:cNvPr id="8" name="object 4">
            <a:extLst>
              <a:ext uri="{FF2B5EF4-FFF2-40B4-BE49-F238E27FC236}">
                <a16:creationId xmlns:a16="http://schemas.microsoft.com/office/drawing/2014/main" id="{8F244AE8-97F6-4763-8530-373F49477464}"/>
              </a:ext>
            </a:extLst>
          </p:cNvPr>
          <p:cNvSpPr txBox="1">
            <a:spLocks/>
          </p:cNvSpPr>
          <p:nvPr/>
        </p:nvSpPr>
        <p:spPr>
          <a:xfrm>
            <a:off x="0" y="1414644"/>
            <a:ext cx="10543822" cy="4817344"/>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ماذا يعني تصميم واجهة الاستخدام (</a:t>
            </a:r>
            <a:r>
              <a:rPr lang="en-US" sz="2800" dirty="0">
                <a:solidFill>
                  <a:schemeClr val="bg1">
                    <a:lumMod val="95000"/>
                  </a:schemeClr>
                </a:solidFill>
                <a:latin typeface="Avenir Arabic Black" panose="020B0803020203020204" pitchFamily="34" charset="-78"/>
                <a:cs typeface="Avenir Arabic Black" panose="020B0803020203020204" pitchFamily="34" charset="-78"/>
              </a:rPr>
              <a:t>UI)؟</a:t>
            </a:r>
          </a:p>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ماذا يعني تصميم تجربة المستخدم (</a:t>
            </a:r>
            <a:r>
              <a:rPr lang="en-US" sz="2800" dirty="0">
                <a:solidFill>
                  <a:schemeClr val="bg1">
                    <a:lumMod val="95000"/>
                  </a:schemeClr>
                </a:solidFill>
                <a:latin typeface="Avenir Arabic Black" panose="020B0803020203020204" pitchFamily="34" charset="-78"/>
                <a:cs typeface="Avenir Arabic Black" panose="020B0803020203020204" pitchFamily="34" charset="-78"/>
              </a:rPr>
              <a:t>UX)؟</a:t>
            </a:r>
          </a:p>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الفرق بين تصميم تجربة المستخدم وواجهة الاستخدام.</a:t>
            </a:r>
          </a:p>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علاقة تصميم واجهات الاستخدام وتجربة المستخدم.</a:t>
            </a:r>
          </a:p>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أهمية تصميم تجربة المستخدم وواجهة الاستخدام للأعمال والمنتجات.</a:t>
            </a:r>
          </a:p>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ماذا احتاج كي أكون مصمم تجربة المستخدم وواجهة الاستخدام؟</a:t>
            </a:r>
          </a:p>
          <a:p>
            <a:pPr marL="469900" marR="5080" indent="-457200" algn="r" rtl="1">
              <a:lnSpc>
                <a:spcPct val="150000"/>
              </a:lnSpc>
              <a:spcBef>
                <a:spcPts val="100"/>
              </a:spcBef>
              <a:buFont typeface="+mj-lt"/>
              <a:buAutoNum type="arabicPeriod"/>
            </a:pPr>
            <a:r>
              <a:rPr lang="ar-SA" sz="2800" dirty="0">
                <a:solidFill>
                  <a:schemeClr val="bg1">
                    <a:lumMod val="95000"/>
                  </a:schemeClr>
                </a:solidFill>
                <a:latin typeface="Avenir Arabic Black" panose="020B0803020203020204" pitchFamily="34" charset="-78"/>
                <a:cs typeface="Avenir Arabic Black" panose="020B0803020203020204" pitchFamily="34" charset="-78"/>
              </a:rPr>
              <a:t>أسياسيات ال</a:t>
            </a:r>
            <a:r>
              <a:rPr lang="en-US" sz="2800" dirty="0">
                <a:solidFill>
                  <a:schemeClr val="bg1">
                    <a:lumMod val="95000"/>
                  </a:schemeClr>
                </a:solidFill>
                <a:latin typeface="Avenir Arabic Black" panose="020B0803020203020204" pitchFamily="34" charset="-78"/>
                <a:cs typeface="Avenir Arabic Black" panose="020B0803020203020204" pitchFamily="34" charset="-78"/>
              </a:rPr>
              <a:t>UX/UI</a:t>
            </a:r>
            <a:endParaRPr lang="ar-SA" sz="2800" dirty="0">
              <a:solidFill>
                <a:schemeClr val="bg1">
                  <a:lumMod val="95000"/>
                </a:schemeClr>
              </a:solidFill>
              <a:latin typeface="Avenir Arabic Black" panose="020B0803020203020204" pitchFamily="34" charset="-78"/>
              <a:cs typeface="Avenir Arabic Black" panose="020B0803020203020204" pitchFamily="34" charset="-78"/>
            </a:endParaRPr>
          </a:p>
          <a:p>
            <a:pPr marL="469900" marR="5080" indent="-457200" algn="r" rtl="1">
              <a:lnSpc>
                <a:spcPct val="150000"/>
              </a:lnSpc>
              <a:spcBef>
                <a:spcPts val="100"/>
              </a:spcBef>
              <a:buFont typeface="+mj-lt"/>
              <a:buAutoNum type="arabicPeriod"/>
            </a:pPr>
            <a:endParaRPr lang="ar-YE" sz="9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2521089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object 4">
            <a:extLst>
              <a:ext uri="{FF2B5EF4-FFF2-40B4-BE49-F238E27FC236}">
                <a16:creationId xmlns:a16="http://schemas.microsoft.com/office/drawing/2014/main" id="{8F244AE8-97F6-4763-8530-373F49477464}"/>
              </a:ext>
            </a:extLst>
          </p:cNvPr>
          <p:cNvSpPr txBox="1">
            <a:spLocks/>
          </p:cNvSpPr>
          <p:nvPr/>
        </p:nvSpPr>
        <p:spPr>
          <a:xfrm>
            <a:off x="1917516" y="2493208"/>
            <a:ext cx="8356967" cy="1108830"/>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gn="ctr" rtl="1">
              <a:lnSpc>
                <a:spcPct val="150000"/>
              </a:lnSpc>
              <a:spcBef>
                <a:spcPts val="100"/>
              </a:spcBef>
            </a:pPr>
            <a:r>
              <a:rPr lang="ar-SA" sz="5400" dirty="0">
                <a:solidFill>
                  <a:schemeClr val="bg1">
                    <a:lumMod val="95000"/>
                  </a:schemeClr>
                </a:solidFill>
                <a:latin typeface="Avenir Arabic Black" panose="020B0803020203020204" pitchFamily="34" charset="-78"/>
                <a:cs typeface="Avenir Arabic Black" panose="020B0803020203020204" pitchFamily="34" charset="-78"/>
              </a:rPr>
              <a:t>ما هو الــ </a:t>
            </a:r>
            <a:r>
              <a:rPr lang="en-US" sz="5400" dirty="0">
                <a:solidFill>
                  <a:schemeClr val="bg1">
                    <a:lumMod val="95000"/>
                  </a:schemeClr>
                </a:solidFill>
                <a:latin typeface="Avenir Arabic Black" panose="020B0803020203020204" pitchFamily="34" charset="-78"/>
                <a:cs typeface="Avenir Arabic Black" panose="020B0803020203020204" pitchFamily="34" charset="-78"/>
              </a:rPr>
              <a:t>UX/UI</a:t>
            </a:r>
            <a:r>
              <a:rPr lang="ar-SA" sz="5400" dirty="0">
                <a:solidFill>
                  <a:schemeClr val="bg1">
                    <a:lumMod val="95000"/>
                  </a:schemeClr>
                </a:solidFill>
                <a:latin typeface="Avenir Arabic Black" panose="020B0803020203020204" pitchFamily="34" charset="-78"/>
                <a:cs typeface="Avenir Arabic Black" panose="020B0803020203020204" pitchFamily="34" charset="-78"/>
              </a:rPr>
              <a:t>؟!</a:t>
            </a:r>
            <a:endParaRPr lang="en-US" sz="54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34695536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3">
            <a:extLst>
              <a:ext uri="{FF2B5EF4-FFF2-40B4-BE49-F238E27FC236}">
                <a16:creationId xmlns:a16="http://schemas.microsoft.com/office/drawing/2014/main" id="{4FDAD985-C904-4F29-9861-2D6A8C67AC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5657" y="0"/>
            <a:ext cx="9700686" cy="6863397"/>
          </a:xfrm>
          <a:prstGeom prst="rect">
            <a:avLst/>
          </a:prstGeom>
        </p:spPr>
      </p:pic>
    </p:spTree>
    <p:extLst>
      <p:ext uri="{BB962C8B-B14F-4D97-AF65-F5344CB8AC3E}">
        <p14:creationId xmlns:p14="http://schemas.microsoft.com/office/powerpoint/2010/main" val="23031034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2984311" y="1309592"/>
            <a:ext cx="7290173"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YE" dirty="0">
                <a:solidFill>
                  <a:schemeClr val="bg1">
                    <a:lumMod val="95000"/>
                  </a:schemeClr>
                </a:solidFill>
              </a:rPr>
              <a:t>ماذا يعني تصميم واجهة الاستخدام (</a:t>
            </a:r>
            <a:r>
              <a:rPr lang="en-US" dirty="0">
                <a:solidFill>
                  <a:schemeClr val="bg1">
                    <a:lumMod val="95000"/>
                  </a:schemeClr>
                </a:solidFill>
              </a:rPr>
              <a:t>UI</a:t>
            </a:r>
            <a:r>
              <a:rPr lang="ar-YE" dirty="0">
                <a:solidFill>
                  <a:schemeClr val="bg1">
                    <a:lumMod val="95000"/>
                  </a:schemeClr>
                </a:solidFill>
              </a:rPr>
              <a:t>)؟</a:t>
            </a: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1917517" y="2724266"/>
            <a:ext cx="8356967" cy="2139625"/>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gn="r" rtl="1">
              <a:lnSpc>
                <a:spcPct val="150000"/>
              </a:lnSpc>
              <a:spcBef>
                <a:spcPts val="100"/>
              </a:spcBef>
            </a:pPr>
            <a:r>
              <a:rPr lang="ar-YE" sz="3200" dirty="0">
                <a:solidFill>
                  <a:schemeClr val="bg1">
                    <a:lumMod val="95000"/>
                  </a:schemeClr>
                </a:solidFill>
                <a:latin typeface="Avenir Arabic Black" panose="020B0803020203020204" pitchFamily="34" charset="-78"/>
                <a:cs typeface="Avenir Arabic Black" panose="020B0803020203020204" pitchFamily="34" charset="-78"/>
              </a:rPr>
              <a:t>بشكلٍ أساسيٍّ، </a:t>
            </a:r>
            <a:r>
              <a:rPr lang="en-US" sz="3200" dirty="0">
                <a:solidFill>
                  <a:schemeClr val="bg1">
                    <a:lumMod val="95000"/>
                  </a:schemeClr>
                </a:solidFill>
                <a:latin typeface="Avenir Arabic Black" panose="020B0803020203020204" pitchFamily="34" charset="-78"/>
                <a:cs typeface="Avenir Arabic Black" panose="020B0803020203020204" pitchFamily="34" charset="-78"/>
              </a:rPr>
              <a:t>UI </a:t>
            </a:r>
            <a:r>
              <a:rPr lang="ar-YE" sz="3200" dirty="0">
                <a:solidFill>
                  <a:schemeClr val="bg1">
                    <a:lumMod val="95000"/>
                  </a:schemeClr>
                </a:solidFill>
                <a:latin typeface="Avenir Arabic Black" panose="020B0803020203020204" pitchFamily="34" charset="-78"/>
                <a:cs typeface="Avenir Arabic Black" panose="020B0803020203020204" pitchFamily="34" charset="-78"/>
              </a:rPr>
              <a:t>هي سلسلةٌ من الشاشات، الصفحات، والعناصر المرئية – مثل الأزرار والأيقونات – والتي تمكن الشخص من التفاعل مع المنتج أو الخدمة.</a:t>
            </a:r>
            <a:endParaRPr lang="en-US" sz="32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37832878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2984311" y="1309592"/>
            <a:ext cx="7290173"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YE" dirty="0">
                <a:solidFill>
                  <a:schemeClr val="bg1">
                    <a:lumMod val="95000"/>
                  </a:schemeClr>
                </a:solidFill>
              </a:rPr>
              <a:t>ماذا يعني تصميم واجهة الاستخدام (</a:t>
            </a:r>
            <a:r>
              <a:rPr lang="en-US" dirty="0">
                <a:solidFill>
                  <a:schemeClr val="bg1">
                    <a:lumMod val="95000"/>
                  </a:schemeClr>
                </a:solidFill>
              </a:rPr>
              <a:t>UI</a:t>
            </a:r>
            <a:r>
              <a:rPr lang="ar-YE" dirty="0">
                <a:solidFill>
                  <a:schemeClr val="bg1">
                    <a:lumMod val="95000"/>
                  </a:schemeClr>
                </a:solidFill>
              </a:rPr>
              <a:t>)؟</a:t>
            </a: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1917517" y="2704036"/>
            <a:ext cx="8356967" cy="2180084"/>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Tx/>
              <a:buChar char="-"/>
            </a:pPr>
            <a:r>
              <a:rPr lang="ar-YE" sz="3200" dirty="0">
                <a:solidFill>
                  <a:schemeClr val="bg1">
                    <a:lumMod val="95000"/>
                  </a:schemeClr>
                </a:solidFill>
                <a:latin typeface="Avenir Arabic Black" panose="020B0803020203020204" pitchFamily="34" charset="-78"/>
                <a:cs typeface="Avenir Arabic Black" panose="020B0803020203020204" pitchFamily="34" charset="-78"/>
              </a:rPr>
              <a:t>يركز تصميم واجهة الاستخدام على الشكل البصري بشكل كامل.</a:t>
            </a:r>
          </a:p>
          <a:p>
            <a:pPr marL="469900" marR="5080" indent="-457200" algn="r" rtl="1">
              <a:lnSpc>
                <a:spcPct val="150000"/>
              </a:lnSpc>
              <a:spcBef>
                <a:spcPts val="100"/>
              </a:spcBef>
              <a:buFontTx/>
              <a:buChar char="-"/>
            </a:pPr>
            <a:r>
              <a:rPr lang="ar-YE" sz="3200" dirty="0">
                <a:solidFill>
                  <a:schemeClr val="bg1">
                    <a:lumMod val="95000"/>
                  </a:schemeClr>
                </a:solidFill>
                <a:latin typeface="Avenir Arabic Black" panose="020B0803020203020204" pitchFamily="34" charset="-78"/>
                <a:cs typeface="Avenir Arabic Black" panose="020B0803020203020204" pitchFamily="34" charset="-78"/>
              </a:rPr>
              <a:t>برز هذا المجال مع ظهور الثورة التقنية.</a:t>
            </a:r>
            <a:endParaRPr lang="en-US" sz="32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30375211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2984311" y="1309592"/>
            <a:ext cx="7290173"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YE" dirty="0">
                <a:solidFill>
                  <a:schemeClr val="bg1">
                    <a:lumMod val="95000"/>
                  </a:schemeClr>
                </a:solidFill>
              </a:rPr>
              <a:t>ماذا يعني تصميم تجربة المستخدم (</a:t>
            </a:r>
            <a:r>
              <a:rPr lang="en-US" dirty="0">
                <a:solidFill>
                  <a:schemeClr val="bg1">
                    <a:lumMod val="95000"/>
                  </a:schemeClr>
                </a:solidFill>
              </a:rPr>
              <a:t>UX</a:t>
            </a:r>
            <a:r>
              <a:rPr lang="ar-YE" dirty="0">
                <a:solidFill>
                  <a:schemeClr val="bg1">
                    <a:lumMod val="95000"/>
                  </a:schemeClr>
                </a:solidFill>
              </a:rPr>
              <a:t>)؟</a:t>
            </a: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1917517" y="3079780"/>
            <a:ext cx="8356967" cy="1428596"/>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gn="r" rtl="1">
              <a:lnSpc>
                <a:spcPct val="150000"/>
              </a:lnSpc>
              <a:spcBef>
                <a:spcPts val="100"/>
              </a:spcBef>
            </a:pPr>
            <a:r>
              <a:rPr lang="ar-YE" sz="3200" dirty="0">
                <a:solidFill>
                  <a:schemeClr val="bg1">
                    <a:lumMod val="95000"/>
                  </a:schemeClr>
                </a:solidFill>
                <a:latin typeface="Avenir Arabic Black" panose="020B0803020203020204" pitchFamily="34" charset="-78"/>
                <a:cs typeface="Avenir Arabic Black" panose="020B0803020203020204" pitchFamily="34" charset="-78"/>
              </a:rPr>
              <a:t>تجربة المستخدم هي تصورات الشخص واستجاباته الناتجة أو المتوقعة عند استخدام منتج أو خدمة ما.</a:t>
            </a:r>
          </a:p>
        </p:txBody>
      </p:sp>
    </p:spTree>
    <p:extLst>
      <p:ext uri="{BB962C8B-B14F-4D97-AF65-F5344CB8AC3E}">
        <p14:creationId xmlns:p14="http://schemas.microsoft.com/office/powerpoint/2010/main" val="18364165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2984311" y="1309592"/>
            <a:ext cx="7290173"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YE" dirty="0">
                <a:solidFill>
                  <a:schemeClr val="bg1">
                    <a:lumMod val="95000"/>
                  </a:schemeClr>
                </a:solidFill>
              </a:rPr>
              <a:t>ماذا يعني تصميم تجربة المستخدم (</a:t>
            </a:r>
            <a:r>
              <a:rPr lang="en-US" dirty="0">
                <a:solidFill>
                  <a:schemeClr val="bg1">
                    <a:lumMod val="95000"/>
                  </a:schemeClr>
                </a:solidFill>
              </a:rPr>
              <a:t>UX</a:t>
            </a:r>
            <a:r>
              <a:rPr lang="ar-YE" dirty="0">
                <a:solidFill>
                  <a:schemeClr val="bg1">
                    <a:lumMod val="95000"/>
                  </a:schemeClr>
                </a:solidFill>
              </a:rPr>
              <a:t>)؟</a:t>
            </a: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645459" y="2820718"/>
            <a:ext cx="9629025" cy="2485296"/>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Tx/>
              <a:buChar char="-"/>
            </a:pPr>
            <a:r>
              <a:rPr lang="ar-YE" sz="3200" dirty="0">
                <a:solidFill>
                  <a:schemeClr val="bg1">
                    <a:lumMod val="95000"/>
                  </a:schemeClr>
                </a:solidFill>
                <a:latin typeface="Avenir Arabic Black" panose="020B0803020203020204" pitchFamily="34" charset="-78"/>
                <a:cs typeface="Avenir Arabic Black" panose="020B0803020203020204" pitchFamily="34" charset="-78"/>
              </a:rPr>
              <a:t>يهتم تصميم تجربة المستخدم بالتفاعل بين العميل والمنتج بشكل كامل.</a:t>
            </a:r>
          </a:p>
          <a:p>
            <a:pPr marL="469900" marR="5080" indent="-457200" algn="r" rtl="1">
              <a:lnSpc>
                <a:spcPct val="150000"/>
              </a:lnSpc>
              <a:spcBef>
                <a:spcPts val="100"/>
              </a:spcBef>
              <a:buFontTx/>
              <a:buChar char="-"/>
            </a:pPr>
            <a:r>
              <a:rPr lang="ar-YE" sz="3200" dirty="0">
                <a:solidFill>
                  <a:schemeClr val="bg1">
                    <a:lumMod val="95000"/>
                  </a:schemeClr>
                </a:solidFill>
                <a:latin typeface="Avenir Arabic Black" panose="020B0803020203020204" pitchFamily="34" charset="-78"/>
                <a:cs typeface="Avenir Arabic Black" panose="020B0803020203020204" pitchFamily="34" charset="-78"/>
              </a:rPr>
              <a:t>مفهوم تصميم تجربة المستخدم قديم جداً، لكن لم يطلق عليه هذا المسمى إلا في وقت متأخر.</a:t>
            </a:r>
          </a:p>
          <a:p>
            <a:pPr marL="184150" marR="5080" indent="-171450" algn="r" rtl="1">
              <a:lnSpc>
                <a:spcPct val="150000"/>
              </a:lnSpc>
              <a:spcBef>
                <a:spcPts val="100"/>
              </a:spcBef>
              <a:buFontTx/>
              <a:buChar char="-"/>
            </a:pPr>
            <a:endParaRPr lang="ar-YE" sz="10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39196470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1434353" y="1309592"/>
            <a:ext cx="8840131"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SA" dirty="0">
                <a:solidFill>
                  <a:schemeClr val="bg1">
                    <a:lumMod val="95000"/>
                  </a:schemeClr>
                </a:solidFill>
              </a:rPr>
              <a:t>يجب</a:t>
            </a:r>
            <a:r>
              <a:rPr lang="ar-YE" dirty="0">
                <a:solidFill>
                  <a:schemeClr val="bg1">
                    <a:lumMod val="95000"/>
                  </a:schemeClr>
                </a:solidFill>
              </a:rPr>
              <a:t> </a:t>
            </a:r>
            <a:r>
              <a:rPr lang="ar-SA" dirty="0">
                <a:solidFill>
                  <a:schemeClr val="bg1">
                    <a:lumMod val="95000"/>
                  </a:schemeClr>
                </a:solidFill>
              </a:rPr>
              <a:t>ل</a:t>
            </a:r>
            <a:r>
              <a:rPr lang="ar-YE" dirty="0">
                <a:solidFill>
                  <a:schemeClr val="bg1">
                    <a:lumMod val="95000"/>
                  </a:schemeClr>
                </a:solidFill>
              </a:rPr>
              <a:t>تصميم تجربة المستخدم (</a:t>
            </a:r>
            <a:r>
              <a:rPr lang="en-US" dirty="0">
                <a:solidFill>
                  <a:schemeClr val="bg1">
                    <a:lumMod val="95000"/>
                  </a:schemeClr>
                </a:solidFill>
              </a:rPr>
              <a:t>UX</a:t>
            </a:r>
            <a:r>
              <a:rPr lang="ar-YE" dirty="0">
                <a:solidFill>
                  <a:schemeClr val="bg1">
                    <a:lumMod val="95000"/>
                  </a:schemeClr>
                </a:solidFill>
              </a:rPr>
              <a:t>)</a:t>
            </a:r>
            <a:r>
              <a:rPr lang="ar-SA" dirty="0">
                <a:solidFill>
                  <a:schemeClr val="bg1">
                    <a:lumMod val="95000"/>
                  </a:schemeClr>
                </a:solidFill>
              </a:rPr>
              <a:t> الجيد أن يكون:</a:t>
            </a:r>
            <a:endParaRPr lang="ar-YE" dirty="0">
              <a:solidFill>
                <a:schemeClr val="bg1">
                  <a:lumMod val="95000"/>
                </a:schemeClr>
              </a:solidFill>
            </a:endParaRP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645459" y="2560391"/>
            <a:ext cx="9629025" cy="300595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Tx/>
              <a:buChar char="-"/>
            </a:pPr>
            <a:r>
              <a:rPr lang="ar-SA" sz="3200" dirty="0">
                <a:solidFill>
                  <a:schemeClr val="bg1">
                    <a:lumMod val="95000"/>
                  </a:schemeClr>
                </a:solidFill>
                <a:latin typeface="Avenir Arabic Black" panose="020B0803020203020204" pitchFamily="34" charset="-78"/>
                <a:cs typeface="Avenir Arabic Black" panose="020B0803020203020204" pitchFamily="34" charset="-78"/>
              </a:rPr>
              <a:t>قابل للاستخدام (</a:t>
            </a:r>
            <a:r>
              <a:rPr lang="en-US" sz="3200" dirty="0">
                <a:solidFill>
                  <a:schemeClr val="bg1">
                    <a:lumMod val="95000"/>
                  </a:schemeClr>
                </a:solidFill>
                <a:latin typeface="Avenir Arabic Black" panose="020B0803020203020204" pitchFamily="34" charset="-78"/>
                <a:cs typeface="Avenir Arabic Black" panose="020B0803020203020204" pitchFamily="34" charset="-78"/>
              </a:rPr>
              <a:t>Usable</a:t>
            </a:r>
            <a:r>
              <a:rPr lang="ar-SA" sz="3200" dirty="0">
                <a:solidFill>
                  <a:schemeClr val="bg1">
                    <a:lumMod val="95000"/>
                  </a:schemeClr>
                </a:solidFill>
                <a:latin typeface="Avenir Arabic Black" panose="020B0803020203020204" pitchFamily="34" charset="-78"/>
                <a:cs typeface="Avenir Arabic Black" panose="020B0803020203020204" pitchFamily="34" charset="-78"/>
              </a:rPr>
              <a:t>)</a:t>
            </a:r>
            <a:endParaRPr lang="en-US" sz="3200" dirty="0">
              <a:solidFill>
                <a:schemeClr val="bg1">
                  <a:lumMod val="95000"/>
                </a:schemeClr>
              </a:solidFill>
              <a:latin typeface="Avenir Arabic Black" panose="020B0803020203020204" pitchFamily="34" charset="-78"/>
              <a:cs typeface="Avenir Arabic Black" panose="020B0803020203020204" pitchFamily="34" charset="-78"/>
            </a:endParaRPr>
          </a:p>
          <a:p>
            <a:pPr marL="469900" marR="5080" indent="-457200" algn="r" rtl="1">
              <a:lnSpc>
                <a:spcPct val="150000"/>
              </a:lnSpc>
              <a:spcBef>
                <a:spcPts val="100"/>
              </a:spcBef>
              <a:buFontTx/>
              <a:buChar char="-"/>
            </a:pPr>
            <a:r>
              <a:rPr lang="ar-SA" sz="3200" dirty="0">
                <a:solidFill>
                  <a:schemeClr val="bg1">
                    <a:lumMod val="95000"/>
                  </a:schemeClr>
                </a:solidFill>
                <a:latin typeface="Avenir Arabic Black" panose="020B0803020203020204" pitchFamily="34" charset="-78"/>
                <a:cs typeface="Avenir Arabic Black" panose="020B0803020203020204" pitchFamily="34" charset="-78"/>
              </a:rPr>
              <a:t>منصف (</a:t>
            </a:r>
            <a:r>
              <a:rPr lang="en-US" sz="3200" dirty="0">
                <a:solidFill>
                  <a:schemeClr val="bg1">
                    <a:lumMod val="95000"/>
                  </a:schemeClr>
                </a:solidFill>
                <a:latin typeface="Avenir Arabic Black" panose="020B0803020203020204" pitchFamily="34" charset="-78"/>
                <a:cs typeface="Avenir Arabic Black" panose="020B0803020203020204" pitchFamily="34" charset="-78"/>
              </a:rPr>
              <a:t>Equitable</a:t>
            </a:r>
            <a:r>
              <a:rPr lang="ar-SA" sz="3200" dirty="0">
                <a:solidFill>
                  <a:schemeClr val="bg1">
                    <a:lumMod val="95000"/>
                  </a:schemeClr>
                </a:solidFill>
                <a:latin typeface="Avenir Arabic Black" panose="020B0803020203020204" pitchFamily="34" charset="-78"/>
                <a:cs typeface="Avenir Arabic Black" panose="020B0803020203020204" pitchFamily="34" charset="-78"/>
              </a:rPr>
              <a:t>)</a:t>
            </a:r>
          </a:p>
          <a:p>
            <a:pPr marL="469900" marR="5080" indent="-457200" algn="r" rtl="1">
              <a:lnSpc>
                <a:spcPct val="150000"/>
              </a:lnSpc>
              <a:spcBef>
                <a:spcPts val="100"/>
              </a:spcBef>
              <a:buFontTx/>
              <a:buChar char="-"/>
            </a:pPr>
            <a:r>
              <a:rPr lang="ar-SA" sz="3200" dirty="0">
                <a:solidFill>
                  <a:schemeClr val="bg1">
                    <a:lumMod val="95000"/>
                  </a:schemeClr>
                </a:solidFill>
                <a:latin typeface="Avenir Arabic Black" panose="020B0803020203020204" pitchFamily="34" charset="-78"/>
                <a:cs typeface="Avenir Arabic Black" panose="020B0803020203020204" pitchFamily="34" charset="-78"/>
              </a:rPr>
              <a:t>ممتع (</a:t>
            </a:r>
            <a:r>
              <a:rPr lang="en-US" sz="3200" dirty="0">
                <a:solidFill>
                  <a:schemeClr val="bg1">
                    <a:lumMod val="95000"/>
                  </a:schemeClr>
                </a:solidFill>
                <a:latin typeface="Avenir Arabic Black" panose="020B0803020203020204" pitchFamily="34" charset="-78"/>
                <a:cs typeface="Avenir Arabic Black" panose="020B0803020203020204" pitchFamily="34" charset="-78"/>
              </a:rPr>
              <a:t>Enjoyable</a:t>
            </a:r>
            <a:r>
              <a:rPr lang="ar-SA" sz="3200" dirty="0">
                <a:solidFill>
                  <a:schemeClr val="bg1">
                    <a:lumMod val="95000"/>
                  </a:schemeClr>
                </a:solidFill>
                <a:latin typeface="Avenir Arabic Black" panose="020B0803020203020204" pitchFamily="34" charset="-78"/>
                <a:cs typeface="Avenir Arabic Black" panose="020B0803020203020204" pitchFamily="34" charset="-78"/>
              </a:rPr>
              <a:t>)</a:t>
            </a:r>
            <a:endParaRPr lang="ar-SA" sz="1000" dirty="0">
              <a:solidFill>
                <a:schemeClr val="bg1">
                  <a:lumMod val="95000"/>
                </a:schemeClr>
              </a:solidFill>
              <a:latin typeface="Avenir Arabic Black" panose="020B0803020203020204" pitchFamily="34" charset="-78"/>
              <a:cs typeface="Avenir Arabic Black" panose="020B0803020203020204" pitchFamily="34" charset="-78"/>
            </a:endParaRPr>
          </a:p>
          <a:p>
            <a:pPr marL="469900" marR="5080" indent="-457200" algn="r" rtl="1">
              <a:lnSpc>
                <a:spcPct val="150000"/>
              </a:lnSpc>
              <a:spcBef>
                <a:spcPts val="100"/>
              </a:spcBef>
              <a:buFontTx/>
              <a:buChar char="-"/>
            </a:pPr>
            <a:r>
              <a:rPr lang="ar-SA" sz="3200" dirty="0">
                <a:solidFill>
                  <a:schemeClr val="bg1">
                    <a:lumMod val="95000"/>
                  </a:schemeClr>
                </a:solidFill>
                <a:latin typeface="Avenir Arabic Black" panose="020B0803020203020204" pitchFamily="34" charset="-78"/>
                <a:cs typeface="Avenir Arabic Black" panose="020B0803020203020204" pitchFamily="34" charset="-78"/>
              </a:rPr>
              <a:t>مفيد (</a:t>
            </a:r>
            <a:r>
              <a:rPr lang="en-US" sz="3200" dirty="0">
                <a:solidFill>
                  <a:schemeClr val="bg1">
                    <a:lumMod val="95000"/>
                  </a:schemeClr>
                </a:solidFill>
                <a:latin typeface="Avenir Arabic Black" panose="020B0803020203020204" pitchFamily="34" charset="-78"/>
                <a:cs typeface="Avenir Arabic Black" panose="020B0803020203020204" pitchFamily="34" charset="-78"/>
              </a:rPr>
              <a:t>Useful</a:t>
            </a:r>
            <a:r>
              <a:rPr lang="ar-SA" sz="3200" dirty="0">
                <a:solidFill>
                  <a:schemeClr val="bg1">
                    <a:lumMod val="95000"/>
                  </a:schemeClr>
                </a:solidFill>
                <a:latin typeface="Avenir Arabic Black" panose="020B0803020203020204" pitchFamily="34" charset="-78"/>
                <a:cs typeface="Avenir Arabic Black" panose="020B0803020203020204" pitchFamily="34" charset="-78"/>
              </a:rPr>
              <a:t>)</a:t>
            </a:r>
            <a:endParaRPr lang="ar-SA" sz="10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32767701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2">
            <a:extLst>
              <a:ext uri="{FF2B5EF4-FFF2-40B4-BE49-F238E27FC236}">
                <a16:creationId xmlns:a16="http://schemas.microsoft.com/office/drawing/2014/main" id="{16C82E09-9061-433E-AA11-440B6A00A1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4530" y="3567"/>
            <a:ext cx="8462939" cy="6863397"/>
          </a:xfrm>
          <a:prstGeom prst="rect">
            <a:avLst/>
          </a:prstGeom>
        </p:spPr>
      </p:pic>
    </p:spTree>
    <p:extLst>
      <p:ext uri="{BB962C8B-B14F-4D97-AF65-F5344CB8AC3E}">
        <p14:creationId xmlns:p14="http://schemas.microsoft.com/office/powerpoint/2010/main" val="19138710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1434353" y="1309592"/>
            <a:ext cx="8840131"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SA" dirty="0">
                <a:solidFill>
                  <a:schemeClr val="bg1">
                    <a:lumMod val="95000"/>
                  </a:schemeClr>
                </a:solidFill>
              </a:rPr>
              <a:t>دورة حياة المنتج الرقمي:</a:t>
            </a:r>
            <a:endParaRPr lang="ar-YE" dirty="0">
              <a:solidFill>
                <a:schemeClr val="bg1">
                  <a:lumMod val="95000"/>
                </a:schemeClr>
              </a:solidFill>
            </a:endParaRP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645459" y="2291450"/>
            <a:ext cx="9629025" cy="300595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Tx/>
              <a:buChar char="-"/>
            </a:pPr>
            <a:r>
              <a:rPr lang="ar-SA" sz="3200" dirty="0">
                <a:solidFill>
                  <a:schemeClr val="bg1">
                    <a:lumMod val="95000"/>
                  </a:schemeClr>
                </a:solidFill>
                <a:latin typeface="Avenir Arabic Black" panose="020B0803020203020204" pitchFamily="34" charset="-78"/>
                <a:cs typeface="Avenir Arabic Black" panose="020B0803020203020204" pitchFamily="34" charset="-78"/>
              </a:rPr>
              <a:t>تحليل</a:t>
            </a:r>
          </a:p>
          <a:p>
            <a:pPr marL="469900" marR="5080" indent="-457200" algn="r" rtl="1">
              <a:lnSpc>
                <a:spcPct val="150000"/>
              </a:lnSpc>
              <a:spcBef>
                <a:spcPts val="100"/>
              </a:spcBef>
              <a:buFontTx/>
              <a:buChar char="-"/>
            </a:pPr>
            <a:r>
              <a:rPr lang="ar-SA" sz="3200" dirty="0">
                <a:solidFill>
                  <a:schemeClr val="bg1">
                    <a:lumMod val="95000"/>
                  </a:schemeClr>
                </a:solidFill>
                <a:latin typeface="Avenir Arabic Black" panose="020B0803020203020204" pitchFamily="34" charset="-78"/>
                <a:cs typeface="Avenir Arabic Black" panose="020B0803020203020204" pitchFamily="34" charset="-78"/>
              </a:rPr>
              <a:t>تصميم</a:t>
            </a:r>
          </a:p>
          <a:p>
            <a:pPr marL="469900" marR="5080" indent="-457200" algn="r" rtl="1">
              <a:lnSpc>
                <a:spcPct val="150000"/>
              </a:lnSpc>
              <a:spcBef>
                <a:spcPts val="100"/>
              </a:spcBef>
              <a:buFontTx/>
              <a:buChar char="-"/>
            </a:pPr>
            <a:r>
              <a:rPr lang="ar-SA" sz="3200" dirty="0">
                <a:solidFill>
                  <a:schemeClr val="bg1">
                    <a:lumMod val="95000"/>
                  </a:schemeClr>
                </a:solidFill>
                <a:latin typeface="Avenir Arabic Black" panose="020B0803020203020204" pitchFamily="34" charset="-78"/>
                <a:cs typeface="Avenir Arabic Black" panose="020B0803020203020204" pitchFamily="34" charset="-78"/>
              </a:rPr>
              <a:t>تنفيذ</a:t>
            </a:r>
          </a:p>
          <a:p>
            <a:pPr marL="469900" marR="5080" indent="-457200" algn="r" rtl="1">
              <a:lnSpc>
                <a:spcPct val="150000"/>
              </a:lnSpc>
              <a:spcBef>
                <a:spcPts val="100"/>
              </a:spcBef>
              <a:buFontTx/>
              <a:buChar char="-"/>
            </a:pPr>
            <a:r>
              <a:rPr lang="ar-SA" sz="3200" dirty="0">
                <a:solidFill>
                  <a:schemeClr val="bg1">
                    <a:lumMod val="95000"/>
                  </a:schemeClr>
                </a:solidFill>
                <a:latin typeface="Avenir Arabic Black" panose="020B0803020203020204" pitchFamily="34" charset="-78"/>
                <a:cs typeface="Avenir Arabic Black" panose="020B0803020203020204" pitchFamily="34" charset="-78"/>
              </a:rPr>
              <a:t>اختبار</a:t>
            </a:r>
            <a:endParaRPr lang="ar-SA" sz="10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32091342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1434353" y="1309592"/>
            <a:ext cx="8840131"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SA" dirty="0">
                <a:solidFill>
                  <a:schemeClr val="bg1">
                    <a:lumMod val="95000"/>
                  </a:schemeClr>
                </a:solidFill>
              </a:rPr>
              <a:t>المسارات المهنية في </a:t>
            </a:r>
            <a:r>
              <a:rPr lang="en-US" dirty="0">
                <a:solidFill>
                  <a:schemeClr val="bg1">
                    <a:lumMod val="95000"/>
                  </a:schemeClr>
                </a:solidFill>
              </a:rPr>
              <a:t>UX/UI</a:t>
            </a:r>
            <a:r>
              <a:rPr lang="ar-SA" dirty="0">
                <a:solidFill>
                  <a:schemeClr val="bg1">
                    <a:lumMod val="95000"/>
                  </a:schemeClr>
                </a:solidFill>
              </a:rPr>
              <a:t>:</a:t>
            </a:r>
            <a:endParaRPr lang="ar-YE" dirty="0">
              <a:solidFill>
                <a:schemeClr val="bg1">
                  <a:lumMod val="95000"/>
                </a:schemeClr>
              </a:solidFill>
            </a:endParaRP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645459" y="2184648"/>
            <a:ext cx="9629025" cy="375743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nSpc>
                <a:spcPct val="150000"/>
              </a:lnSpc>
              <a:spcBef>
                <a:spcPts val="100"/>
              </a:spcBef>
              <a:buFontTx/>
              <a:buChar char="-"/>
            </a:pPr>
            <a:r>
              <a:rPr lang="en-US" sz="3200" dirty="0">
                <a:solidFill>
                  <a:schemeClr val="bg1">
                    <a:lumMod val="95000"/>
                  </a:schemeClr>
                </a:solidFill>
                <a:latin typeface="Avenir Arabic Black" panose="020B0803020203020204" pitchFamily="34" charset="-78"/>
                <a:cs typeface="Avenir Arabic Black" panose="020B0803020203020204" pitchFamily="34" charset="-78"/>
              </a:rPr>
              <a:t>Interaction designer</a:t>
            </a:r>
          </a:p>
          <a:p>
            <a:pPr marL="469900" marR="5080" indent="-457200">
              <a:lnSpc>
                <a:spcPct val="150000"/>
              </a:lnSpc>
              <a:spcBef>
                <a:spcPts val="100"/>
              </a:spcBef>
              <a:buFontTx/>
              <a:buChar char="-"/>
            </a:pPr>
            <a:r>
              <a:rPr lang="en-US" sz="3200" dirty="0">
                <a:solidFill>
                  <a:schemeClr val="bg1">
                    <a:lumMod val="95000"/>
                  </a:schemeClr>
                </a:solidFill>
                <a:latin typeface="Avenir Arabic Black" panose="020B0803020203020204" pitchFamily="34" charset="-78"/>
                <a:cs typeface="Avenir Arabic Black" panose="020B0803020203020204" pitchFamily="34" charset="-78"/>
              </a:rPr>
              <a:t>Visual designer</a:t>
            </a:r>
          </a:p>
          <a:p>
            <a:pPr marL="469900" marR="5080" indent="-457200">
              <a:lnSpc>
                <a:spcPct val="150000"/>
              </a:lnSpc>
              <a:spcBef>
                <a:spcPts val="100"/>
              </a:spcBef>
              <a:buFontTx/>
              <a:buChar char="-"/>
            </a:pPr>
            <a:r>
              <a:rPr lang="en-US" sz="3200" dirty="0">
                <a:solidFill>
                  <a:schemeClr val="bg1">
                    <a:lumMod val="95000"/>
                  </a:schemeClr>
                </a:solidFill>
                <a:latin typeface="Avenir Arabic Black" panose="020B0803020203020204" pitchFamily="34" charset="-78"/>
                <a:cs typeface="Avenir Arabic Black" panose="020B0803020203020204" pitchFamily="34" charset="-78"/>
              </a:rPr>
              <a:t>Motion designer</a:t>
            </a:r>
          </a:p>
          <a:p>
            <a:pPr marL="469900" marR="5080" indent="-457200">
              <a:lnSpc>
                <a:spcPct val="150000"/>
              </a:lnSpc>
              <a:spcBef>
                <a:spcPts val="100"/>
              </a:spcBef>
              <a:buFontTx/>
              <a:buChar char="-"/>
            </a:pPr>
            <a:r>
              <a:rPr lang="en-US" sz="3200" dirty="0">
                <a:solidFill>
                  <a:schemeClr val="bg1">
                    <a:lumMod val="95000"/>
                  </a:schemeClr>
                </a:solidFill>
                <a:latin typeface="Avenir Arabic Black" panose="020B0803020203020204" pitchFamily="34" charset="-78"/>
                <a:cs typeface="Avenir Arabic Black" panose="020B0803020203020204" pitchFamily="34" charset="-78"/>
              </a:rPr>
              <a:t>UX researcher</a:t>
            </a:r>
          </a:p>
          <a:p>
            <a:pPr marL="469900" marR="5080" indent="-457200">
              <a:lnSpc>
                <a:spcPct val="150000"/>
              </a:lnSpc>
              <a:spcBef>
                <a:spcPts val="100"/>
              </a:spcBef>
              <a:buFontTx/>
              <a:buChar char="-"/>
            </a:pPr>
            <a:r>
              <a:rPr lang="en-US" sz="3200" dirty="0">
                <a:solidFill>
                  <a:schemeClr val="bg1">
                    <a:lumMod val="95000"/>
                  </a:schemeClr>
                </a:solidFill>
                <a:latin typeface="Avenir Arabic Black" panose="020B0803020203020204" pitchFamily="34" charset="-78"/>
                <a:cs typeface="Avenir Arabic Black" panose="020B0803020203020204" pitchFamily="34" charset="-78"/>
              </a:rPr>
              <a:t>UX writer</a:t>
            </a:r>
            <a:endParaRPr lang="ar-SA" sz="10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40432901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1434353" y="1309592"/>
            <a:ext cx="8840131"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SA" dirty="0">
                <a:solidFill>
                  <a:schemeClr val="bg1">
                    <a:lumMod val="95000"/>
                  </a:schemeClr>
                </a:solidFill>
              </a:rPr>
              <a:t>المسارات المهنية في </a:t>
            </a:r>
            <a:r>
              <a:rPr lang="en-US" dirty="0">
                <a:solidFill>
                  <a:schemeClr val="bg1">
                    <a:lumMod val="95000"/>
                  </a:schemeClr>
                </a:solidFill>
              </a:rPr>
              <a:t>UX/UI</a:t>
            </a:r>
            <a:r>
              <a:rPr lang="ar-SA" dirty="0">
                <a:solidFill>
                  <a:schemeClr val="bg1">
                    <a:lumMod val="95000"/>
                  </a:schemeClr>
                </a:solidFill>
              </a:rPr>
              <a:t>:</a:t>
            </a:r>
            <a:endParaRPr lang="ar-YE" dirty="0">
              <a:solidFill>
                <a:schemeClr val="bg1">
                  <a:lumMod val="95000"/>
                </a:schemeClr>
              </a:solidFill>
            </a:endParaRP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645459" y="2448181"/>
            <a:ext cx="9629025" cy="32303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Tx/>
              <a:buChar char="-"/>
            </a:pPr>
            <a:r>
              <a:rPr lang="ar-SA" sz="3200" dirty="0">
                <a:solidFill>
                  <a:schemeClr val="bg1">
                    <a:lumMod val="95000"/>
                  </a:schemeClr>
                </a:solidFill>
                <a:latin typeface="Avenir Arabic Black" panose="020B0803020203020204" pitchFamily="34" charset="-78"/>
                <a:cs typeface="Avenir Arabic Black" panose="020B0803020203020204" pitchFamily="34" charset="-78"/>
              </a:rPr>
              <a:t>أو يمكن أن تكون:</a:t>
            </a:r>
          </a:p>
          <a:p>
            <a:pPr marL="469900" marR="5080" indent="-457200">
              <a:lnSpc>
                <a:spcPct val="150000"/>
              </a:lnSpc>
              <a:spcBef>
                <a:spcPts val="100"/>
              </a:spcBef>
              <a:buFontTx/>
              <a:buChar char="-"/>
            </a:pPr>
            <a:r>
              <a:rPr lang="en-US" sz="3200" dirty="0">
                <a:solidFill>
                  <a:schemeClr val="bg1">
                    <a:lumMod val="95000"/>
                  </a:schemeClr>
                </a:solidFill>
                <a:latin typeface="Avenir Arabic Black" panose="020B0803020203020204" pitchFamily="34" charset="-78"/>
                <a:cs typeface="Avenir Arabic Black" panose="020B0803020203020204" pitchFamily="34" charset="-78"/>
              </a:rPr>
              <a:t>Generalist</a:t>
            </a:r>
          </a:p>
          <a:p>
            <a:pPr marL="469900" marR="5080" indent="-457200">
              <a:lnSpc>
                <a:spcPct val="150000"/>
              </a:lnSpc>
              <a:spcBef>
                <a:spcPts val="100"/>
              </a:spcBef>
              <a:buFontTx/>
              <a:buChar char="-"/>
            </a:pPr>
            <a:r>
              <a:rPr lang="en-US" sz="3200" dirty="0">
                <a:solidFill>
                  <a:schemeClr val="bg1">
                    <a:lumMod val="95000"/>
                  </a:schemeClr>
                </a:solidFill>
                <a:latin typeface="Avenir Arabic Black" panose="020B0803020203020204" pitchFamily="34" charset="-78"/>
                <a:cs typeface="Avenir Arabic Black" panose="020B0803020203020204" pitchFamily="34" charset="-78"/>
              </a:rPr>
              <a:t>Specialist</a:t>
            </a:r>
          </a:p>
          <a:p>
            <a:pPr marL="469900" marR="5080" indent="-457200">
              <a:lnSpc>
                <a:spcPct val="150000"/>
              </a:lnSpc>
              <a:spcBef>
                <a:spcPts val="100"/>
              </a:spcBef>
              <a:buFontTx/>
              <a:buChar char="-"/>
            </a:pPr>
            <a:r>
              <a:rPr lang="en-US" sz="3200" dirty="0">
                <a:solidFill>
                  <a:schemeClr val="bg1">
                    <a:lumMod val="95000"/>
                  </a:schemeClr>
                </a:solidFill>
                <a:latin typeface="Avenir Arabic Black" panose="020B0803020203020204" pitchFamily="34" charset="-78"/>
                <a:cs typeface="Avenir Arabic Black" panose="020B0803020203020204" pitchFamily="34" charset="-78"/>
              </a:rPr>
              <a:t>T-shaped designer</a:t>
            </a:r>
            <a:endParaRPr lang="ar-SA" sz="3200" dirty="0">
              <a:solidFill>
                <a:schemeClr val="bg1">
                  <a:lumMod val="95000"/>
                </a:schemeClr>
              </a:solidFill>
              <a:latin typeface="Avenir Arabic Black" panose="020B0803020203020204" pitchFamily="34" charset="-78"/>
              <a:cs typeface="Avenir Arabic Black" panose="020B0803020203020204" pitchFamily="34" charset="-78"/>
            </a:endParaRPr>
          </a:p>
          <a:p>
            <a:pPr marL="469900" marR="5080" indent="-457200" algn="r" rtl="1">
              <a:lnSpc>
                <a:spcPct val="150000"/>
              </a:lnSpc>
              <a:spcBef>
                <a:spcPts val="100"/>
              </a:spcBef>
              <a:buFontTx/>
              <a:buChar char="-"/>
            </a:pPr>
            <a:endParaRPr lang="ar-SA" sz="10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23770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627529" y="1309591"/>
            <a:ext cx="9646955"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YE" dirty="0">
                <a:solidFill>
                  <a:schemeClr val="bg1">
                    <a:lumMod val="95000"/>
                  </a:schemeClr>
                </a:solidFill>
              </a:rPr>
              <a:t>الفرق بين تصميم تجربة المستخدم وواجهة الاستخدام.</a:t>
            </a: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1917517" y="2683329"/>
            <a:ext cx="8356967" cy="3199337"/>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Tx/>
              <a:buChar char="-"/>
            </a:pPr>
            <a:r>
              <a:rPr lang="ar-YE" sz="3200" dirty="0">
                <a:solidFill>
                  <a:schemeClr val="bg1">
                    <a:lumMod val="95000"/>
                  </a:schemeClr>
                </a:solidFill>
                <a:latin typeface="Avenir Arabic Black" panose="020B0803020203020204" pitchFamily="34" charset="-78"/>
                <a:cs typeface="Avenir Arabic Black" panose="020B0803020203020204" pitchFamily="34" charset="-78"/>
              </a:rPr>
              <a:t>يركز تصميم تجربة المستخدم بالتفاعل بين العميل والمنتج بشكل كامل.</a:t>
            </a:r>
          </a:p>
          <a:p>
            <a:pPr marL="469900" marR="5080" indent="-457200" algn="r" rtl="1">
              <a:lnSpc>
                <a:spcPct val="150000"/>
              </a:lnSpc>
              <a:spcBef>
                <a:spcPts val="100"/>
              </a:spcBef>
              <a:buFontTx/>
              <a:buChar char="-"/>
            </a:pPr>
            <a:r>
              <a:rPr lang="ar-YE" sz="3200" dirty="0">
                <a:solidFill>
                  <a:schemeClr val="bg1">
                    <a:lumMod val="95000"/>
                  </a:schemeClr>
                </a:solidFill>
                <a:latin typeface="Avenir Arabic Black" panose="020B0803020203020204" pitchFamily="34" charset="-78"/>
                <a:cs typeface="Avenir Arabic Black" panose="020B0803020203020204" pitchFamily="34" charset="-78"/>
              </a:rPr>
              <a:t>يركز تصميم واجهة الاستخدام على الشكل البصري بشكل كامل.</a:t>
            </a:r>
          </a:p>
          <a:p>
            <a:pPr marL="184150" marR="5080" indent="-171450" algn="r" rtl="1">
              <a:lnSpc>
                <a:spcPct val="150000"/>
              </a:lnSpc>
              <a:spcBef>
                <a:spcPts val="100"/>
              </a:spcBef>
              <a:buFontTx/>
              <a:buChar char="-"/>
            </a:pPr>
            <a:endParaRPr lang="ar-YE" sz="10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18949598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2">
            <a:extLst>
              <a:ext uri="{FF2B5EF4-FFF2-40B4-BE49-F238E27FC236}">
                <a16:creationId xmlns:a16="http://schemas.microsoft.com/office/drawing/2014/main" id="{F1070F37-E4D5-4FB9-B187-213033397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429" y="0"/>
            <a:ext cx="13062857" cy="6858000"/>
          </a:xfrm>
          <a:prstGeom prst="rect">
            <a:avLst/>
          </a:prstGeom>
        </p:spPr>
      </p:pic>
    </p:spTree>
    <p:extLst>
      <p:ext uri="{BB962C8B-B14F-4D97-AF65-F5344CB8AC3E}">
        <p14:creationId xmlns:p14="http://schemas.microsoft.com/office/powerpoint/2010/main" val="25614030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dirty="0"/>
          </a:p>
        </p:txBody>
      </p:sp>
      <p:sp>
        <p:nvSpPr>
          <p:cNvPr id="3" name="عنوان فرعي 2"/>
          <p:cNvSpPr>
            <a:spLocks noGrp="1"/>
          </p:cNvSpPr>
          <p:nvPr>
            <p:ph type="subTitle" idx="1"/>
          </p:nvPr>
        </p:nvSpPr>
        <p:spPr/>
        <p:txBody>
          <a:bodyPr/>
          <a:lstStyle/>
          <a:p>
            <a:endParaRPr lang="en-US" dirty="0"/>
          </a:p>
        </p:txBody>
      </p:sp>
      <p:pic>
        <p:nvPicPr>
          <p:cNvPr id="4" name="صورة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1470213" y="1309591"/>
            <a:ext cx="8804272"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YE" dirty="0">
                <a:solidFill>
                  <a:schemeClr val="bg1">
                    <a:lumMod val="95000"/>
                  </a:schemeClr>
                </a:solidFill>
              </a:rPr>
              <a:t>علاقة تصميم واجهات الاستخدام وتجربة المستخدم.</a:t>
            </a:r>
          </a:p>
        </p:txBody>
      </p:sp>
      <p:sp>
        <p:nvSpPr>
          <p:cNvPr id="6" name="Oval 1">
            <a:extLst>
              <a:ext uri="{FF2B5EF4-FFF2-40B4-BE49-F238E27FC236}">
                <a16:creationId xmlns:a16="http://schemas.microsoft.com/office/drawing/2014/main" id="{880BCF12-4E8F-49A9-A0EE-24C6B4BE1A10}"/>
              </a:ext>
            </a:extLst>
          </p:cNvPr>
          <p:cNvSpPr/>
          <p:nvPr/>
        </p:nvSpPr>
        <p:spPr>
          <a:xfrm>
            <a:off x="4069975" y="2692092"/>
            <a:ext cx="3621741" cy="3621741"/>
          </a:xfrm>
          <a:prstGeom prst="ellipse">
            <a:avLst/>
          </a:prstGeom>
          <a:solidFill>
            <a:srgbClr val="F47A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47A20"/>
              </a:solidFill>
            </a:endParaRPr>
          </a:p>
        </p:txBody>
      </p:sp>
      <p:sp>
        <p:nvSpPr>
          <p:cNvPr id="7" name="Oval 8">
            <a:extLst>
              <a:ext uri="{FF2B5EF4-FFF2-40B4-BE49-F238E27FC236}">
                <a16:creationId xmlns:a16="http://schemas.microsoft.com/office/drawing/2014/main" id="{55BF81D8-8C18-4BEE-94A8-F9E93EC89696}"/>
              </a:ext>
            </a:extLst>
          </p:cNvPr>
          <p:cNvSpPr/>
          <p:nvPr/>
        </p:nvSpPr>
        <p:spPr>
          <a:xfrm>
            <a:off x="4937257" y="3633845"/>
            <a:ext cx="2339790" cy="233979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47A20"/>
              </a:solidFill>
            </a:endParaRPr>
          </a:p>
        </p:txBody>
      </p:sp>
      <p:sp>
        <p:nvSpPr>
          <p:cNvPr id="8" name="object 4">
            <a:extLst>
              <a:ext uri="{FF2B5EF4-FFF2-40B4-BE49-F238E27FC236}">
                <a16:creationId xmlns:a16="http://schemas.microsoft.com/office/drawing/2014/main" id="{C2AD00C0-CDAA-495F-921C-E828CBDE040A}"/>
              </a:ext>
            </a:extLst>
          </p:cNvPr>
          <p:cNvSpPr txBox="1">
            <a:spLocks/>
          </p:cNvSpPr>
          <p:nvPr/>
        </p:nvSpPr>
        <p:spPr>
          <a:xfrm>
            <a:off x="4522588" y="3350115"/>
            <a:ext cx="630182" cy="689932"/>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pPr algn="ctr"/>
            <a:r>
              <a:rPr lang="en-US" dirty="0">
                <a:solidFill>
                  <a:schemeClr val="accent2">
                    <a:lumMod val="20000"/>
                    <a:lumOff val="80000"/>
                  </a:schemeClr>
                </a:solidFill>
              </a:rPr>
              <a:t>UX</a:t>
            </a:r>
            <a:endParaRPr lang="ar-YE" dirty="0">
              <a:solidFill>
                <a:schemeClr val="accent2">
                  <a:lumMod val="20000"/>
                  <a:lumOff val="80000"/>
                </a:schemeClr>
              </a:solidFill>
            </a:endParaRPr>
          </a:p>
        </p:txBody>
      </p:sp>
      <p:sp>
        <p:nvSpPr>
          <p:cNvPr id="9" name="object 4">
            <a:extLst>
              <a:ext uri="{FF2B5EF4-FFF2-40B4-BE49-F238E27FC236}">
                <a16:creationId xmlns:a16="http://schemas.microsoft.com/office/drawing/2014/main" id="{BC7356EA-225B-417A-81D0-FF0D1E99828A}"/>
              </a:ext>
            </a:extLst>
          </p:cNvPr>
          <p:cNvSpPr txBox="1">
            <a:spLocks/>
          </p:cNvSpPr>
          <p:nvPr/>
        </p:nvSpPr>
        <p:spPr>
          <a:xfrm>
            <a:off x="5792061" y="4458774"/>
            <a:ext cx="630182" cy="689932"/>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pPr algn="ctr"/>
            <a:r>
              <a:rPr lang="en-US" dirty="0"/>
              <a:t>UI</a:t>
            </a:r>
            <a:endParaRPr lang="ar-YE" dirty="0"/>
          </a:p>
        </p:txBody>
      </p:sp>
    </p:spTree>
    <p:extLst>
      <p:ext uri="{BB962C8B-B14F-4D97-AF65-F5344CB8AC3E}">
        <p14:creationId xmlns:p14="http://schemas.microsoft.com/office/powerpoint/2010/main" val="8473085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a:p>
        </p:txBody>
      </p:sp>
      <p:sp>
        <p:nvSpPr>
          <p:cNvPr id="3" name="عنوان فرعي 2"/>
          <p:cNvSpPr>
            <a:spLocks noGrp="1"/>
          </p:cNvSpPr>
          <p:nvPr>
            <p:ph type="subTitle" idx="1"/>
          </p:nvPr>
        </p:nvSpPr>
        <p:spPr/>
        <p:txBody>
          <a:bodyPr/>
          <a:lstStyle/>
          <a:p>
            <a:endParaRPr lang="en-US"/>
          </a:p>
        </p:txBody>
      </p:sp>
      <p:pic>
        <p:nvPicPr>
          <p:cNvPr id="4" name="صورة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1344707" y="1309591"/>
            <a:ext cx="8929778"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YE" dirty="0">
                <a:solidFill>
                  <a:schemeClr val="bg1">
                    <a:lumMod val="95000"/>
                  </a:schemeClr>
                </a:solidFill>
              </a:rPr>
              <a:t>أهمية تصميم تجربة المستخدم وواجهة الاستخدام</a:t>
            </a:r>
            <a:r>
              <a:rPr lang="en-US" dirty="0">
                <a:solidFill>
                  <a:schemeClr val="bg1">
                    <a:lumMod val="95000"/>
                  </a:schemeClr>
                </a:solidFill>
              </a:rPr>
              <a:t>:</a:t>
            </a:r>
            <a:endParaRPr lang="ar-YE" dirty="0">
              <a:solidFill>
                <a:schemeClr val="bg1">
                  <a:lumMod val="95000"/>
                </a:schemeClr>
              </a:solidFill>
            </a:endParaRP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1917517" y="3126472"/>
            <a:ext cx="8356967" cy="187378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gn="ctr" rtl="1">
              <a:lnSpc>
                <a:spcPct val="150000"/>
              </a:lnSpc>
              <a:spcBef>
                <a:spcPts val="100"/>
              </a:spcBef>
            </a:pPr>
            <a:r>
              <a:rPr lang="ar-YE" sz="2800" dirty="0">
                <a:solidFill>
                  <a:schemeClr val="bg1">
                    <a:lumMod val="95000"/>
                  </a:schemeClr>
                </a:solidFill>
                <a:latin typeface="Avenir Arabic Black" panose="020B0803020203020204" pitchFamily="34" charset="-78"/>
                <a:cs typeface="Avenir Arabic Black" panose="020B0803020203020204" pitchFamily="34" charset="-78"/>
              </a:rPr>
              <a:t>لا يمكن لأي شركة أن تصبح رائدة في مجالها إذا لم تكن تجربة المستخدم ضمن أولوياتها ويُبذل في سبيلها الأموال للوصول إلى تجربة تلبي احتياجات العملاء، والأهم من ذلك أن ترتقي إلى توقعاتهم. </a:t>
            </a:r>
            <a:r>
              <a:rPr lang="ar-YE" sz="2000" b="1" dirty="0">
                <a:solidFill>
                  <a:schemeClr val="bg1">
                    <a:lumMod val="95000"/>
                  </a:schemeClr>
                </a:solidFill>
                <a:latin typeface="Avenir Arabic Black" panose="020B0803020203020204" pitchFamily="34" charset="-78"/>
                <a:cs typeface="Avenir Arabic Black" panose="020B0803020203020204" pitchFamily="34" charset="-78"/>
              </a:rPr>
              <a:t>فوربس</a:t>
            </a:r>
            <a:endParaRPr lang="ar-YE" sz="2800" b="1"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49690587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a:p>
        </p:txBody>
      </p:sp>
      <p:sp>
        <p:nvSpPr>
          <p:cNvPr id="3" name="عنوان فرعي 2"/>
          <p:cNvSpPr>
            <a:spLocks noGrp="1"/>
          </p:cNvSpPr>
          <p:nvPr>
            <p:ph type="subTitle" idx="1"/>
          </p:nvPr>
        </p:nvSpPr>
        <p:spPr/>
        <p:txBody>
          <a:bodyPr/>
          <a:lstStyle/>
          <a:p>
            <a:endParaRPr lang="en-US"/>
          </a:p>
        </p:txBody>
      </p:sp>
      <p:pic>
        <p:nvPicPr>
          <p:cNvPr id="4" name="صورة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502025" y="1309591"/>
            <a:ext cx="9772460" cy="662297"/>
          </a:xfrm>
          <a:prstGeom prst="rect">
            <a:avLst/>
          </a:prstGeom>
        </p:spPr>
        <p:txBody>
          <a:bodyPr vert="horz" wrap="square" lIns="0" tIns="12700" rIns="0" bIns="0" rtlCol="0" anchor="ctr">
            <a:spAutoFit/>
          </a:bodyPr>
          <a:lstStyle>
            <a:defPPr>
              <a:defRPr lang="en-US"/>
            </a:defPPr>
            <a:lvl1pPr marL="12700" marR="5080" algn="r" defTabSz="914400" rtl="1">
              <a:lnSpc>
                <a:spcPct val="150000"/>
              </a:lnSpc>
              <a:spcBef>
                <a:spcPts val="100"/>
              </a:spcBef>
              <a:buNone/>
              <a:defRPr sz="3200">
                <a:solidFill>
                  <a:srgbClr val="F47A20"/>
                </a:solidFill>
                <a:latin typeface="Avenir Arabic Black" panose="020B0803020203020204" pitchFamily="34" charset="-78"/>
                <a:ea typeface="+mj-ea"/>
                <a:cs typeface="Avenir Arabic Black" panose="020B0803020203020204" pitchFamily="34" charset="-78"/>
              </a:defRPr>
            </a:lvl1pPr>
          </a:lstStyle>
          <a:p>
            <a:r>
              <a:rPr lang="ar-YE" dirty="0">
                <a:solidFill>
                  <a:schemeClr val="bg1">
                    <a:lumMod val="95000"/>
                  </a:schemeClr>
                </a:solidFill>
              </a:rPr>
              <a:t>أهمية تصميم تجربة المستخدم وواجهة الاستخدام للأعمال والمنتجات.</a:t>
            </a: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1917517" y="2398943"/>
            <a:ext cx="8356967" cy="375743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Tx/>
              <a:buChar char="-"/>
            </a:pPr>
            <a:r>
              <a:rPr lang="ar-YE" sz="3200" dirty="0">
                <a:solidFill>
                  <a:schemeClr val="bg1">
                    <a:lumMod val="95000"/>
                  </a:schemeClr>
                </a:solidFill>
                <a:latin typeface="Avenir Arabic Black" panose="020B0803020203020204" pitchFamily="34" charset="-78"/>
                <a:cs typeface="Avenir Arabic Black" panose="020B0803020203020204" pitchFamily="34" charset="-78"/>
              </a:rPr>
              <a:t>زيادة عدد العملاء.</a:t>
            </a:r>
          </a:p>
          <a:p>
            <a:pPr marL="469900" marR="5080" indent="-457200" algn="r" rtl="1">
              <a:lnSpc>
                <a:spcPct val="150000"/>
              </a:lnSpc>
              <a:spcBef>
                <a:spcPts val="100"/>
              </a:spcBef>
              <a:buFontTx/>
              <a:buChar char="-"/>
            </a:pPr>
            <a:r>
              <a:rPr lang="ar-YE" sz="3200" dirty="0">
                <a:solidFill>
                  <a:schemeClr val="bg1">
                    <a:lumMod val="95000"/>
                  </a:schemeClr>
                </a:solidFill>
                <a:latin typeface="Avenir Arabic Black" panose="020B0803020203020204" pitchFamily="34" charset="-78"/>
                <a:cs typeface="Avenir Arabic Black" panose="020B0803020203020204" pitchFamily="34" charset="-78"/>
              </a:rPr>
              <a:t>الاحتفاظ بالعملاء.</a:t>
            </a:r>
          </a:p>
          <a:p>
            <a:pPr marL="469900" marR="5080" indent="-457200" algn="r" rtl="1">
              <a:lnSpc>
                <a:spcPct val="150000"/>
              </a:lnSpc>
              <a:spcBef>
                <a:spcPts val="100"/>
              </a:spcBef>
              <a:buFontTx/>
              <a:buChar char="-"/>
            </a:pPr>
            <a:r>
              <a:rPr lang="ar-YE" sz="3200" dirty="0">
                <a:solidFill>
                  <a:schemeClr val="bg1">
                    <a:lumMod val="95000"/>
                  </a:schemeClr>
                </a:solidFill>
                <a:latin typeface="Avenir Arabic Black" panose="020B0803020203020204" pitchFamily="34" charset="-78"/>
                <a:cs typeface="Avenir Arabic Black" panose="020B0803020203020204" pitchFamily="34" charset="-78"/>
              </a:rPr>
              <a:t>الموثوقية (ثقة العملاء بالمنتج)</a:t>
            </a:r>
            <a:endParaRPr lang="ar-SA" sz="3200" dirty="0">
              <a:solidFill>
                <a:schemeClr val="bg1">
                  <a:lumMod val="95000"/>
                </a:schemeClr>
              </a:solidFill>
              <a:latin typeface="Avenir Arabic Black" panose="020B0803020203020204" pitchFamily="34" charset="-78"/>
              <a:cs typeface="Avenir Arabic Black" panose="020B0803020203020204" pitchFamily="34" charset="-78"/>
            </a:endParaRPr>
          </a:p>
          <a:p>
            <a:pPr marL="469900" marR="5080" indent="-457200" algn="r" rtl="1">
              <a:lnSpc>
                <a:spcPct val="150000"/>
              </a:lnSpc>
              <a:spcBef>
                <a:spcPts val="100"/>
              </a:spcBef>
              <a:buFontTx/>
              <a:buChar char="-"/>
            </a:pPr>
            <a:r>
              <a:rPr lang="ar-SA" sz="3200" dirty="0">
                <a:solidFill>
                  <a:schemeClr val="bg1">
                    <a:lumMod val="95000"/>
                  </a:schemeClr>
                </a:solidFill>
                <a:latin typeface="Avenir Arabic Black" panose="020B0803020203020204" pitchFamily="34" charset="-78"/>
                <a:cs typeface="Avenir Arabic Black" panose="020B0803020203020204" pitchFamily="34" charset="-78"/>
              </a:rPr>
              <a:t>المحافظة على صحتك وحياتك </a:t>
            </a:r>
            <a:r>
              <a:rPr lang="ar-SA" sz="3200" dirty="0">
                <a:solidFill>
                  <a:schemeClr val="bg1">
                    <a:lumMod val="95000"/>
                  </a:schemeClr>
                </a:solidFill>
                <a:latin typeface="Avenir Arabic Black" panose="020B0803020203020204" pitchFamily="34" charset="-78"/>
                <a:cs typeface="Avenir Arabic Black" panose="020B0803020203020204" pitchFamily="34" charset="-78"/>
                <a:sym typeface="Wingdings" panose="05000000000000000000" pitchFamily="2" charset="2"/>
              </a:rPr>
              <a:t></a:t>
            </a:r>
            <a:endParaRPr lang="ar-YE" sz="3200" dirty="0">
              <a:solidFill>
                <a:schemeClr val="bg1">
                  <a:lumMod val="95000"/>
                </a:schemeClr>
              </a:solidFill>
              <a:latin typeface="Avenir Arabic Black" panose="020B0803020203020204" pitchFamily="34" charset="-78"/>
              <a:cs typeface="Avenir Arabic Black" panose="020B0803020203020204" pitchFamily="34" charset="-78"/>
            </a:endParaRPr>
          </a:p>
          <a:p>
            <a:pPr marL="469900" marR="5080" indent="-457200" algn="r" rtl="1">
              <a:lnSpc>
                <a:spcPct val="150000"/>
              </a:lnSpc>
              <a:spcBef>
                <a:spcPts val="100"/>
              </a:spcBef>
              <a:buFontTx/>
              <a:buChar char="-"/>
            </a:pPr>
            <a:r>
              <a:rPr lang="ar-YE" sz="3200" dirty="0">
                <a:solidFill>
                  <a:schemeClr val="bg1">
                    <a:lumMod val="95000"/>
                  </a:schemeClr>
                </a:solidFill>
                <a:latin typeface="Avenir Arabic Black" panose="020B0803020203020204" pitchFamily="34" charset="-78"/>
                <a:cs typeface="Avenir Arabic Black" panose="020B0803020203020204" pitchFamily="34" charset="-78"/>
              </a:rPr>
              <a:t>الحد من التلوث البصري.</a:t>
            </a:r>
          </a:p>
        </p:txBody>
      </p:sp>
    </p:spTree>
    <p:extLst>
      <p:ext uri="{BB962C8B-B14F-4D97-AF65-F5344CB8AC3E}">
        <p14:creationId xmlns:p14="http://schemas.microsoft.com/office/powerpoint/2010/main" val="375228176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a:p>
        </p:txBody>
      </p:sp>
      <p:sp>
        <p:nvSpPr>
          <p:cNvPr id="3" name="عنوان فرعي 2"/>
          <p:cNvSpPr>
            <a:spLocks noGrp="1"/>
          </p:cNvSpPr>
          <p:nvPr>
            <p:ph type="subTitle" idx="1"/>
          </p:nvPr>
        </p:nvSpPr>
        <p:spPr/>
        <p:txBody>
          <a:bodyPr/>
          <a:lstStyle/>
          <a:p>
            <a:endParaRPr lang="en-US"/>
          </a:p>
        </p:txBody>
      </p:sp>
      <p:pic>
        <p:nvPicPr>
          <p:cNvPr id="4" name="صورة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950259" y="1309591"/>
            <a:ext cx="9324225" cy="662297"/>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gn="r" rtl="1">
              <a:lnSpc>
                <a:spcPct val="150000"/>
              </a:lnSpc>
              <a:spcBef>
                <a:spcPts val="100"/>
              </a:spcBef>
            </a:pPr>
            <a:r>
              <a:rPr lang="ar-YE" sz="3200" dirty="0">
                <a:solidFill>
                  <a:schemeClr val="bg1">
                    <a:lumMod val="95000"/>
                  </a:schemeClr>
                </a:solidFill>
                <a:latin typeface="Avenir Arabic Black" panose="020B0803020203020204" pitchFamily="34" charset="-78"/>
                <a:cs typeface="Avenir Arabic Black" panose="020B0803020203020204" pitchFamily="34" charset="-78"/>
              </a:rPr>
              <a:t>ماذا احتاج كي أكون مصمم تجربة المستخدم وواجهة الاستخدام؟</a:t>
            </a: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1917517" y="3732218"/>
            <a:ext cx="8356967" cy="662297"/>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Tx/>
              <a:buChar char="-"/>
            </a:pPr>
            <a:r>
              <a:rPr lang="ar-SA" sz="3200" dirty="0">
                <a:solidFill>
                  <a:schemeClr val="bg1">
                    <a:lumMod val="95000"/>
                  </a:schemeClr>
                </a:solidFill>
                <a:latin typeface="Avenir Arabic Black" panose="020B0803020203020204" pitchFamily="34" charset="-78"/>
                <a:cs typeface="Avenir Arabic Black" panose="020B0803020203020204" pitchFamily="34" charset="-78"/>
              </a:rPr>
              <a:t>لا شيء ولكن....</a:t>
            </a:r>
            <a:endParaRPr lang="ar-YE" sz="32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16285808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a:p>
        </p:txBody>
      </p:sp>
      <p:sp>
        <p:nvSpPr>
          <p:cNvPr id="3" name="عنوان فرعي 2"/>
          <p:cNvSpPr>
            <a:spLocks noGrp="1"/>
          </p:cNvSpPr>
          <p:nvPr>
            <p:ph type="subTitle" idx="1"/>
          </p:nvPr>
        </p:nvSpPr>
        <p:spPr/>
        <p:txBody>
          <a:bodyPr/>
          <a:lstStyle/>
          <a:p>
            <a:endParaRPr lang="en-US"/>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object 4">
            <a:extLst>
              <a:ext uri="{FF2B5EF4-FFF2-40B4-BE49-F238E27FC236}">
                <a16:creationId xmlns:a16="http://schemas.microsoft.com/office/drawing/2014/main" id="{239831BB-6478-4671-8F2F-4F3524E329FD}"/>
              </a:ext>
            </a:extLst>
          </p:cNvPr>
          <p:cNvSpPr txBox="1">
            <a:spLocks/>
          </p:cNvSpPr>
          <p:nvPr/>
        </p:nvSpPr>
        <p:spPr>
          <a:xfrm>
            <a:off x="950259" y="1309591"/>
            <a:ext cx="9324225" cy="662297"/>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gn="r" rtl="1">
              <a:lnSpc>
                <a:spcPct val="150000"/>
              </a:lnSpc>
              <a:spcBef>
                <a:spcPts val="100"/>
              </a:spcBef>
            </a:pPr>
            <a:r>
              <a:rPr lang="ar-SA" sz="3200" dirty="0">
                <a:solidFill>
                  <a:schemeClr val="bg1">
                    <a:lumMod val="95000"/>
                  </a:schemeClr>
                </a:solidFill>
                <a:latin typeface="Avenir Arabic Black" panose="020B0803020203020204" pitchFamily="34" charset="-78"/>
                <a:cs typeface="Avenir Arabic Black" panose="020B0803020203020204" pitchFamily="34" charset="-78"/>
              </a:rPr>
              <a:t>أدوات ت</a:t>
            </a:r>
            <a:r>
              <a:rPr lang="ar-YE" sz="3200" dirty="0">
                <a:solidFill>
                  <a:schemeClr val="bg1">
                    <a:lumMod val="95000"/>
                  </a:schemeClr>
                </a:solidFill>
                <a:latin typeface="Avenir Arabic Black" panose="020B0803020203020204" pitchFamily="34" charset="-78"/>
                <a:cs typeface="Avenir Arabic Black" panose="020B0803020203020204" pitchFamily="34" charset="-78"/>
              </a:rPr>
              <a:t>صم</a:t>
            </a:r>
            <a:r>
              <a:rPr lang="ar-SA" sz="3200" dirty="0">
                <a:solidFill>
                  <a:schemeClr val="bg1">
                    <a:lumMod val="95000"/>
                  </a:schemeClr>
                </a:solidFill>
                <a:latin typeface="Avenir Arabic Black" panose="020B0803020203020204" pitchFamily="34" charset="-78"/>
                <a:cs typeface="Avenir Arabic Black" panose="020B0803020203020204" pitchFamily="34" charset="-78"/>
              </a:rPr>
              <a:t>ي</a:t>
            </a:r>
            <a:r>
              <a:rPr lang="ar-YE" sz="3200" dirty="0">
                <a:solidFill>
                  <a:schemeClr val="bg1">
                    <a:lumMod val="95000"/>
                  </a:schemeClr>
                </a:solidFill>
                <a:latin typeface="Avenir Arabic Black" panose="020B0803020203020204" pitchFamily="34" charset="-78"/>
                <a:cs typeface="Avenir Arabic Black" panose="020B0803020203020204" pitchFamily="34" charset="-78"/>
              </a:rPr>
              <a:t>م تجربة المستخدم وواجهة الاستخدام</a:t>
            </a:r>
            <a:r>
              <a:rPr lang="ar-SA" sz="3200" dirty="0">
                <a:solidFill>
                  <a:schemeClr val="bg1">
                    <a:lumMod val="95000"/>
                  </a:schemeClr>
                </a:solidFill>
                <a:latin typeface="Avenir Arabic Black" panose="020B0803020203020204" pitchFamily="34" charset="-78"/>
                <a:cs typeface="Avenir Arabic Black" panose="020B0803020203020204" pitchFamily="34" charset="-78"/>
              </a:rPr>
              <a:t>:</a:t>
            </a:r>
            <a:endParaRPr lang="ar-YE" sz="3200" dirty="0">
              <a:solidFill>
                <a:schemeClr val="bg1">
                  <a:lumMod val="95000"/>
                </a:schemeClr>
              </a:solidFill>
              <a:latin typeface="Avenir Arabic Black" panose="020B0803020203020204" pitchFamily="34" charset="-78"/>
              <a:cs typeface="Avenir Arabic Black" panose="020B0803020203020204" pitchFamily="34" charset="-78"/>
            </a:endParaRPr>
          </a:p>
        </p:txBody>
      </p:sp>
      <p:sp>
        <p:nvSpPr>
          <p:cNvPr id="6" name="object 4">
            <a:extLst>
              <a:ext uri="{FF2B5EF4-FFF2-40B4-BE49-F238E27FC236}">
                <a16:creationId xmlns:a16="http://schemas.microsoft.com/office/drawing/2014/main" id="{8F244AE8-97F6-4763-8530-373F49477464}"/>
              </a:ext>
            </a:extLst>
          </p:cNvPr>
          <p:cNvSpPr txBox="1">
            <a:spLocks/>
          </p:cNvSpPr>
          <p:nvPr/>
        </p:nvSpPr>
        <p:spPr>
          <a:xfrm>
            <a:off x="1917517" y="2615233"/>
            <a:ext cx="8356967" cy="2394245"/>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marR="5080" indent="-457200" algn="r" rtl="1">
              <a:lnSpc>
                <a:spcPct val="150000"/>
              </a:lnSpc>
              <a:spcBef>
                <a:spcPts val="100"/>
              </a:spcBef>
              <a:buFontTx/>
              <a:buChar char="-"/>
            </a:pPr>
            <a:r>
              <a:rPr lang="en-US" sz="3200" dirty="0" err="1">
                <a:solidFill>
                  <a:schemeClr val="bg1">
                    <a:lumMod val="95000"/>
                  </a:schemeClr>
                </a:solidFill>
                <a:latin typeface="Avenir Arabic Black" panose="020B0803020203020204" pitchFamily="34" charset="-78"/>
                <a:cs typeface="Avenir Arabic Black" panose="020B0803020203020204" pitchFamily="34" charset="-78"/>
              </a:rPr>
              <a:t>Figma</a:t>
            </a:r>
            <a:endParaRPr lang="ar-SA" sz="3200" dirty="0">
              <a:solidFill>
                <a:schemeClr val="bg1">
                  <a:lumMod val="95000"/>
                </a:schemeClr>
              </a:solidFill>
              <a:latin typeface="Avenir Arabic Black" panose="020B0803020203020204" pitchFamily="34" charset="-78"/>
              <a:cs typeface="Avenir Arabic Black" panose="020B0803020203020204" pitchFamily="34" charset="-78"/>
            </a:endParaRPr>
          </a:p>
          <a:p>
            <a:pPr marL="469900" marR="5080" indent="-457200" algn="r" rtl="1">
              <a:lnSpc>
                <a:spcPct val="150000"/>
              </a:lnSpc>
              <a:spcBef>
                <a:spcPts val="100"/>
              </a:spcBef>
              <a:buFontTx/>
              <a:buChar char="-"/>
            </a:pPr>
            <a:r>
              <a:rPr lang="en-US" sz="3200" dirty="0">
                <a:solidFill>
                  <a:schemeClr val="bg1">
                    <a:lumMod val="95000"/>
                  </a:schemeClr>
                </a:solidFill>
                <a:latin typeface="Avenir Arabic Black" panose="020B0803020203020204" pitchFamily="34" charset="-78"/>
                <a:cs typeface="Avenir Arabic Black" panose="020B0803020203020204" pitchFamily="34" charset="-78"/>
              </a:rPr>
              <a:t>Adobe XD</a:t>
            </a:r>
          </a:p>
          <a:p>
            <a:pPr marL="469900" marR="5080" indent="-457200" algn="r" rtl="1">
              <a:lnSpc>
                <a:spcPct val="150000"/>
              </a:lnSpc>
              <a:spcBef>
                <a:spcPts val="100"/>
              </a:spcBef>
              <a:buFontTx/>
              <a:buChar char="-"/>
            </a:pPr>
            <a:r>
              <a:rPr lang="en-US" sz="3200" dirty="0">
                <a:solidFill>
                  <a:schemeClr val="bg1">
                    <a:lumMod val="95000"/>
                  </a:schemeClr>
                </a:solidFill>
                <a:latin typeface="Avenir Arabic Black" panose="020B0803020203020204" pitchFamily="34" charset="-78"/>
                <a:cs typeface="Avenir Arabic Black" panose="020B0803020203020204" pitchFamily="34" charset="-78"/>
              </a:rPr>
              <a:t>Sketch</a:t>
            </a:r>
          </a:p>
          <a:p>
            <a:pPr marL="927100" marR="5080" lvl="1" indent="-457200" algn="r" rtl="1">
              <a:lnSpc>
                <a:spcPct val="150000"/>
              </a:lnSpc>
              <a:spcBef>
                <a:spcPts val="100"/>
              </a:spcBef>
              <a:buFontTx/>
              <a:buChar char="-"/>
            </a:pPr>
            <a:endParaRPr lang="ar-YE" sz="6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96917011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lstStyle/>
          <a:p>
            <a:endParaRPr lang="en-US"/>
          </a:p>
        </p:txBody>
      </p:sp>
      <p:sp>
        <p:nvSpPr>
          <p:cNvPr id="3" name="عنوان فرعي 2"/>
          <p:cNvSpPr>
            <a:spLocks noGrp="1"/>
          </p:cNvSpPr>
          <p:nvPr>
            <p:ph type="subTitle" idx="1"/>
          </p:nvPr>
        </p:nvSpPr>
        <p:spPr/>
        <p:txBody>
          <a:bodyPr/>
          <a:lstStyle/>
          <a:p>
            <a:endParaRPr lang="en-US"/>
          </a:p>
        </p:txBody>
      </p:sp>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object 4">
            <a:extLst>
              <a:ext uri="{FF2B5EF4-FFF2-40B4-BE49-F238E27FC236}">
                <a16:creationId xmlns:a16="http://schemas.microsoft.com/office/drawing/2014/main" id="{239831BB-6478-4671-8F2F-4F3524E329FD}"/>
              </a:ext>
            </a:extLst>
          </p:cNvPr>
          <p:cNvSpPr txBox="1">
            <a:spLocks/>
          </p:cNvSpPr>
          <p:nvPr/>
        </p:nvSpPr>
        <p:spPr>
          <a:xfrm>
            <a:off x="2450915" y="1147497"/>
            <a:ext cx="7290173" cy="98648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gn="ctr">
              <a:lnSpc>
                <a:spcPct val="150000"/>
              </a:lnSpc>
              <a:spcBef>
                <a:spcPts val="100"/>
              </a:spcBef>
            </a:pPr>
            <a:r>
              <a:rPr lang="en-US" sz="4800" b="1" dirty="0">
                <a:solidFill>
                  <a:schemeClr val="bg1">
                    <a:lumMod val="95000"/>
                  </a:schemeClr>
                </a:solidFill>
                <a:latin typeface="Avenir Arabic Black" panose="020B0803020203020204" pitchFamily="34" charset="-78"/>
                <a:cs typeface="Avenir Arabic Black" panose="020B0803020203020204" pitchFamily="34" charset="-78"/>
              </a:rPr>
              <a:t>The end </a:t>
            </a:r>
            <a:r>
              <a:rPr lang="en-US" sz="4800" b="1" dirty="0">
                <a:solidFill>
                  <a:schemeClr val="bg1">
                    <a:lumMod val="95000"/>
                  </a:schemeClr>
                </a:solidFill>
                <a:latin typeface="Avenir Arabic Black" panose="020B0803020203020204" pitchFamily="34" charset="-78"/>
                <a:cs typeface="Avenir Arabic Black" panose="020B0803020203020204" pitchFamily="34" charset="-78"/>
                <a:sym typeface="Wingdings" panose="05000000000000000000" pitchFamily="2" charset="2"/>
              </a:rPr>
              <a:t></a:t>
            </a:r>
            <a:endParaRPr lang="ar-YE" sz="4800" b="1" dirty="0">
              <a:solidFill>
                <a:schemeClr val="bg1">
                  <a:lumMod val="95000"/>
                </a:schemeClr>
              </a:solidFill>
              <a:latin typeface="Avenir Arabic Black" panose="020B0803020203020204" pitchFamily="34" charset="-78"/>
              <a:cs typeface="Avenir Arabic Black" panose="020B0803020203020204" pitchFamily="34" charset="-78"/>
            </a:endParaRPr>
          </a:p>
        </p:txBody>
      </p:sp>
      <p:sp>
        <p:nvSpPr>
          <p:cNvPr id="9" name="object 4">
            <a:extLst>
              <a:ext uri="{FF2B5EF4-FFF2-40B4-BE49-F238E27FC236}">
                <a16:creationId xmlns:a16="http://schemas.microsoft.com/office/drawing/2014/main" id="{8F244AE8-97F6-4763-8530-373F49477464}"/>
              </a:ext>
            </a:extLst>
          </p:cNvPr>
          <p:cNvSpPr txBox="1">
            <a:spLocks/>
          </p:cNvSpPr>
          <p:nvPr/>
        </p:nvSpPr>
        <p:spPr>
          <a:xfrm>
            <a:off x="1917518" y="3732217"/>
            <a:ext cx="8356967" cy="662297"/>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gn="ctr" rtl="1">
              <a:lnSpc>
                <a:spcPct val="150000"/>
              </a:lnSpc>
              <a:spcBef>
                <a:spcPts val="100"/>
              </a:spcBef>
            </a:pPr>
            <a:r>
              <a:rPr lang="en-US" sz="3200" dirty="0">
                <a:solidFill>
                  <a:schemeClr val="bg1">
                    <a:lumMod val="95000"/>
                  </a:schemeClr>
                </a:solidFill>
                <a:latin typeface="Avenir Arabic Black" panose="020B0803020203020204" pitchFamily="34" charset="-78"/>
                <a:cs typeface="Avenir Arabic Black" panose="020B0803020203020204" pitchFamily="34" charset="-78"/>
              </a:rPr>
              <a:t>Any questions?</a:t>
            </a:r>
            <a:endParaRPr lang="ar-YE" sz="3200" dirty="0">
              <a:solidFill>
                <a:schemeClr val="bg1">
                  <a:lumMod val="95000"/>
                </a:schemeClr>
              </a:solidFill>
              <a:latin typeface="Avenir Arabic Black" panose="020B0803020203020204" pitchFamily="34" charset="-78"/>
              <a:cs typeface="Avenir Arabic Black" panose="020B0803020203020204" pitchFamily="34" charset="-78"/>
            </a:endParaRPr>
          </a:p>
        </p:txBody>
      </p:sp>
    </p:spTree>
    <p:extLst>
      <p:ext uri="{BB962C8B-B14F-4D97-AF65-F5344CB8AC3E}">
        <p14:creationId xmlns:p14="http://schemas.microsoft.com/office/powerpoint/2010/main" val="1894846784"/>
      </p:ext>
    </p:extLst>
  </p:cSld>
  <p:clrMapOvr>
    <a:masterClrMapping/>
  </p:clrMapOvr>
  <p:timing>
    <p:tnLst>
      <p:par>
        <p:cTn id="1" dur="indefinite" restart="never" nodeType="tmRoot"/>
      </p:par>
    </p:tnLst>
  </p:timing>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TotalTime>
  <Words>933</Words>
  <Application>Microsoft Office PowerPoint</Application>
  <PresentationFormat>Widescreen</PresentationFormat>
  <Paragraphs>113</Paragraphs>
  <Slides>28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Almarai</vt:lpstr>
      <vt:lpstr>Arial</vt:lpstr>
      <vt:lpstr>Avenir Arabic Black</vt:lpstr>
      <vt:lpstr>Calibri</vt:lpstr>
      <vt:lpstr>Calibri Light</vt:lpstr>
      <vt:lpstr>Times New Roman</vt:lpstr>
      <vt:lpstr>Wingdings</vt:lpstr>
      <vt:lpstr>نسق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SACC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Maher</dc:creator>
  <cp:lastModifiedBy>Maher</cp:lastModifiedBy>
  <cp:revision>11</cp:revision>
  <dcterms:created xsi:type="dcterms:W3CDTF">2023-06-06T16:26:28Z</dcterms:created>
  <dcterms:modified xsi:type="dcterms:W3CDTF">2025-11-03T19:29:21Z</dcterms:modified>
</cp:coreProperties>
</file>