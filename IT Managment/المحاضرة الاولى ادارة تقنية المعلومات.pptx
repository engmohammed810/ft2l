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73" r:id="rId3"/>
  </p:sldMasterIdLst>
  <p:notesMasterIdLst>
    <p:notesMasterId r:id="rId81"/>
  </p:notesMasterIdLst>
  <p:sldIdLst>
    <p:sldId id="360" r:id="rId4"/>
    <p:sldId id="259" r:id="rId5"/>
    <p:sldId id="361" r:id="rId6"/>
    <p:sldId id="298" r:id="rId7"/>
    <p:sldId id="381" r:id="rId8"/>
    <p:sldId id="382" r:id="rId9"/>
    <p:sldId id="318" r:id="rId10"/>
    <p:sldId id="385" r:id="rId11"/>
    <p:sldId id="383" r:id="rId12"/>
    <p:sldId id="384" r:id="rId13"/>
    <p:sldId id="386" r:id="rId14"/>
    <p:sldId id="387" r:id="rId15"/>
    <p:sldId id="388" r:id="rId16"/>
    <p:sldId id="389" r:id="rId17"/>
    <p:sldId id="390" r:id="rId18"/>
    <p:sldId id="391" r:id="rId19"/>
    <p:sldId id="446" r:id="rId20"/>
    <p:sldId id="396" r:id="rId21"/>
    <p:sldId id="444" r:id="rId22"/>
    <p:sldId id="445" r:id="rId23"/>
    <p:sldId id="443" r:id="rId24"/>
    <p:sldId id="392" r:id="rId25"/>
    <p:sldId id="442" r:id="rId26"/>
    <p:sldId id="393" r:id="rId27"/>
    <p:sldId id="394" r:id="rId28"/>
    <p:sldId id="441" r:id="rId29"/>
    <p:sldId id="403" r:id="rId30"/>
    <p:sldId id="397" r:id="rId31"/>
    <p:sldId id="400" r:id="rId32"/>
    <p:sldId id="401" r:id="rId33"/>
    <p:sldId id="404" r:id="rId34"/>
    <p:sldId id="402" r:id="rId35"/>
    <p:sldId id="405" r:id="rId36"/>
    <p:sldId id="410" r:id="rId37"/>
    <p:sldId id="411" r:id="rId38"/>
    <p:sldId id="412" r:id="rId39"/>
    <p:sldId id="413" r:id="rId40"/>
    <p:sldId id="414" r:id="rId41"/>
    <p:sldId id="406" r:id="rId42"/>
    <p:sldId id="415" r:id="rId43"/>
    <p:sldId id="416" r:id="rId44"/>
    <p:sldId id="407" r:id="rId45"/>
    <p:sldId id="408" r:id="rId46"/>
    <p:sldId id="424" r:id="rId47"/>
    <p:sldId id="417" r:id="rId48"/>
    <p:sldId id="418" r:id="rId49"/>
    <p:sldId id="419" r:id="rId50"/>
    <p:sldId id="420" r:id="rId51"/>
    <p:sldId id="421" r:id="rId52"/>
    <p:sldId id="422" r:id="rId53"/>
    <p:sldId id="423" r:id="rId54"/>
    <p:sldId id="426" r:id="rId55"/>
    <p:sldId id="427" r:id="rId56"/>
    <p:sldId id="428" r:id="rId57"/>
    <p:sldId id="429" r:id="rId58"/>
    <p:sldId id="430" r:id="rId59"/>
    <p:sldId id="431" r:id="rId60"/>
    <p:sldId id="432" r:id="rId61"/>
    <p:sldId id="433" r:id="rId62"/>
    <p:sldId id="434" r:id="rId63"/>
    <p:sldId id="435" r:id="rId64"/>
    <p:sldId id="436" r:id="rId65"/>
    <p:sldId id="437" r:id="rId66"/>
    <p:sldId id="438" r:id="rId67"/>
    <p:sldId id="439" r:id="rId68"/>
    <p:sldId id="440" r:id="rId69"/>
    <p:sldId id="447" r:id="rId70"/>
    <p:sldId id="448" r:id="rId71"/>
    <p:sldId id="425" r:id="rId72"/>
    <p:sldId id="449" r:id="rId73"/>
    <p:sldId id="450" r:id="rId74"/>
    <p:sldId id="451" r:id="rId75"/>
    <p:sldId id="452" r:id="rId76"/>
    <p:sldId id="453" r:id="rId77"/>
    <p:sldId id="454" r:id="rId78"/>
    <p:sldId id="455" r:id="rId79"/>
    <p:sldId id="456"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57" d="100"/>
          <a:sy n="57" d="100"/>
        </p:scale>
        <p:origin x="65" y="1310"/>
      </p:cViewPr>
      <p:guideLst>
        <p:guide orient="horz" pos="2387"/>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theme" Target="theme/theme1.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61" Type="http://schemas.openxmlformats.org/officeDocument/2006/relationships/slide" Target="slides/slide58.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t>12/29/2024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691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66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99324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6325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20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D1B43571-EB74-4DFB-9BB9-B977D516C2FA}"/>
              </a:ext>
            </a:extLst>
          </p:cNvPr>
          <p:cNvSpPr>
            <a:spLocks noGrp="1"/>
          </p:cNvSpPr>
          <p:nvPr>
            <p:ph type="pic" idx="14" hasCustomPrompt="1"/>
          </p:nvPr>
        </p:nvSpPr>
        <p:spPr>
          <a:xfrm>
            <a:off x="1679509" y="562895"/>
            <a:ext cx="3311968" cy="1800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5" name="Picture Placeholder 2">
            <a:extLst>
              <a:ext uri="{FF2B5EF4-FFF2-40B4-BE49-F238E27FC236}">
                <a16:creationId xmlns:a16="http://schemas.microsoft.com/office/drawing/2014/main" id="{BDB5FB7B-6C25-4DDB-8392-8EB212AF513F}"/>
              </a:ext>
            </a:extLst>
          </p:cNvPr>
          <p:cNvSpPr>
            <a:spLocks noGrp="1"/>
          </p:cNvSpPr>
          <p:nvPr>
            <p:ph type="pic" idx="15" hasCustomPrompt="1"/>
          </p:nvPr>
        </p:nvSpPr>
        <p:spPr>
          <a:xfrm>
            <a:off x="1679509" y="2531245"/>
            <a:ext cx="3311968" cy="1800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6" name="Picture Placeholder 2">
            <a:extLst>
              <a:ext uri="{FF2B5EF4-FFF2-40B4-BE49-F238E27FC236}">
                <a16:creationId xmlns:a16="http://schemas.microsoft.com/office/drawing/2014/main" id="{42C50E7C-EB32-4D95-B8F1-8BE10A073106}"/>
              </a:ext>
            </a:extLst>
          </p:cNvPr>
          <p:cNvSpPr>
            <a:spLocks noGrp="1"/>
          </p:cNvSpPr>
          <p:nvPr>
            <p:ph type="pic" idx="16" hasCustomPrompt="1"/>
          </p:nvPr>
        </p:nvSpPr>
        <p:spPr>
          <a:xfrm>
            <a:off x="1679509" y="4499595"/>
            <a:ext cx="3311968" cy="1800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768664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DDBFA302-365D-4257-9D0E-2277073B145D}"/>
              </a:ext>
            </a:extLst>
          </p:cNvPr>
          <p:cNvSpPr>
            <a:spLocks noGrp="1"/>
          </p:cNvSpPr>
          <p:nvPr>
            <p:ph type="pic" idx="18" hasCustomPrompt="1"/>
          </p:nvPr>
        </p:nvSpPr>
        <p:spPr>
          <a:xfrm>
            <a:off x="0" y="0"/>
            <a:ext cx="6096000" cy="68580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833295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45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FAA807E4-56C6-402E-848D-BB4C3322FB60}"/>
              </a:ext>
            </a:extLst>
          </p:cNvPr>
          <p:cNvSpPr>
            <a:spLocks noGrp="1"/>
          </p:cNvSpPr>
          <p:nvPr>
            <p:ph type="pic" sz="quarter" idx="10" hasCustomPrompt="1"/>
          </p:nvPr>
        </p:nvSpPr>
        <p:spPr>
          <a:xfrm>
            <a:off x="731520" y="2345890"/>
            <a:ext cx="6992983" cy="2376264"/>
          </a:xfrm>
          <a:prstGeom prst="rect">
            <a:avLst/>
          </a:prstGeom>
          <a:solidFill>
            <a:schemeClr val="bg1">
              <a:lumMod val="95000"/>
            </a:schemeClr>
          </a:solidFill>
          <a:ln w="25400">
            <a:noFill/>
          </a:ln>
          <a:effectLst/>
        </p:spPr>
        <p:txBody>
          <a:bodyPr/>
          <a:lstStyle>
            <a:lvl1pPr marL="0" indent="0" algn="ctr">
              <a:buFontTx/>
              <a:buNone/>
              <a:defRPr sz="1200">
                <a:solidFill>
                  <a:schemeClr val="tx1">
                    <a:lumMod val="75000"/>
                    <a:lumOff val="25000"/>
                  </a:schemeClr>
                </a:solidFill>
              </a:defRPr>
            </a:lvl1pPr>
          </a:lstStyle>
          <a:p>
            <a:r>
              <a:rPr lang="en-US" altLang="ko-KR" dirty="0"/>
              <a:t>Place Your Picture Here</a:t>
            </a:r>
            <a:endParaRPr lang="ko-KR" altLang="en-US" dirty="0"/>
          </a:p>
        </p:txBody>
      </p:sp>
      <p:sp>
        <p:nvSpPr>
          <p:cNvPr id="3" name="직사각형 2">
            <a:extLst>
              <a:ext uri="{FF2B5EF4-FFF2-40B4-BE49-F238E27FC236}">
                <a16:creationId xmlns:a16="http://schemas.microsoft.com/office/drawing/2014/main" id="{DA0F4677-9B15-4116-A37F-EA517F96B608}"/>
              </a:ext>
            </a:extLst>
          </p:cNvPr>
          <p:cNvSpPr/>
          <p:nvPr userDrawn="1"/>
        </p:nvSpPr>
        <p:spPr>
          <a:xfrm>
            <a:off x="7724503" y="2345890"/>
            <a:ext cx="3735976" cy="2376000"/>
          </a:xfrm>
          <a:prstGeom prst="rect">
            <a:avLst/>
          </a:prstGeom>
          <a:solidFill>
            <a:schemeClr val="accent1">
              <a:alpha val="89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800">
              <a:solidFill>
                <a:schemeClr val="tx1">
                  <a:lumMod val="75000"/>
                  <a:lumOff val="25000"/>
                </a:schemeClr>
              </a:solidFill>
            </a:endParaRPr>
          </a:p>
        </p:txBody>
      </p:sp>
      <p:sp>
        <p:nvSpPr>
          <p:cNvPr id="4" name="Text Placeholder 9">
            <a:extLst>
              <a:ext uri="{FF2B5EF4-FFF2-40B4-BE49-F238E27FC236}">
                <a16:creationId xmlns:a16="http://schemas.microsoft.com/office/drawing/2014/main" id="{57B23F21-9999-4814-9DE0-1C1D035FAF35}"/>
              </a:ext>
            </a:extLst>
          </p:cNvPr>
          <p:cNvSpPr>
            <a:spLocks noGrp="1"/>
          </p:cNvSpPr>
          <p:nvPr>
            <p:ph type="body" sz="quarter" idx="11"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199585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4" name="Rectangle 68">
            <a:extLst>
              <a:ext uri="{FF2B5EF4-FFF2-40B4-BE49-F238E27FC236}">
                <a16:creationId xmlns:a16="http://schemas.microsoft.com/office/drawing/2014/main" id="{A9D41CEA-9BD6-4D8A-9BBE-A419E3F8944A}"/>
              </a:ext>
            </a:extLst>
          </p:cNvPr>
          <p:cNvSpPr/>
          <p:nvPr userDrawn="1"/>
        </p:nvSpPr>
        <p:spPr>
          <a:xfrm>
            <a:off x="6096000" y="837246"/>
            <a:ext cx="6096000" cy="25917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61">
            <a:extLst>
              <a:ext uri="{FF2B5EF4-FFF2-40B4-BE49-F238E27FC236}">
                <a16:creationId xmlns:a16="http://schemas.microsoft.com/office/drawing/2014/main" id="{C55784C2-A625-4992-85BC-279ED49F5E54}"/>
              </a:ext>
            </a:extLst>
          </p:cNvPr>
          <p:cNvGrpSpPr/>
          <p:nvPr userDrawn="1"/>
        </p:nvGrpSpPr>
        <p:grpSpPr>
          <a:xfrm>
            <a:off x="1058291" y="3689597"/>
            <a:ext cx="2892793" cy="3168403"/>
            <a:chOff x="1058291" y="3689597"/>
            <a:chExt cx="2892793" cy="3168403"/>
          </a:xfrm>
        </p:grpSpPr>
        <p:sp>
          <p:nvSpPr>
            <p:cNvPr id="6" name="Freeform: Shape 53">
              <a:extLst>
                <a:ext uri="{FF2B5EF4-FFF2-40B4-BE49-F238E27FC236}">
                  <a16:creationId xmlns:a16="http://schemas.microsoft.com/office/drawing/2014/main" id="{13077F57-5725-450D-B772-BCD9A94C02A3}"/>
                </a:ext>
              </a:extLst>
            </p:cNvPr>
            <p:cNvSpPr/>
            <p:nvPr userDrawn="1"/>
          </p:nvSpPr>
          <p:spPr>
            <a:xfrm>
              <a:off x="1062769" y="3689597"/>
              <a:ext cx="2885112" cy="3168403"/>
            </a:xfrm>
            <a:custGeom>
              <a:avLst/>
              <a:gdLst>
                <a:gd name="connsiteX0" fmla="*/ 380827 w 2885112"/>
                <a:gd name="connsiteY0" fmla="*/ 0 h 3168403"/>
                <a:gd name="connsiteX1" fmla="*/ 2504286 w 2885112"/>
                <a:gd name="connsiteY1" fmla="*/ 0 h 3168403"/>
                <a:gd name="connsiteX2" fmla="*/ 2885112 w 2885112"/>
                <a:gd name="connsiteY2" fmla="*/ 376422 h 3168403"/>
                <a:gd name="connsiteX3" fmla="*/ 2885112 w 2885112"/>
                <a:gd name="connsiteY3" fmla="*/ 3168403 h 3168403"/>
                <a:gd name="connsiteX4" fmla="*/ 0 w 2885112"/>
                <a:gd name="connsiteY4" fmla="*/ 3168403 h 3168403"/>
                <a:gd name="connsiteX5" fmla="*/ 0 w 2885112"/>
                <a:gd name="connsiteY5" fmla="*/ 376422 h 3168403"/>
                <a:gd name="connsiteX6" fmla="*/ 380827 w 2885112"/>
                <a:gd name="connsiteY6" fmla="*/ 0 h 3168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85112" h="3168403">
                  <a:moveTo>
                    <a:pt x="380827" y="0"/>
                  </a:moveTo>
                  <a:lnTo>
                    <a:pt x="2504286" y="0"/>
                  </a:lnTo>
                  <a:cubicBezTo>
                    <a:pt x="2714606" y="0"/>
                    <a:pt x="2885112" y="168534"/>
                    <a:pt x="2885112" y="376422"/>
                  </a:cubicBezTo>
                  <a:lnTo>
                    <a:pt x="2885112" y="3168403"/>
                  </a:lnTo>
                  <a:lnTo>
                    <a:pt x="0" y="3168403"/>
                  </a:lnTo>
                  <a:lnTo>
                    <a:pt x="0" y="376422"/>
                  </a:lnTo>
                  <a:cubicBezTo>
                    <a:pt x="57" y="168534"/>
                    <a:pt x="170506" y="0"/>
                    <a:pt x="380827" y="0"/>
                  </a:cubicBezTo>
                  <a:close/>
                </a:path>
              </a:pathLst>
            </a:custGeom>
            <a:solidFill>
              <a:srgbClr val="D0D4D8"/>
            </a:solidFill>
            <a:ln w="6728" cap="flat">
              <a:noFill/>
              <a:prstDash val="solid"/>
              <a:miter/>
            </a:ln>
          </p:spPr>
          <p:txBody>
            <a:bodyPr wrap="square" rtlCol="0" anchor="ctr">
              <a:noAutofit/>
            </a:bodyPr>
            <a:lstStyle/>
            <a:p>
              <a:endParaRPr lang="en-US"/>
            </a:p>
          </p:txBody>
        </p:sp>
        <p:sp>
          <p:nvSpPr>
            <p:cNvPr id="7" name="Freeform: Shape 54">
              <a:extLst>
                <a:ext uri="{FF2B5EF4-FFF2-40B4-BE49-F238E27FC236}">
                  <a16:creationId xmlns:a16="http://schemas.microsoft.com/office/drawing/2014/main" id="{0194C56D-0A74-4F25-BE44-939F18CA1333}"/>
                </a:ext>
              </a:extLst>
            </p:cNvPr>
            <p:cNvSpPr/>
            <p:nvPr userDrawn="1"/>
          </p:nvSpPr>
          <p:spPr>
            <a:xfrm>
              <a:off x="1101424" y="3719878"/>
              <a:ext cx="2807801" cy="3138121"/>
            </a:xfrm>
            <a:custGeom>
              <a:avLst/>
              <a:gdLst>
                <a:gd name="connsiteX0" fmla="*/ 379798 w 2807801"/>
                <a:gd name="connsiteY0" fmla="*/ 0 h 3138121"/>
                <a:gd name="connsiteX1" fmla="*/ 2428003 w 2807801"/>
                <a:gd name="connsiteY1" fmla="*/ 0 h 3138121"/>
                <a:gd name="connsiteX2" fmla="*/ 2807801 w 2807801"/>
                <a:gd name="connsiteY2" fmla="*/ 376422 h 3138121"/>
                <a:gd name="connsiteX3" fmla="*/ 2807801 w 2807801"/>
                <a:gd name="connsiteY3" fmla="*/ 3138121 h 3138121"/>
                <a:gd name="connsiteX4" fmla="*/ 0 w 2807801"/>
                <a:gd name="connsiteY4" fmla="*/ 3138121 h 3138121"/>
                <a:gd name="connsiteX5" fmla="*/ 0 w 2807801"/>
                <a:gd name="connsiteY5" fmla="*/ 376422 h 3138121"/>
                <a:gd name="connsiteX6" fmla="*/ 379798 w 2807801"/>
                <a:gd name="connsiteY6" fmla="*/ 0 h 313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7801" h="3138121">
                  <a:moveTo>
                    <a:pt x="379798" y="0"/>
                  </a:moveTo>
                  <a:lnTo>
                    <a:pt x="2428003" y="0"/>
                  </a:lnTo>
                  <a:cubicBezTo>
                    <a:pt x="2637756" y="0"/>
                    <a:pt x="2807801" y="168533"/>
                    <a:pt x="2807801" y="376422"/>
                  </a:cubicBezTo>
                  <a:lnTo>
                    <a:pt x="2807801" y="3138121"/>
                  </a:lnTo>
                  <a:lnTo>
                    <a:pt x="0" y="3138121"/>
                  </a:lnTo>
                  <a:lnTo>
                    <a:pt x="0" y="376422"/>
                  </a:lnTo>
                  <a:cubicBezTo>
                    <a:pt x="0" y="168533"/>
                    <a:pt x="170045" y="0"/>
                    <a:pt x="379798" y="0"/>
                  </a:cubicBezTo>
                  <a:close/>
                </a:path>
              </a:pathLst>
            </a:custGeom>
            <a:solidFill>
              <a:srgbClr val="070808"/>
            </a:solidFill>
            <a:ln w="6728" cap="flat">
              <a:noFill/>
              <a:prstDash val="solid"/>
              <a:miter/>
            </a:ln>
          </p:spPr>
          <p:txBody>
            <a:bodyPr wrap="square" rtlCol="0" anchor="ctr">
              <a:noAutofit/>
            </a:bodyPr>
            <a:lstStyle/>
            <a:p>
              <a:endParaRPr lang="en-US"/>
            </a:p>
          </p:txBody>
        </p:sp>
        <p:sp>
          <p:nvSpPr>
            <p:cNvPr id="8" name="Graphic 2">
              <a:extLst>
                <a:ext uri="{FF2B5EF4-FFF2-40B4-BE49-F238E27FC236}">
                  <a16:creationId xmlns:a16="http://schemas.microsoft.com/office/drawing/2014/main" id="{4E3F047C-1D8A-462E-93CB-7E62D82ADD9E}"/>
                </a:ext>
              </a:extLst>
            </p:cNvPr>
            <p:cNvSpPr/>
            <p:nvPr/>
          </p:nvSpPr>
          <p:spPr>
            <a:xfrm>
              <a:off x="1058801" y="4510882"/>
              <a:ext cx="20187" cy="196716"/>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p>
              <a:endParaRPr lang="en-US"/>
            </a:p>
          </p:txBody>
        </p:sp>
        <p:sp>
          <p:nvSpPr>
            <p:cNvPr id="9" name="Graphic 2">
              <a:extLst>
                <a:ext uri="{FF2B5EF4-FFF2-40B4-BE49-F238E27FC236}">
                  <a16:creationId xmlns:a16="http://schemas.microsoft.com/office/drawing/2014/main" id="{68A1BEE2-731F-4E06-8AE6-9774771FDABE}"/>
                </a:ext>
              </a:extLst>
            </p:cNvPr>
            <p:cNvSpPr/>
            <p:nvPr/>
          </p:nvSpPr>
          <p:spPr>
            <a:xfrm>
              <a:off x="1058801" y="4932953"/>
              <a:ext cx="28182" cy="39235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p>
              <a:endParaRPr lang="en-US"/>
            </a:p>
          </p:txBody>
        </p:sp>
        <p:sp>
          <p:nvSpPr>
            <p:cNvPr id="10" name="Graphic 2">
              <a:extLst>
                <a:ext uri="{FF2B5EF4-FFF2-40B4-BE49-F238E27FC236}">
                  <a16:creationId xmlns:a16="http://schemas.microsoft.com/office/drawing/2014/main" id="{EDDCD7F6-B6F3-4503-B930-8229A9CB403F}"/>
                </a:ext>
              </a:extLst>
            </p:cNvPr>
            <p:cNvSpPr/>
            <p:nvPr/>
          </p:nvSpPr>
          <p:spPr>
            <a:xfrm>
              <a:off x="1058858" y="4961137"/>
              <a:ext cx="15935" cy="32856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p>
              <a:endParaRPr lang="en-US"/>
            </a:p>
          </p:txBody>
        </p:sp>
        <p:sp>
          <p:nvSpPr>
            <p:cNvPr id="11" name="Graphic 2">
              <a:extLst>
                <a:ext uri="{FF2B5EF4-FFF2-40B4-BE49-F238E27FC236}">
                  <a16:creationId xmlns:a16="http://schemas.microsoft.com/office/drawing/2014/main" id="{33F453F5-45C4-4CA9-BA46-64D6BC0CE6FD}"/>
                </a:ext>
              </a:extLst>
            </p:cNvPr>
            <p:cNvSpPr/>
            <p:nvPr/>
          </p:nvSpPr>
          <p:spPr>
            <a:xfrm>
              <a:off x="1058291" y="5456869"/>
              <a:ext cx="28182" cy="39235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p>
              <a:endParaRPr lang="en-US"/>
            </a:p>
          </p:txBody>
        </p:sp>
        <p:sp>
          <p:nvSpPr>
            <p:cNvPr id="12" name="Graphic 2">
              <a:extLst>
                <a:ext uri="{FF2B5EF4-FFF2-40B4-BE49-F238E27FC236}">
                  <a16:creationId xmlns:a16="http://schemas.microsoft.com/office/drawing/2014/main" id="{0FFB74C1-B1C0-43D3-8844-E198E8331C96}"/>
                </a:ext>
              </a:extLst>
            </p:cNvPr>
            <p:cNvSpPr/>
            <p:nvPr/>
          </p:nvSpPr>
          <p:spPr>
            <a:xfrm>
              <a:off x="1058291" y="5485053"/>
              <a:ext cx="15935" cy="32856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p>
              <a:endParaRPr lang="en-US"/>
            </a:p>
          </p:txBody>
        </p:sp>
        <p:sp>
          <p:nvSpPr>
            <p:cNvPr id="13" name="Graphic 2">
              <a:extLst>
                <a:ext uri="{FF2B5EF4-FFF2-40B4-BE49-F238E27FC236}">
                  <a16:creationId xmlns:a16="http://schemas.microsoft.com/office/drawing/2014/main" id="{561C812A-62A1-47A9-955D-CC8D5F1FFABF}"/>
                </a:ext>
              </a:extLst>
            </p:cNvPr>
            <p:cNvSpPr/>
            <p:nvPr/>
          </p:nvSpPr>
          <p:spPr>
            <a:xfrm>
              <a:off x="3922902" y="5064570"/>
              <a:ext cx="28182" cy="63500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p>
              <a:pPr lvl="0"/>
              <a:endParaRPr lang="en-US"/>
            </a:p>
          </p:txBody>
        </p:sp>
        <p:sp>
          <p:nvSpPr>
            <p:cNvPr id="14" name="Graphic 2">
              <a:extLst>
                <a:ext uri="{FF2B5EF4-FFF2-40B4-BE49-F238E27FC236}">
                  <a16:creationId xmlns:a16="http://schemas.microsoft.com/office/drawing/2014/main" id="{52A5E994-BDA9-46CA-8D64-0ED4FBE664E3}"/>
                </a:ext>
              </a:extLst>
            </p:cNvPr>
            <p:cNvSpPr/>
            <p:nvPr/>
          </p:nvSpPr>
          <p:spPr>
            <a:xfrm>
              <a:off x="3935149" y="5110218"/>
              <a:ext cx="15935" cy="531742"/>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p>
              <a:pPr lvl="0"/>
              <a:endParaRPr lang="en-US"/>
            </a:p>
          </p:txBody>
        </p:sp>
        <p:sp>
          <p:nvSpPr>
            <p:cNvPr id="15" name="Graphic 2">
              <a:extLst>
                <a:ext uri="{FF2B5EF4-FFF2-40B4-BE49-F238E27FC236}">
                  <a16:creationId xmlns:a16="http://schemas.microsoft.com/office/drawing/2014/main" id="{DC342C15-8643-4ADB-AF3A-E634DF95EA7D}"/>
                </a:ext>
              </a:extLst>
            </p:cNvPr>
            <p:cNvSpPr/>
            <p:nvPr/>
          </p:nvSpPr>
          <p:spPr>
            <a:xfrm>
              <a:off x="3928288" y="6392988"/>
              <a:ext cx="22796" cy="435170"/>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p>
              <a:endParaRPr lang="en-US"/>
            </a:p>
          </p:txBody>
        </p:sp>
        <p:sp>
          <p:nvSpPr>
            <p:cNvPr id="16" name="Graphic 2">
              <a:extLst>
                <a:ext uri="{FF2B5EF4-FFF2-40B4-BE49-F238E27FC236}">
                  <a16:creationId xmlns:a16="http://schemas.microsoft.com/office/drawing/2014/main" id="{6BFAA6ED-F1A4-49E9-9012-B56FDE93768E}"/>
                </a:ext>
              </a:extLst>
            </p:cNvPr>
            <p:cNvSpPr/>
            <p:nvPr/>
          </p:nvSpPr>
          <p:spPr>
            <a:xfrm>
              <a:off x="3938156" y="6424233"/>
              <a:ext cx="12928" cy="364399"/>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p>
              <a:endParaRPr lang="en-US"/>
            </a:p>
          </p:txBody>
        </p:sp>
        <p:sp>
          <p:nvSpPr>
            <p:cNvPr id="17" name="Oval 32">
              <a:extLst>
                <a:ext uri="{FF2B5EF4-FFF2-40B4-BE49-F238E27FC236}">
                  <a16:creationId xmlns:a16="http://schemas.microsoft.com/office/drawing/2014/main" id="{E9F64D36-24F5-4419-994A-1690ADF48287}"/>
                </a:ext>
              </a:extLst>
            </p:cNvPr>
            <p:cNvSpPr>
              <a:spLocks noChangeAspect="1"/>
            </p:cNvSpPr>
            <p:nvPr/>
          </p:nvSpPr>
          <p:spPr>
            <a:xfrm>
              <a:off x="2978879" y="3808481"/>
              <a:ext cx="134198" cy="13419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33">
              <a:extLst>
                <a:ext uri="{FF2B5EF4-FFF2-40B4-BE49-F238E27FC236}">
                  <a16:creationId xmlns:a16="http://schemas.microsoft.com/office/drawing/2014/main" id="{A45C3D91-9FBD-4568-865E-9ACDEC8236DA}"/>
                </a:ext>
              </a:extLst>
            </p:cNvPr>
            <p:cNvSpPr>
              <a:spLocks noChangeAspect="1"/>
            </p:cNvSpPr>
            <p:nvPr/>
          </p:nvSpPr>
          <p:spPr>
            <a:xfrm>
              <a:off x="2987267" y="3816868"/>
              <a:ext cx="117423" cy="117423"/>
            </a:xfrm>
            <a:prstGeom prst="ellipse">
              <a:avLst/>
            </a:prstGeom>
            <a:solidFill>
              <a:srgbClr val="070808"/>
            </a:solidFill>
            <a:ln w="672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19" name="Oval 34">
              <a:extLst>
                <a:ext uri="{FF2B5EF4-FFF2-40B4-BE49-F238E27FC236}">
                  <a16:creationId xmlns:a16="http://schemas.microsoft.com/office/drawing/2014/main" id="{7BF8D94C-8FB1-4928-A96F-404CFE1E0694}"/>
                </a:ext>
              </a:extLst>
            </p:cNvPr>
            <p:cNvSpPr/>
            <p:nvPr/>
          </p:nvSpPr>
          <p:spPr>
            <a:xfrm>
              <a:off x="3016958" y="3846560"/>
              <a:ext cx="58040" cy="58040"/>
            </a:xfrm>
            <a:prstGeom prst="ellipse">
              <a:avLst/>
            </a:prstGeom>
            <a:solidFill>
              <a:schemeClr val="tx1">
                <a:lumMod val="85000"/>
                <a:lumOff val="15000"/>
              </a:schemeClr>
            </a:solidFill>
            <a:ln w="672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20" name="Oval 35">
              <a:extLst>
                <a:ext uri="{FF2B5EF4-FFF2-40B4-BE49-F238E27FC236}">
                  <a16:creationId xmlns:a16="http://schemas.microsoft.com/office/drawing/2014/main" id="{559B0B8A-3610-44DE-9002-193CFBFDBFFB}"/>
                </a:ext>
              </a:extLst>
            </p:cNvPr>
            <p:cNvSpPr/>
            <p:nvPr/>
          </p:nvSpPr>
          <p:spPr>
            <a:xfrm>
              <a:off x="3030585" y="3860187"/>
              <a:ext cx="30788" cy="30788"/>
            </a:xfrm>
            <a:prstGeom prst="ellipse">
              <a:avLst/>
            </a:prstGeom>
            <a:solidFill>
              <a:srgbClr val="081422"/>
            </a:solidFill>
            <a:ln w="672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21" name="Graphic 2">
              <a:extLst>
                <a:ext uri="{FF2B5EF4-FFF2-40B4-BE49-F238E27FC236}">
                  <a16:creationId xmlns:a16="http://schemas.microsoft.com/office/drawing/2014/main" id="{D8D01082-2C6E-43A7-A82A-B29AF7C2C329}"/>
                </a:ext>
              </a:extLst>
            </p:cNvPr>
            <p:cNvSpPr/>
            <p:nvPr userDrawn="1"/>
          </p:nvSpPr>
          <p:spPr>
            <a:xfrm flipH="1">
              <a:off x="1060804" y="4534334"/>
              <a:ext cx="10717" cy="149811"/>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p>
              <a:endParaRPr lang="en-US"/>
            </a:p>
          </p:txBody>
        </p:sp>
      </p:grpSp>
      <p:grpSp>
        <p:nvGrpSpPr>
          <p:cNvPr id="22" name="Group 60">
            <a:extLst>
              <a:ext uri="{FF2B5EF4-FFF2-40B4-BE49-F238E27FC236}">
                <a16:creationId xmlns:a16="http://schemas.microsoft.com/office/drawing/2014/main" id="{3CB92BF0-1182-4A3F-B65E-7DDE5C646618}"/>
              </a:ext>
            </a:extLst>
          </p:cNvPr>
          <p:cNvGrpSpPr/>
          <p:nvPr userDrawn="1"/>
        </p:nvGrpSpPr>
        <p:grpSpPr>
          <a:xfrm>
            <a:off x="8332411" y="0"/>
            <a:ext cx="2885112" cy="2622090"/>
            <a:chOff x="833153" y="6858000"/>
            <a:chExt cx="2885112" cy="2622090"/>
          </a:xfrm>
        </p:grpSpPr>
        <p:sp>
          <p:nvSpPr>
            <p:cNvPr id="23" name="Freeform: Shape 57">
              <a:extLst>
                <a:ext uri="{FF2B5EF4-FFF2-40B4-BE49-F238E27FC236}">
                  <a16:creationId xmlns:a16="http://schemas.microsoft.com/office/drawing/2014/main" id="{F1F7CCD7-6766-4478-B7D5-6483CFE1BBB1}"/>
                </a:ext>
              </a:extLst>
            </p:cNvPr>
            <p:cNvSpPr/>
            <p:nvPr/>
          </p:nvSpPr>
          <p:spPr>
            <a:xfrm>
              <a:off x="833153" y="6858000"/>
              <a:ext cx="2885112" cy="2622090"/>
            </a:xfrm>
            <a:custGeom>
              <a:avLst/>
              <a:gdLst>
                <a:gd name="connsiteX0" fmla="*/ 0 w 2885112"/>
                <a:gd name="connsiteY0" fmla="*/ 0 h 2622090"/>
                <a:gd name="connsiteX1" fmla="*/ 2885112 w 2885112"/>
                <a:gd name="connsiteY1" fmla="*/ 0 h 2622090"/>
                <a:gd name="connsiteX2" fmla="*/ 2885112 w 2885112"/>
                <a:gd name="connsiteY2" fmla="*/ 2245726 h 2622090"/>
                <a:gd name="connsiteX3" fmla="*/ 2504286 w 2885112"/>
                <a:gd name="connsiteY3" fmla="*/ 2622090 h 2622090"/>
                <a:gd name="connsiteX4" fmla="*/ 380827 w 2885112"/>
                <a:gd name="connsiteY4" fmla="*/ 2622090 h 2622090"/>
                <a:gd name="connsiteX5" fmla="*/ 0 w 2885112"/>
                <a:gd name="connsiteY5" fmla="*/ 2245668 h 2622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85112" h="2622090">
                  <a:moveTo>
                    <a:pt x="0" y="0"/>
                  </a:moveTo>
                  <a:lnTo>
                    <a:pt x="2885112" y="0"/>
                  </a:lnTo>
                  <a:lnTo>
                    <a:pt x="2885112" y="2245726"/>
                  </a:lnTo>
                  <a:cubicBezTo>
                    <a:pt x="2885055" y="2453556"/>
                    <a:pt x="2714549" y="2622090"/>
                    <a:pt x="2504286" y="2622090"/>
                  </a:cubicBezTo>
                  <a:lnTo>
                    <a:pt x="380827" y="2622090"/>
                  </a:lnTo>
                  <a:cubicBezTo>
                    <a:pt x="170506" y="2622090"/>
                    <a:pt x="0" y="2453556"/>
                    <a:pt x="0" y="2245668"/>
                  </a:cubicBezTo>
                  <a:close/>
                </a:path>
              </a:pathLst>
            </a:custGeom>
            <a:solidFill>
              <a:srgbClr val="D0D4D8"/>
            </a:solidFill>
            <a:ln w="6728" cap="flat">
              <a:noFill/>
              <a:prstDash val="solid"/>
              <a:miter/>
            </a:ln>
          </p:spPr>
          <p:txBody>
            <a:bodyPr wrap="square" rtlCol="0" anchor="ctr">
              <a:noAutofit/>
            </a:bodyPr>
            <a:lstStyle/>
            <a:p>
              <a:endParaRPr lang="en-US"/>
            </a:p>
          </p:txBody>
        </p:sp>
        <p:sp>
          <p:nvSpPr>
            <p:cNvPr id="24" name="Freeform: Shape 58">
              <a:extLst>
                <a:ext uri="{FF2B5EF4-FFF2-40B4-BE49-F238E27FC236}">
                  <a16:creationId xmlns:a16="http://schemas.microsoft.com/office/drawing/2014/main" id="{93907175-EA85-49EF-9579-0F7B0E576DBF}"/>
                </a:ext>
              </a:extLst>
            </p:cNvPr>
            <p:cNvSpPr/>
            <p:nvPr/>
          </p:nvSpPr>
          <p:spPr>
            <a:xfrm>
              <a:off x="871808" y="6858000"/>
              <a:ext cx="2807801" cy="2591752"/>
            </a:xfrm>
            <a:custGeom>
              <a:avLst/>
              <a:gdLst>
                <a:gd name="connsiteX0" fmla="*/ 0 w 2807801"/>
                <a:gd name="connsiteY0" fmla="*/ 0 h 2591752"/>
                <a:gd name="connsiteX1" fmla="*/ 2807801 w 2807801"/>
                <a:gd name="connsiteY1" fmla="*/ 0 h 2591752"/>
                <a:gd name="connsiteX2" fmla="*/ 2807801 w 2807801"/>
                <a:gd name="connsiteY2" fmla="*/ 2215388 h 2591752"/>
                <a:gd name="connsiteX3" fmla="*/ 2428061 w 2807801"/>
                <a:gd name="connsiteY3" fmla="*/ 2591752 h 2591752"/>
                <a:gd name="connsiteX4" fmla="*/ 379798 w 2807801"/>
                <a:gd name="connsiteY4" fmla="*/ 2591752 h 2591752"/>
                <a:gd name="connsiteX5" fmla="*/ 0 w 2807801"/>
                <a:gd name="connsiteY5" fmla="*/ 2215332 h 2591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7801" h="2591752">
                  <a:moveTo>
                    <a:pt x="0" y="0"/>
                  </a:moveTo>
                  <a:lnTo>
                    <a:pt x="2807801" y="0"/>
                  </a:lnTo>
                  <a:lnTo>
                    <a:pt x="2807801" y="2215388"/>
                  </a:lnTo>
                  <a:cubicBezTo>
                    <a:pt x="2807801" y="2423218"/>
                    <a:pt x="2637756" y="2591752"/>
                    <a:pt x="2428061" y="2591752"/>
                  </a:cubicBezTo>
                  <a:lnTo>
                    <a:pt x="379798" y="2591752"/>
                  </a:lnTo>
                  <a:cubicBezTo>
                    <a:pt x="170045" y="2591752"/>
                    <a:pt x="0" y="2423218"/>
                    <a:pt x="0" y="2215332"/>
                  </a:cubicBezTo>
                  <a:close/>
                </a:path>
              </a:pathLst>
            </a:custGeom>
            <a:solidFill>
              <a:srgbClr val="070808"/>
            </a:solidFill>
            <a:ln w="6728" cap="flat">
              <a:noFill/>
              <a:prstDash val="solid"/>
              <a:miter/>
            </a:ln>
          </p:spPr>
          <p:txBody>
            <a:bodyPr wrap="square" rtlCol="0" anchor="ctr">
              <a:noAutofit/>
            </a:bodyPr>
            <a:lstStyle/>
            <a:p>
              <a:endParaRPr lang="en-US"/>
            </a:p>
          </p:txBody>
        </p:sp>
      </p:grpSp>
      <p:sp>
        <p:nvSpPr>
          <p:cNvPr id="25" name="Freeform: Shape 66">
            <a:extLst>
              <a:ext uri="{FF2B5EF4-FFF2-40B4-BE49-F238E27FC236}">
                <a16:creationId xmlns:a16="http://schemas.microsoft.com/office/drawing/2014/main" id="{62A3DC99-B5AB-4925-B3A0-7440E18AC356}"/>
              </a:ext>
            </a:extLst>
          </p:cNvPr>
          <p:cNvSpPr>
            <a:spLocks noGrp="1"/>
          </p:cNvSpPr>
          <p:nvPr>
            <p:ph type="pic" sz="quarter" idx="15" hasCustomPrompt="1"/>
          </p:nvPr>
        </p:nvSpPr>
        <p:spPr>
          <a:xfrm>
            <a:off x="8438563" y="1"/>
            <a:ext cx="2672808" cy="2493421"/>
          </a:xfrm>
          <a:custGeom>
            <a:avLst/>
            <a:gdLst>
              <a:gd name="connsiteX0" fmla="*/ 0 w 2672808"/>
              <a:gd name="connsiteY0" fmla="*/ 0 h 2493421"/>
              <a:gd name="connsiteX1" fmla="*/ 2672808 w 2672808"/>
              <a:gd name="connsiteY1" fmla="*/ 0 h 2493421"/>
              <a:gd name="connsiteX2" fmla="*/ 2672808 w 2672808"/>
              <a:gd name="connsiteY2" fmla="*/ 2221227 h 2493421"/>
              <a:gd name="connsiteX3" fmla="*/ 2385313 w 2672808"/>
              <a:gd name="connsiteY3" fmla="*/ 2493421 h 2493421"/>
              <a:gd name="connsiteX4" fmla="*/ 287495 w 2672808"/>
              <a:gd name="connsiteY4" fmla="*/ 2493421 h 2493421"/>
              <a:gd name="connsiteX5" fmla="*/ 0 w 2672808"/>
              <a:gd name="connsiteY5" fmla="*/ 2221227 h 24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2808" h="2493421">
                <a:moveTo>
                  <a:pt x="0" y="0"/>
                </a:moveTo>
                <a:lnTo>
                  <a:pt x="2672808" y="0"/>
                </a:lnTo>
                <a:lnTo>
                  <a:pt x="2672808" y="2221227"/>
                </a:lnTo>
                <a:cubicBezTo>
                  <a:pt x="2672808" y="2371557"/>
                  <a:pt x="2544095" y="2493421"/>
                  <a:pt x="2385313" y="2493421"/>
                </a:cubicBezTo>
                <a:lnTo>
                  <a:pt x="287495" y="2493421"/>
                </a:lnTo>
                <a:cubicBezTo>
                  <a:pt x="128714" y="2493421"/>
                  <a:pt x="0" y="2371557"/>
                  <a:pt x="0" y="2221227"/>
                </a:cubicBezTo>
                <a:close/>
              </a:path>
            </a:pathLst>
          </a:custGeom>
          <a:solidFill>
            <a:schemeClr val="bg1">
              <a:lumMod val="95000"/>
            </a:schemeClr>
          </a:solidFill>
          <a:ln w="25400">
            <a:noFill/>
          </a:ln>
        </p:spPr>
        <p:txBody>
          <a:bodyPr wrap="square" anchor="ctr">
            <a:noAutofit/>
          </a:bodyPr>
          <a:lstStyle>
            <a:lvl1pPr marL="0" indent="0" algn="ctr">
              <a:lnSpc>
                <a:spcPct val="100000"/>
              </a:lnSpc>
              <a:buNone/>
              <a:defRPr sz="1200">
                <a:solidFill>
                  <a:schemeClr val="tx1">
                    <a:lumMod val="75000"/>
                    <a:lumOff val="25000"/>
                  </a:schemeClr>
                </a:solidFill>
              </a:defRPr>
            </a:lvl1pPr>
          </a:lstStyle>
          <a:p>
            <a:r>
              <a:rPr lang="en-US" altLang="ko-KR" dirty="0"/>
              <a:t>Place Your Picture Here</a:t>
            </a:r>
            <a:endParaRPr lang="ko-KR" altLang="en-US" dirty="0"/>
          </a:p>
        </p:txBody>
      </p:sp>
      <p:sp>
        <p:nvSpPr>
          <p:cNvPr id="26" name="Freeform: Shape 67">
            <a:extLst>
              <a:ext uri="{FF2B5EF4-FFF2-40B4-BE49-F238E27FC236}">
                <a16:creationId xmlns:a16="http://schemas.microsoft.com/office/drawing/2014/main" id="{9B856AEE-ADC7-4DEB-9041-B378F5649335}"/>
              </a:ext>
            </a:extLst>
          </p:cNvPr>
          <p:cNvSpPr>
            <a:spLocks noGrp="1"/>
          </p:cNvSpPr>
          <p:nvPr>
            <p:ph type="pic" sz="quarter" idx="14" hasCustomPrompt="1"/>
          </p:nvPr>
        </p:nvSpPr>
        <p:spPr>
          <a:xfrm>
            <a:off x="1168921" y="3818265"/>
            <a:ext cx="2672808" cy="3039735"/>
          </a:xfrm>
          <a:custGeom>
            <a:avLst/>
            <a:gdLst>
              <a:gd name="connsiteX0" fmla="*/ 287495 w 2672808"/>
              <a:gd name="connsiteY0" fmla="*/ 0 h 3039735"/>
              <a:gd name="connsiteX1" fmla="*/ 542049 w 2672808"/>
              <a:gd name="connsiteY1" fmla="*/ 0 h 3039735"/>
              <a:gd name="connsiteX2" fmla="*/ 566725 w 2672808"/>
              <a:gd name="connsiteY2" fmla="*/ 23363 h 3039735"/>
              <a:gd name="connsiteX3" fmla="*/ 757670 w 2672808"/>
              <a:gd name="connsiteY3" fmla="*/ 204146 h 3039735"/>
              <a:gd name="connsiteX4" fmla="*/ 1903160 w 2672808"/>
              <a:gd name="connsiteY4" fmla="*/ 204146 h 3039735"/>
              <a:gd name="connsiteX5" fmla="*/ 2094105 w 2672808"/>
              <a:gd name="connsiteY5" fmla="*/ 23363 h 3039735"/>
              <a:gd name="connsiteX6" fmla="*/ 2118781 w 2672808"/>
              <a:gd name="connsiteY6" fmla="*/ 0 h 3039735"/>
              <a:gd name="connsiteX7" fmla="*/ 2385313 w 2672808"/>
              <a:gd name="connsiteY7" fmla="*/ 0 h 3039735"/>
              <a:gd name="connsiteX8" fmla="*/ 2672808 w 2672808"/>
              <a:gd name="connsiteY8" fmla="*/ 272193 h 3039735"/>
              <a:gd name="connsiteX9" fmla="*/ 2672808 w 2672808"/>
              <a:gd name="connsiteY9" fmla="*/ 3039735 h 3039735"/>
              <a:gd name="connsiteX10" fmla="*/ 0 w 2672808"/>
              <a:gd name="connsiteY10" fmla="*/ 3039735 h 3039735"/>
              <a:gd name="connsiteX11" fmla="*/ 0 w 2672808"/>
              <a:gd name="connsiteY11" fmla="*/ 272193 h 3039735"/>
              <a:gd name="connsiteX12" fmla="*/ 287495 w 2672808"/>
              <a:gd name="connsiteY12" fmla="*/ 0 h 3039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72808" h="3039735">
                <a:moveTo>
                  <a:pt x="287495" y="0"/>
                </a:moveTo>
                <a:lnTo>
                  <a:pt x="542049" y="0"/>
                </a:lnTo>
                <a:cubicBezTo>
                  <a:pt x="555645" y="0"/>
                  <a:pt x="566725" y="10435"/>
                  <a:pt x="566725" y="23363"/>
                </a:cubicBezTo>
                <a:cubicBezTo>
                  <a:pt x="566725" y="123224"/>
                  <a:pt x="652255" y="204146"/>
                  <a:pt x="757670" y="204146"/>
                </a:cubicBezTo>
                <a:lnTo>
                  <a:pt x="1903160" y="204146"/>
                </a:lnTo>
                <a:cubicBezTo>
                  <a:pt x="2008635" y="204146"/>
                  <a:pt x="2094105" y="123168"/>
                  <a:pt x="2094105" y="23363"/>
                </a:cubicBezTo>
                <a:cubicBezTo>
                  <a:pt x="2094105" y="10491"/>
                  <a:pt x="2105125" y="0"/>
                  <a:pt x="2118781" y="0"/>
                </a:cubicBezTo>
                <a:lnTo>
                  <a:pt x="2385313" y="0"/>
                </a:lnTo>
                <a:cubicBezTo>
                  <a:pt x="2544095" y="0"/>
                  <a:pt x="2672808" y="121864"/>
                  <a:pt x="2672808" y="272193"/>
                </a:cubicBezTo>
                <a:lnTo>
                  <a:pt x="2672808" y="3039735"/>
                </a:lnTo>
                <a:lnTo>
                  <a:pt x="0" y="3039735"/>
                </a:lnTo>
                <a:lnTo>
                  <a:pt x="0" y="272193"/>
                </a:lnTo>
                <a:cubicBezTo>
                  <a:pt x="0" y="121864"/>
                  <a:pt x="128714" y="0"/>
                  <a:pt x="287495" y="0"/>
                </a:cubicBezTo>
                <a:close/>
              </a:path>
            </a:pathLst>
          </a:custGeom>
          <a:solidFill>
            <a:schemeClr val="bg1">
              <a:lumMod val="95000"/>
            </a:schemeClr>
          </a:solidFill>
          <a:ln w="25400">
            <a:noFill/>
          </a:ln>
        </p:spPr>
        <p:txBody>
          <a:bodyPr wrap="square" anchor="ctr">
            <a:noAutofit/>
          </a:bodyPr>
          <a:lstStyle>
            <a:lvl1pPr marL="0" indent="0" algn="ctr">
              <a:lnSpc>
                <a:spcPct val="100000"/>
              </a:lnSpc>
              <a:buNone/>
              <a:defRPr sz="12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2445283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9A5893F2-A884-4E0F-A9DE-65AB9DBEC9F9}"/>
              </a:ext>
            </a:extLst>
          </p:cNvPr>
          <p:cNvSpPr>
            <a:spLocks noGrp="1"/>
          </p:cNvSpPr>
          <p:nvPr>
            <p:ph type="pic" idx="18" hasCustomPrompt="1"/>
          </p:nvPr>
        </p:nvSpPr>
        <p:spPr>
          <a:xfrm>
            <a:off x="3439889" y="1"/>
            <a:ext cx="2520000" cy="4725143"/>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Picture Placeholder 2">
            <a:extLst>
              <a:ext uri="{FF2B5EF4-FFF2-40B4-BE49-F238E27FC236}">
                <a16:creationId xmlns:a16="http://schemas.microsoft.com/office/drawing/2014/main" id="{D3E3E594-245D-49BF-A849-93434AD94294}"/>
              </a:ext>
            </a:extLst>
          </p:cNvPr>
          <p:cNvSpPr>
            <a:spLocks noGrp="1"/>
          </p:cNvSpPr>
          <p:nvPr>
            <p:ph type="pic" idx="19" hasCustomPrompt="1"/>
          </p:nvPr>
        </p:nvSpPr>
        <p:spPr>
          <a:xfrm>
            <a:off x="6235774" y="692696"/>
            <a:ext cx="2520000" cy="6165304"/>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9188379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87E22463-5978-48DC-BCAC-3E2F51E45250}"/>
              </a:ext>
            </a:extLst>
          </p:cNvPr>
          <p:cNvSpPr/>
          <p:nvPr userDrawn="1"/>
        </p:nvSpPr>
        <p:spPr>
          <a:xfrm>
            <a:off x="0" y="863125"/>
            <a:ext cx="6546079" cy="5131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그림 개체 틀 2">
            <a:extLst>
              <a:ext uri="{FF2B5EF4-FFF2-40B4-BE49-F238E27FC236}">
                <a16:creationId xmlns:a16="http://schemas.microsoft.com/office/drawing/2014/main" id="{7FC461A0-970C-4DEF-9409-12FF5610A666}"/>
              </a:ext>
            </a:extLst>
          </p:cNvPr>
          <p:cNvSpPr>
            <a:spLocks noGrp="1"/>
          </p:cNvSpPr>
          <p:nvPr>
            <p:ph type="pic" sz="quarter" idx="65" hasCustomPrompt="1"/>
          </p:nvPr>
        </p:nvSpPr>
        <p:spPr>
          <a:xfrm>
            <a:off x="6096000" y="2959216"/>
            <a:ext cx="6096000" cy="2700000"/>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750974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3727ADF3-242D-4FD7-A02C-43B21E3CAC42}"/>
              </a:ext>
            </a:extLst>
          </p:cNvPr>
          <p:cNvSpPr>
            <a:spLocks noGrp="1"/>
          </p:cNvSpPr>
          <p:nvPr>
            <p:ph type="pic" sz="quarter" idx="10" hasCustomPrompt="1"/>
          </p:nvPr>
        </p:nvSpPr>
        <p:spPr>
          <a:xfrm>
            <a:off x="5658418" y="2"/>
            <a:ext cx="6533583" cy="6857999"/>
          </a:xfrm>
          <a:custGeom>
            <a:avLst/>
            <a:gdLst>
              <a:gd name="connsiteX0" fmla="*/ 2592666 w 6533583"/>
              <a:gd name="connsiteY0" fmla="*/ 0 h 6857999"/>
              <a:gd name="connsiteX1" fmla="*/ 6533583 w 6533583"/>
              <a:gd name="connsiteY1" fmla="*/ 0 h 6857999"/>
              <a:gd name="connsiteX2" fmla="*/ 6533583 w 6533583"/>
              <a:gd name="connsiteY2" fmla="*/ 1085634 h 6857999"/>
              <a:gd name="connsiteX3" fmla="*/ 4351340 w 6533583"/>
              <a:gd name="connsiteY3" fmla="*/ 6857999 h 6857999"/>
              <a:gd name="connsiteX4" fmla="*/ 0 w 6533583"/>
              <a:gd name="connsiteY4" fmla="*/ 6857999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3583" h="6857999">
                <a:moveTo>
                  <a:pt x="2592666" y="0"/>
                </a:moveTo>
                <a:lnTo>
                  <a:pt x="6533583" y="0"/>
                </a:lnTo>
                <a:lnTo>
                  <a:pt x="6533583" y="1085634"/>
                </a:lnTo>
                <a:lnTo>
                  <a:pt x="4351340" y="6857999"/>
                </a:lnTo>
                <a:lnTo>
                  <a:pt x="0" y="6857999"/>
                </a:lnTo>
                <a:close/>
              </a:path>
            </a:pathLst>
          </a:cu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1800"/>
            </a:lvl1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39649280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6040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309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5990320"/>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90"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9" r:id="rId15"/>
    <p:sldLayoutId id="2147483688" r:id="rId16"/>
    <p:sldLayoutId id="2147483687" r:id="rId17"/>
    <p:sldLayoutId id="2147483671" r:id="rId18"/>
    <p:sldLayoutId id="2147483672"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free-powerpoint-templates-design.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hyperlink" Target="http://www.google.com/" TargetMode="External"/><Relationship Id="rId2" Type="http://schemas.openxmlformats.org/officeDocument/2006/relationships/hyperlink" Target="http://www.ebay.com/" TargetMode="External"/><Relationship Id="rId1" Type="http://schemas.openxmlformats.org/officeDocument/2006/relationships/slideLayout" Target="../slideLayouts/slideLayout3.xml"/><Relationship Id="rId6" Type="http://schemas.openxmlformats.org/officeDocument/2006/relationships/hyperlink" Target="http://www.ibm.com/" TargetMode="External"/><Relationship Id="rId5" Type="http://schemas.openxmlformats.org/officeDocument/2006/relationships/hyperlink" Target="http://www.intel.com/" TargetMode="External"/><Relationship Id="rId4" Type="http://schemas.openxmlformats.org/officeDocument/2006/relationships/hyperlink" Target="http://www.cisco.com/" TargetMode="External"/></Relationships>
</file>

<file path=ppt/slides/_rels/slide62.xml.rels><?xml version="1.0" encoding="UTF-8" standalone="yes"?>
<Relationships xmlns="http://schemas.openxmlformats.org/package/2006/relationships"><Relationship Id="rId3" Type="http://schemas.openxmlformats.org/officeDocument/2006/relationships/hyperlink" Target="http://www.chemdex.com/" TargetMode="External"/><Relationship Id="rId2" Type="http://schemas.openxmlformats.org/officeDocument/2006/relationships/hyperlink" Target="http://www.etovs.com/" TargetMode="External"/><Relationship Id="rId1" Type="http://schemas.openxmlformats.org/officeDocument/2006/relationships/slideLayout" Target="../slideLayouts/slideLayout3.xml"/><Relationship Id="rId5" Type="http://schemas.openxmlformats.org/officeDocument/2006/relationships/hyperlink" Target="http://www.drugstore.com/" TargetMode="External"/><Relationship Id="rId4" Type="http://schemas.openxmlformats.org/officeDocument/2006/relationships/hyperlink" Target="http://www.verticalnet.com/"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그룹 21">
            <a:extLst>
              <a:ext uri="{FF2B5EF4-FFF2-40B4-BE49-F238E27FC236}">
                <a16:creationId xmlns:a16="http://schemas.microsoft.com/office/drawing/2014/main" id="{17D37BB6-BA94-4617-B942-1F9B66EBC35E}"/>
              </a:ext>
            </a:extLst>
          </p:cNvPr>
          <p:cNvGrpSpPr/>
          <p:nvPr/>
        </p:nvGrpSpPr>
        <p:grpSpPr>
          <a:xfrm>
            <a:off x="7395410" y="557965"/>
            <a:ext cx="4395537" cy="1695360"/>
            <a:chOff x="3452949" y="1549719"/>
            <a:chExt cx="5286102" cy="3051104"/>
          </a:xfrm>
        </p:grpSpPr>
        <p:sp>
          <p:nvSpPr>
            <p:cNvPr id="23" name="TextBox 22">
              <a:hlinkClick r:id="rId2"/>
              <a:extLst>
                <a:ext uri="{FF2B5EF4-FFF2-40B4-BE49-F238E27FC236}">
                  <a16:creationId xmlns:a16="http://schemas.microsoft.com/office/drawing/2014/main" id="{D6A79285-3107-4BC0-8875-8EF27C571FEF}"/>
                </a:ext>
              </a:extLst>
            </p:cNvPr>
            <p:cNvSpPr txBox="1"/>
            <p:nvPr/>
          </p:nvSpPr>
          <p:spPr>
            <a:xfrm>
              <a:off x="3452950" y="4157704"/>
              <a:ext cx="5286101" cy="443119"/>
            </a:xfrm>
            <a:prstGeom prst="rect">
              <a:avLst/>
            </a:prstGeom>
            <a:noFill/>
          </p:spPr>
          <p:txBody>
            <a:bodyPr wrap="square" rtlCol="0" anchor="ctr">
              <a:spAutoFit/>
            </a:bodyPr>
            <a:lstStyle/>
            <a:p>
              <a:pPr algn="r"/>
              <a:endParaRPr lang="ko-KR" altLang="en-US" sz="1000" dirty="0">
                <a:solidFill>
                  <a:schemeClr val="tx1">
                    <a:lumMod val="75000"/>
                    <a:lumOff val="25000"/>
                  </a:schemeClr>
                </a:solidFill>
                <a:cs typeface="Arial" pitchFamily="34" charset="0"/>
              </a:endParaRPr>
            </a:p>
          </p:txBody>
        </p:sp>
        <p:sp>
          <p:nvSpPr>
            <p:cNvPr id="24" name="TextBox 23">
              <a:extLst>
                <a:ext uri="{FF2B5EF4-FFF2-40B4-BE49-F238E27FC236}">
                  <a16:creationId xmlns:a16="http://schemas.microsoft.com/office/drawing/2014/main" id="{C8B135A4-E404-492F-A148-A6DA3E196F2F}"/>
                </a:ext>
              </a:extLst>
            </p:cNvPr>
            <p:cNvSpPr txBox="1"/>
            <p:nvPr/>
          </p:nvSpPr>
          <p:spPr>
            <a:xfrm>
              <a:off x="3452949" y="1549719"/>
              <a:ext cx="5286102" cy="1661697"/>
            </a:xfrm>
            <a:prstGeom prst="rect">
              <a:avLst/>
            </a:prstGeom>
            <a:noFill/>
          </p:spPr>
          <p:txBody>
            <a:bodyPr wrap="square" rtlCol="0" anchor="ctr">
              <a:spAutoFit/>
            </a:bodyPr>
            <a:lstStyle/>
            <a:p>
              <a:pPr algn="r"/>
              <a:endParaRPr lang="en-US" sz="5400" dirty="0">
                <a:solidFill>
                  <a:schemeClr val="tx1">
                    <a:lumMod val="75000"/>
                    <a:lumOff val="25000"/>
                  </a:schemeClr>
                </a:solidFill>
                <a:latin typeface="+mj-lt"/>
              </a:endParaRPr>
            </a:p>
          </p:txBody>
        </p:sp>
      </p:grpSp>
      <p:grpSp>
        <p:nvGrpSpPr>
          <p:cNvPr id="9" name="Group 21">
            <a:extLst>
              <a:ext uri="{FF2B5EF4-FFF2-40B4-BE49-F238E27FC236}">
                <a16:creationId xmlns:a16="http://schemas.microsoft.com/office/drawing/2014/main" id="{39609DED-6354-46D3-B0D4-6AD725DAD6A1}"/>
              </a:ext>
            </a:extLst>
          </p:cNvPr>
          <p:cNvGrpSpPr/>
          <p:nvPr/>
        </p:nvGrpSpPr>
        <p:grpSpPr>
          <a:xfrm>
            <a:off x="7581900" y="2941550"/>
            <a:ext cx="4091940" cy="47700"/>
            <a:chOff x="1569493" y="491319"/>
            <a:chExt cx="7710985" cy="286603"/>
          </a:xfrm>
        </p:grpSpPr>
        <p:sp>
          <p:nvSpPr>
            <p:cNvPr id="10" name="Rectangle 16">
              <a:extLst>
                <a:ext uri="{FF2B5EF4-FFF2-40B4-BE49-F238E27FC236}">
                  <a16:creationId xmlns:a16="http://schemas.microsoft.com/office/drawing/2014/main" id="{CC719BB5-ABCF-4E15-BB7D-665C4EF0E488}"/>
                </a:ext>
              </a:extLst>
            </p:cNvPr>
            <p:cNvSpPr/>
            <p:nvPr userDrawn="1"/>
          </p:nvSpPr>
          <p:spPr>
            <a:xfrm>
              <a:off x="1569493" y="491319"/>
              <a:ext cx="1542197" cy="2866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7">
              <a:extLst>
                <a:ext uri="{FF2B5EF4-FFF2-40B4-BE49-F238E27FC236}">
                  <a16:creationId xmlns:a16="http://schemas.microsoft.com/office/drawing/2014/main" id="{C2B19788-D995-4B5F-90CC-1447D0D890D5}"/>
                </a:ext>
              </a:extLst>
            </p:cNvPr>
            <p:cNvSpPr/>
            <p:nvPr userDrawn="1"/>
          </p:nvSpPr>
          <p:spPr>
            <a:xfrm>
              <a:off x="3111690" y="491319"/>
              <a:ext cx="1542197" cy="286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8">
              <a:extLst>
                <a:ext uri="{FF2B5EF4-FFF2-40B4-BE49-F238E27FC236}">
                  <a16:creationId xmlns:a16="http://schemas.microsoft.com/office/drawing/2014/main" id="{DD631CA2-F1A9-442E-8E8D-A9767C9D8FA0}"/>
                </a:ext>
              </a:extLst>
            </p:cNvPr>
            <p:cNvSpPr/>
            <p:nvPr userDrawn="1"/>
          </p:nvSpPr>
          <p:spPr>
            <a:xfrm>
              <a:off x="4653887" y="491319"/>
              <a:ext cx="1542197" cy="28660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9">
              <a:extLst>
                <a:ext uri="{FF2B5EF4-FFF2-40B4-BE49-F238E27FC236}">
                  <a16:creationId xmlns:a16="http://schemas.microsoft.com/office/drawing/2014/main" id="{8DC021CC-DAF6-4FD8-AF3A-D61B6315DC60}"/>
                </a:ext>
              </a:extLst>
            </p:cNvPr>
            <p:cNvSpPr/>
            <p:nvPr userDrawn="1"/>
          </p:nvSpPr>
          <p:spPr>
            <a:xfrm>
              <a:off x="6196084" y="491319"/>
              <a:ext cx="1542197" cy="2866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20">
              <a:extLst>
                <a:ext uri="{FF2B5EF4-FFF2-40B4-BE49-F238E27FC236}">
                  <a16:creationId xmlns:a16="http://schemas.microsoft.com/office/drawing/2014/main" id="{5D7C0C87-D229-452F-980B-6B92A99CC5F8}"/>
                </a:ext>
              </a:extLst>
            </p:cNvPr>
            <p:cNvSpPr/>
            <p:nvPr userDrawn="1"/>
          </p:nvSpPr>
          <p:spPr>
            <a:xfrm>
              <a:off x="7738281" y="491319"/>
              <a:ext cx="1542197" cy="28660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2534CCC1-92F1-4F8A-B65F-08EE85D625C3}"/>
              </a:ext>
            </a:extLst>
          </p:cNvPr>
          <p:cNvSpPr txBox="1"/>
          <p:nvPr/>
        </p:nvSpPr>
        <p:spPr>
          <a:xfrm>
            <a:off x="6579870" y="1227380"/>
            <a:ext cx="6096000" cy="2123658"/>
          </a:xfrm>
          <a:prstGeom prst="rect">
            <a:avLst/>
          </a:prstGeom>
          <a:noFill/>
        </p:spPr>
        <p:txBody>
          <a:bodyPr wrap="square">
            <a:spAutoFit/>
          </a:bodyPr>
          <a:lstStyle/>
          <a:p>
            <a:pPr algn="ctr"/>
            <a:r>
              <a:rPr lang="ar-YE" sz="6600" dirty="0"/>
              <a:t>مقدمة في إدارة تقنية الاعمال</a:t>
            </a:r>
            <a:endParaRPr lang="en-US" sz="6600" dirty="0"/>
          </a:p>
        </p:txBody>
      </p:sp>
      <p:sp>
        <p:nvSpPr>
          <p:cNvPr id="16" name="TextBox 15">
            <a:extLst>
              <a:ext uri="{FF2B5EF4-FFF2-40B4-BE49-F238E27FC236}">
                <a16:creationId xmlns:a16="http://schemas.microsoft.com/office/drawing/2014/main" id="{2B96AC67-0015-4351-9190-32357058C061}"/>
              </a:ext>
            </a:extLst>
          </p:cNvPr>
          <p:cNvSpPr txBox="1"/>
          <p:nvPr/>
        </p:nvSpPr>
        <p:spPr>
          <a:xfrm>
            <a:off x="7788121" y="3560613"/>
            <a:ext cx="4497885" cy="707886"/>
          </a:xfrm>
          <a:prstGeom prst="rect">
            <a:avLst/>
          </a:prstGeom>
          <a:noFill/>
        </p:spPr>
        <p:txBody>
          <a:bodyPr wrap="square">
            <a:spAutoFit/>
          </a:bodyPr>
          <a:lstStyle/>
          <a:p>
            <a:pPr algn="ctr"/>
            <a:r>
              <a:rPr lang="ar-YE" sz="4000" dirty="0"/>
              <a:t>دكتور جمال الكميم</a:t>
            </a:r>
            <a:endParaRPr lang="ar-IQ" sz="4000" dirty="0"/>
          </a:p>
        </p:txBody>
      </p:sp>
    </p:spTree>
    <p:extLst>
      <p:ext uri="{BB962C8B-B14F-4D97-AF65-F5344CB8AC3E}">
        <p14:creationId xmlns:p14="http://schemas.microsoft.com/office/powerpoint/2010/main" val="3327739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50">
            <a:extLst>
              <a:ext uri="{FF2B5EF4-FFF2-40B4-BE49-F238E27FC236}">
                <a16:creationId xmlns:a16="http://schemas.microsoft.com/office/drawing/2014/main" id="{C660E8D6-5BA5-4C74-9101-FEA0DDE39024}"/>
              </a:ext>
            </a:extLst>
          </p:cNvPr>
          <p:cNvSpPr/>
          <p:nvPr/>
        </p:nvSpPr>
        <p:spPr>
          <a:xfrm flipH="1">
            <a:off x="4251333" y="2946325"/>
            <a:ext cx="1079210" cy="1059814"/>
          </a:xfrm>
          <a:prstGeom prst="rect">
            <a:avLst/>
          </a:prstGeom>
          <a:solidFill>
            <a:schemeClr val="accent4"/>
          </a:solidFill>
          <a:ln>
            <a:noFill/>
          </a:ln>
          <a:scene3d>
            <a:camera prst="perspectiveRight">
              <a:rot lat="600000" lon="3000000" rev="0"/>
            </a:camera>
            <a:lightRig rig="balanced" dir="t"/>
          </a:scene3d>
          <a:sp3d extrusionH="1079500" prstMaterial="matte">
            <a:bevelT w="0" h="0"/>
            <a:extrusionClr>
              <a:schemeClr val="accent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YE" altLang="ko-KR" sz="54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cs typeface="Arial" pitchFamily="34" charset="0"/>
              </a:rPr>
              <a:t>3</a:t>
            </a:r>
            <a:endParaRPr lang="ko-KR" altLang="en-US" sz="54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cs typeface="Arial" pitchFamily="34" charset="0"/>
            </a:endParaRPr>
          </a:p>
        </p:txBody>
      </p:sp>
      <p:sp>
        <p:nvSpPr>
          <p:cNvPr id="50" name="Rectangle 48">
            <a:extLst>
              <a:ext uri="{FF2B5EF4-FFF2-40B4-BE49-F238E27FC236}">
                <a16:creationId xmlns:a16="http://schemas.microsoft.com/office/drawing/2014/main" id="{D4CC8C98-8AA2-43CE-8A06-B4F0353B9027}"/>
              </a:ext>
            </a:extLst>
          </p:cNvPr>
          <p:cNvSpPr/>
          <p:nvPr/>
        </p:nvSpPr>
        <p:spPr>
          <a:xfrm flipH="1">
            <a:off x="2201850" y="2924500"/>
            <a:ext cx="1079210" cy="1059814"/>
          </a:xfrm>
          <a:prstGeom prst="rect">
            <a:avLst/>
          </a:prstGeom>
          <a:solidFill>
            <a:schemeClr val="accent3"/>
          </a:solidFill>
          <a:ln>
            <a:noFill/>
          </a:ln>
          <a:scene3d>
            <a:camera prst="perspectiveRight">
              <a:rot lat="600000" lon="3000000" rev="0"/>
            </a:camera>
            <a:lightRig rig="balanced" dir="t"/>
          </a:scene3d>
          <a:sp3d extrusionH="1079500" prstMaterial="matte">
            <a:bevelT w="0" h="0"/>
            <a:extrusionClr>
              <a:schemeClr val="accent3"/>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YE" altLang="ko-KR" sz="54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cs typeface="Arial" pitchFamily="34" charset="0"/>
              </a:rPr>
              <a:t>4</a:t>
            </a:r>
            <a:endParaRPr lang="ko-KR" altLang="en-US" sz="54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cs typeface="Arial" pitchFamily="34" charset="0"/>
            </a:endParaRPr>
          </a:p>
        </p:txBody>
      </p:sp>
      <p:sp>
        <p:nvSpPr>
          <p:cNvPr id="47" name="Rectangle 46">
            <a:extLst>
              <a:ext uri="{FF2B5EF4-FFF2-40B4-BE49-F238E27FC236}">
                <a16:creationId xmlns:a16="http://schemas.microsoft.com/office/drawing/2014/main" id="{61ED634C-DB53-4FA2-95FA-35DD47F003FE}"/>
              </a:ext>
            </a:extLst>
          </p:cNvPr>
          <p:cNvSpPr/>
          <p:nvPr/>
        </p:nvSpPr>
        <p:spPr>
          <a:xfrm flipH="1">
            <a:off x="8323337" y="2993369"/>
            <a:ext cx="1079210" cy="1059814"/>
          </a:xfrm>
          <a:prstGeom prst="rect">
            <a:avLst/>
          </a:prstGeom>
          <a:solidFill>
            <a:schemeClr val="accent6"/>
          </a:solidFill>
          <a:ln>
            <a:noFill/>
          </a:ln>
          <a:scene3d>
            <a:camera prst="perspectiveRight">
              <a:rot lat="600000" lon="3000000" rev="0"/>
            </a:camera>
            <a:lightRig rig="balanced" dir="t"/>
          </a:scene3d>
          <a:sp3d extrusionH="1079500" prstMaterial="matte">
            <a:bevelT w="0" h="0"/>
            <a:extrusionClr>
              <a:schemeClr val="accent6"/>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YE" altLang="ko-KR" sz="54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cs typeface="Arial" pitchFamily="34" charset="0"/>
              </a:rPr>
              <a:t>1</a:t>
            </a:r>
            <a:endParaRPr lang="ko-KR" altLang="en-US" sz="54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cs typeface="Arial" pitchFamily="34" charset="0"/>
            </a:endParaRPr>
          </a:p>
        </p:txBody>
      </p:sp>
      <p:sp>
        <p:nvSpPr>
          <p:cNvPr id="2" name="Text Placeholder 1">
            <a:extLst>
              <a:ext uri="{FF2B5EF4-FFF2-40B4-BE49-F238E27FC236}">
                <a16:creationId xmlns:a16="http://schemas.microsoft.com/office/drawing/2014/main" id="{D9B85F3A-0D98-4AE5-8CED-AA4A4CF82188}"/>
              </a:ext>
            </a:extLst>
          </p:cNvPr>
          <p:cNvSpPr>
            <a:spLocks noGrp="1"/>
          </p:cNvSpPr>
          <p:nvPr>
            <p:ph type="body" sz="quarter" idx="10"/>
          </p:nvPr>
        </p:nvSpPr>
        <p:spPr/>
        <p:txBody>
          <a:bodyPr/>
          <a:lstStyle/>
          <a:p>
            <a:pPr rtl="1"/>
            <a:r>
              <a:rPr lang="ar-YE" dirty="0"/>
              <a:t>مواضيع المحاضرة</a:t>
            </a:r>
            <a:endParaRPr lang="en-US" dirty="0"/>
          </a:p>
        </p:txBody>
      </p:sp>
      <p:sp>
        <p:nvSpPr>
          <p:cNvPr id="4" name="Rectangle 46">
            <a:extLst>
              <a:ext uri="{FF2B5EF4-FFF2-40B4-BE49-F238E27FC236}">
                <a16:creationId xmlns:a16="http://schemas.microsoft.com/office/drawing/2014/main" id="{B758164B-6F48-460E-A2CA-5DC8A1F59BA4}"/>
              </a:ext>
            </a:extLst>
          </p:cNvPr>
          <p:cNvSpPr/>
          <p:nvPr/>
        </p:nvSpPr>
        <p:spPr>
          <a:xfrm flipH="1">
            <a:off x="6287335" y="2993369"/>
            <a:ext cx="1079210" cy="1059814"/>
          </a:xfrm>
          <a:prstGeom prst="rect">
            <a:avLst/>
          </a:prstGeom>
          <a:solidFill>
            <a:schemeClr val="accent5"/>
          </a:solidFill>
          <a:ln>
            <a:noFill/>
          </a:ln>
          <a:scene3d>
            <a:camera prst="perspectiveRight">
              <a:rot lat="600000" lon="3000000" rev="0"/>
            </a:camera>
            <a:lightRig rig="balanced" dir="t"/>
          </a:scene3d>
          <a:sp3d extrusionH="1079500" prstMaterial="matte">
            <a:bevelT w="0" h="0"/>
            <a:extrusionClr>
              <a:schemeClr val="accent5"/>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YE" altLang="ko-KR" sz="54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cs typeface="Arial" pitchFamily="34" charset="0"/>
              </a:rPr>
              <a:t>2</a:t>
            </a:r>
            <a:endParaRPr lang="ko-KR" altLang="en-US" sz="5400" b="1" spc="50" dirty="0">
              <a:ln w="13500">
                <a:solidFill>
                  <a:schemeClr val="accent1">
                    <a:shade val="2500"/>
                    <a:alpha val="6500"/>
                  </a:schemeClr>
                </a:solidFill>
                <a:prstDash val="solid"/>
              </a:ln>
              <a:solidFill>
                <a:schemeClr val="bg1"/>
              </a:solidFill>
              <a:effectLst>
                <a:innerShdw blurRad="50900" dist="38500" dir="13500000">
                  <a:srgbClr val="000000">
                    <a:alpha val="60000"/>
                  </a:srgbClr>
                </a:innerShdw>
              </a:effectLst>
              <a:cs typeface="Arial" pitchFamily="34" charset="0"/>
            </a:endParaRPr>
          </a:p>
        </p:txBody>
      </p:sp>
      <p:sp>
        <p:nvSpPr>
          <p:cNvPr id="27" name="직사각형 113">
            <a:extLst>
              <a:ext uri="{FF2B5EF4-FFF2-40B4-BE49-F238E27FC236}">
                <a16:creationId xmlns:a16="http://schemas.microsoft.com/office/drawing/2014/main" id="{3DF77C04-81E7-462E-8ABD-F8E6634BD933}"/>
              </a:ext>
            </a:extLst>
          </p:cNvPr>
          <p:cNvSpPr>
            <a:spLocks noChangeArrowheads="1"/>
          </p:cNvSpPr>
          <p:nvPr/>
        </p:nvSpPr>
        <p:spPr bwMode="auto">
          <a:xfrm>
            <a:off x="10128682" y="3483398"/>
            <a:ext cx="866188" cy="461665"/>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rtl="1"/>
            <a:r>
              <a:rPr lang="en-US" altLang="ko-KR" sz="2400" b="1" dirty="0">
                <a:solidFill>
                  <a:schemeClr val="bg1"/>
                </a:solidFill>
                <a:cs typeface="Arial" charset="0"/>
              </a:rPr>
              <a:t>2024</a:t>
            </a:r>
            <a:endParaRPr lang="ko-KR" altLang="en-US" sz="2400" dirty="0">
              <a:solidFill>
                <a:schemeClr val="bg1"/>
              </a:solidFill>
            </a:endParaRPr>
          </a:p>
        </p:txBody>
      </p:sp>
      <p:sp>
        <p:nvSpPr>
          <p:cNvPr id="28" name="직사각형 113">
            <a:extLst>
              <a:ext uri="{FF2B5EF4-FFF2-40B4-BE49-F238E27FC236}">
                <a16:creationId xmlns:a16="http://schemas.microsoft.com/office/drawing/2014/main" id="{1A2035C6-E7DA-48E6-9110-56173E3F07E0}"/>
              </a:ext>
            </a:extLst>
          </p:cNvPr>
          <p:cNvSpPr>
            <a:spLocks noChangeArrowheads="1"/>
          </p:cNvSpPr>
          <p:nvPr/>
        </p:nvSpPr>
        <p:spPr bwMode="auto">
          <a:xfrm>
            <a:off x="8741221" y="3228827"/>
            <a:ext cx="866188" cy="461665"/>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rtl="1"/>
            <a:endParaRPr lang="ko-KR" altLang="en-US" sz="2400" dirty="0">
              <a:solidFill>
                <a:schemeClr val="bg1"/>
              </a:solidFill>
            </a:endParaRPr>
          </a:p>
        </p:txBody>
      </p:sp>
      <p:sp>
        <p:nvSpPr>
          <p:cNvPr id="46" name="TextBox 45">
            <a:extLst>
              <a:ext uri="{FF2B5EF4-FFF2-40B4-BE49-F238E27FC236}">
                <a16:creationId xmlns:a16="http://schemas.microsoft.com/office/drawing/2014/main" id="{69479C46-A12B-4E89-8EFD-E67340FCC451}"/>
              </a:ext>
            </a:extLst>
          </p:cNvPr>
          <p:cNvSpPr txBox="1"/>
          <p:nvPr/>
        </p:nvSpPr>
        <p:spPr>
          <a:xfrm>
            <a:off x="8634710" y="4440572"/>
            <a:ext cx="1079210" cy="830997"/>
          </a:xfrm>
          <a:prstGeom prst="rect">
            <a:avLst/>
          </a:prstGeom>
          <a:solidFill>
            <a:srgbClr val="FFC000"/>
          </a:solidFill>
        </p:spPr>
        <p:txBody>
          <a:bodyPr wrap="square">
            <a:spAutoFit/>
          </a:bodyPr>
          <a:lstStyle/>
          <a:p>
            <a:pPr algn="ctr" rtl="1"/>
            <a:r>
              <a:rPr lang="ar-YE" sz="2400" dirty="0"/>
              <a:t>توصيف المقرر</a:t>
            </a:r>
            <a:endParaRPr lang="ar-IQ" sz="2400" dirty="0"/>
          </a:p>
        </p:txBody>
      </p:sp>
      <p:sp>
        <p:nvSpPr>
          <p:cNvPr id="48" name="TextBox 47">
            <a:extLst>
              <a:ext uri="{FF2B5EF4-FFF2-40B4-BE49-F238E27FC236}">
                <a16:creationId xmlns:a16="http://schemas.microsoft.com/office/drawing/2014/main" id="{87A75EC7-5C50-4E60-9776-E31BC39E4199}"/>
              </a:ext>
            </a:extLst>
          </p:cNvPr>
          <p:cNvSpPr txBox="1"/>
          <p:nvPr/>
        </p:nvSpPr>
        <p:spPr>
          <a:xfrm>
            <a:off x="6512076" y="4460978"/>
            <a:ext cx="1369201" cy="830997"/>
          </a:xfrm>
          <a:prstGeom prst="rect">
            <a:avLst/>
          </a:prstGeom>
          <a:solidFill>
            <a:schemeClr val="accent4">
              <a:lumMod val="60000"/>
              <a:lumOff val="40000"/>
            </a:schemeClr>
          </a:solidFill>
        </p:spPr>
        <p:txBody>
          <a:bodyPr wrap="square">
            <a:spAutoFit/>
          </a:bodyPr>
          <a:lstStyle/>
          <a:p>
            <a:pPr algn="ctr" rtl="1"/>
            <a:r>
              <a:rPr lang="ar-YE" sz="2400" dirty="0"/>
              <a:t>موضوعات المقرر</a:t>
            </a:r>
            <a:endParaRPr lang="ar-IQ" sz="2400" dirty="0"/>
          </a:p>
        </p:txBody>
      </p:sp>
      <p:sp>
        <p:nvSpPr>
          <p:cNvPr id="51" name="TextBox 50">
            <a:extLst>
              <a:ext uri="{FF2B5EF4-FFF2-40B4-BE49-F238E27FC236}">
                <a16:creationId xmlns:a16="http://schemas.microsoft.com/office/drawing/2014/main" id="{30A4407E-DEE4-4805-9603-061E61C9525C}"/>
              </a:ext>
            </a:extLst>
          </p:cNvPr>
          <p:cNvSpPr txBox="1"/>
          <p:nvPr/>
        </p:nvSpPr>
        <p:spPr>
          <a:xfrm>
            <a:off x="4617004" y="4488754"/>
            <a:ext cx="989985" cy="1938992"/>
          </a:xfrm>
          <a:prstGeom prst="rect">
            <a:avLst/>
          </a:prstGeom>
          <a:solidFill>
            <a:schemeClr val="accent5">
              <a:lumMod val="60000"/>
              <a:lumOff val="40000"/>
            </a:schemeClr>
          </a:solidFill>
        </p:spPr>
        <p:txBody>
          <a:bodyPr wrap="square">
            <a:spAutoFit/>
          </a:bodyPr>
          <a:lstStyle>
            <a:defPPr>
              <a:defRPr lang="en-US"/>
            </a:defPPr>
            <a:lvl1pPr algn="ctr" rtl="1">
              <a:defRPr sz="2400"/>
            </a:lvl1pPr>
          </a:lstStyle>
          <a:p>
            <a:r>
              <a:rPr lang="ar-YE" dirty="0"/>
              <a:t>مقدمة في إدارة تقنية الاعمال</a:t>
            </a:r>
          </a:p>
        </p:txBody>
      </p:sp>
      <p:sp>
        <p:nvSpPr>
          <p:cNvPr id="52" name="TextBox 51">
            <a:extLst>
              <a:ext uri="{FF2B5EF4-FFF2-40B4-BE49-F238E27FC236}">
                <a16:creationId xmlns:a16="http://schemas.microsoft.com/office/drawing/2014/main" id="{0167EC71-829C-442F-92B9-F474F513B636}"/>
              </a:ext>
            </a:extLst>
          </p:cNvPr>
          <p:cNvSpPr txBox="1"/>
          <p:nvPr/>
        </p:nvSpPr>
        <p:spPr>
          <a:xfrm>
            <a:off x="2423887" y="4488754"/>
            <a:ext cx="1182166" cy="830997"/>
          </a:xfrm>
          <a:prstGeom prst="rect">
            <a:avLst/>
          </a:prstGeom>
          <a:solidFill>
            <a:srgbClr val="FF0000"/>
          </a:solidFill>
        </p:spPr>
        <p:txBody>
          <a:bodyPr wrap="square">
            <a:spAutoFit/>
          </a:bodyPr>
          <a:lstStyle/>
          <a:p>
            <a:pPr algn="ctr"/>
            <a:r>
              <a:rPr lang="ar-YE" sz="2400" b="1" dirty="0">
                <a:solidFill>
                  <a:schemeClr val="bg2"/>
                </a:solidFill>
              </a:rPr>
              <a:t>المحاضرة القادمة</a:t>
            </a:r>
          </a:p>
        </p:txBody>
      </p:sp>
    </p:spTree>
    <p:extLst>
      <p:ext uri="{BB962C8B-B14F-4D97-AF65-F5344CB8AC3E}">
        <p14:creationId xmlns:p14="http://schemas.microsoft.com/office/powerpoint/2010/main" val="3979649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6BC0568-02C4-4CE6-BC1B-FB8B2CB87F66}"/>
              </a:ext>
            </a:extLst>
          </p:cNvPr>
          <p:cNvPicPr>
            <a:picLocks noChangeAspect="1"/>
          </p:cNvPicPr>
          <p:nvPr/>
        </p:nvPicPr>
        <p:blipFill rotWithShape="1">
          <a:blip r:embed="rId2">
            <a:extLst>
              <a:ext uri="{28A0092B-C50C-407E-A947-70E740481C1C}">
                <a14:useLocalDpi xmlns:a14="http://schemas.microsoft.com/office/drawing/2010/main" val="0"/>
              </a:ext>
            </a:extLst>
          </a:blip>
          <a:srcRect l="197" t="-522" r="236" b="48537"/>
          <a:stretch/>
        </p:blipFill>
        <p:spPr>
          <a:xfrm>
            <a:off x="1377029" y="1354666"/>
            <a:ext cx="9157332" cy="4620382"/>
          </a:xfrm>
          <a:prstGeom prst="rect">
            <a:avLst/>
          </a:prstGeom>
          <a:effectLst>
            <a:softEdge rad="241300"/>
          </a:effectLst>
        </p:spPr>
      </p:pic>
      <p:sp>
        <p:nvSpPr>
          <p:cNvPr id="2" name="عنصر نائب للنص 1">
            <a:extLst>
              <a:ext uri="{FF2B5EF4-FFF2-40B4-BE49-F238E27FC236}">
                <a16:creationId xmlns:a16="http://schemas.microsoft.com/office/drawing/2014/main" id="{7504E57D-36D0-A418-0120-3AD762B7505C}"/>
              </a:ext>
            </a:extLst>
          </p:cNvPr>
          <p:cNvSpPr>
            <a:spLocks noGrp="1"/>
          </p:cNvSpPr>
          <p:nvPr>
            <p:ph type="body" sz="quarter" idx="10"/>
          </p:nvPr>
        </p:nvSpPr>
        <p:spPr>
          <a:solidFill>
            <a:schemeClr val="accent4">
              <a:lumMod val="75000"/>
            </a:schemeClr>
          </a:solidFill>
        </p:spPr>
        <p:txBody>
          <a:bodyPr/>
          <a:lstStyle/>
          <a:p>
            <a:r>
              <a:rPr lang="ar-YE" dirty="0"/>
              <a:t>توصيفـ(1)المقرر</a:t>
            </a:r>
            <a:endParaRPr lang="en-US" dirty="0"/>
          </a:p>
        </p:txBody>
      </p:sp>
    </p:spTree>
    <p:extLst>
      <p:ext uri="{BB962C8B-B14F-4D97-AF65-F5344CB8AC3E}">
        <p14:creationId xmlns:p14="http://schemas.microsoft.com/office/powerpoint/2010/main" val="3839601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1C777A0C-2C8E-407B-964A-77D7D8C2CB18}"/>
              </a:ext>
            </a:extLst>
          </p:cNvPr>
          <p:cNvSpPr txBox="1"/>
          <p:nvPr/>
        </p:nvSpPr>
        <p:spPr>
          <a:xfrm>
            <a:off x="464849" y="848470"/>
            <a:ext cx="8588702" cy="4617739"/>
          </a:xfrm>
          <a:prstGeom prst="rect">
            <a:avLst/>
          </a:prstGeom>
          <a:solidFill>
            <a:srgbClr val="FFC000"/>
          </a:solidFill>
        </p:spPr>
        <p:txBody>
          <a:bodyPr wrap="square">
            <a:spAutoFit/>
          </a:bodyPr>
          <a:lstStyle/>
          <a:p>
            <a:pPr marL="0" indent="0" algn="ctr" rtl="1">
              <a:lnSpc>
                <a:spcPct val="150000"/>
              </a:lnSpc>
              <a:buNone/>
            </a:pPr>
            <a:r>
              <a:rPr lang="ar-SA" sz="4000" b="1" dirty="0">
                <a:effectLst/>
                <a:latin typeface="Calibri" panose="020F0502020204030204" pitchFamily="34" charset="0"/>
                <a:ea typeface="Calibri" panose="020F0502020204030204" pitchFamily="34" charset="0"/>
                <a:cs typeface="Arial" panose="020B0604020202020204" pitchFamily="34" charset="0"/>
              </a:rPr>
              <a:t>مقرر إدارة تقنية الأعمال يهدف إلى</a:t>
            </a:r>
            <a:r>
              <a:rPr lang="ar-SA" sz="3200" b="1" dirty="0">
                <a:effectLst/>
                <a:latin typeface="Calibri" panose="020F0502020204030204" pitchFamily="34" charset="0"/>
                <a:ea typeface="Calibri" panose="020F0502020204030204" pitchFamily="34" charset="0"/>
                <a:cs typeface="Arial" panose="020B0604020202020204" pitchFamily="34" charset="0"/>
              </a:rPr>
              <a:t> تزويد الطلاب بالمعرفة والمهارات اللازمة لفهم وتطبيق التقنيات الحديثة في إدارة الأعمال. يتناول المقرر موضوعات مثل نظم المعلومات الإدارية، تحليل عمليات الأعمال، وتطبيق تقنيات ذكاء الأعمال. كما يركز على كيفية استخدام التكنولوجيا لتحسين الكفاءة والإنتاجية في </a:t>
            </a:r>
            <a:r>
              <a:rPr lang="ar-YE" sz="3200" b="1" dirty="0">
                <a:effectLst/>
                <a:latin typeface="Calibri" panose="020F0502020204030204" pitchFamily="34" charset="0"/>
                <a:ea typeface="Calibri" panose="020F0502020204030204" pitchFamily="34" charset="0"/>
                <a:cs typeface="Arial" panose="020B0604020202020204" pitchFamily="34" charset="0"/>
              </a:rPr>
              <a:t>المنظمات الحديثة</a:t>
            </a:r>
            <a:endParaRPr lang="ar-IQ" sz="5400" dirty="0"/>
          </a:p>
        </p:txBody>
      </p:sp>
      <p:sp>
        <p:nvSpPr>
          <p:cNvPr id="53" name="자유형: 도형 24">
            <a:extLst>
              <a:ext uri="{FF2B5EF4-FFF2-40B4-BE49-F238E27FC236}">
                <a16:creationId xmlns:a16="http://schemas.microsoft.com/office/drawing/2014/main" id="{D1404A45-A1BF-40CE-A135-C47C311C9310}"/>
              </a:ext>
            </a:extLst>
          </p:cNvPr>
          <p:cNvSpPr/>
          <p:nvPr/>
        </p:nvSpPr>
        <p:spPr>
          <a:xfrm>
            <a:off x="9071719" y="1850497"/>
            <a:ext cx="2637264"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rgbClr val="FF0000"/>
          </a:solidFill>
          <a:ln w="9525" cap="flat">
            <a:noFill/>
            <a:prstDash val="solid"/>
            <a:miter/>
          </a:ln>
        </p:spPr>
        <p:txBody>
          <a:bodyPr rtlCol="0" anchor="ctr"/>
          <a:lstStyle/>
          <a:p>
            <a:pPr algn="ctr"/>
            <a:r>
              <a:rPr lang="ar-YE" sz="3200" b="1" dirty="0">
                <a:solidFill>
                  <a:schemeClr val="bg2"/>
                </a:solidFill>
              </a:rPr>
              <a:t>توصيف المقرر</a:t>
            </a:r>
            <a:endParaRPr lang="en-US" sz="3200" b="1" dirty="0">
              <a:solidFill>
                <a:schemeClr val="bg2"/>
              </a:solidFill>
            </a:endParaRPr>
          </a:p>
        </p:txBody>
      </p:sp>
    </p:spTree>
    <p:extLst>
      <p:ext uri="{BB962C8B-B14F-4D97-AF65-F5344CB8AC3E}">
        <p14:creationId xmlns:p14="http://schemas.microsoft.com/office/powerpoint/2010/main" val="2737942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4088F-E3F6-2027-9814-08AF9375FDFA}"/>
            </a:ext>
          </a:extLst>
        </p:cNvPr>
        <p:cNvGrpSpPr/>
        <p:nvPr/>
      </p:nvGrpSpPr>
      <p:grpSpPr>
        <a:xfrm>
          <a:off x="0" y="0"/>
          <a:ext cx="0" cy="0"/>
          <a:chOff x="0" y="0"/>
          <a:chExt cx="0" cy="0"/>
        </a:xfrm>
      </p:grpSpPr>
      <p:sp>
        <p:nvSpPr>
          <p:cNvPr id="53" name="자유형: 도형 24">
            <a:extLst>
              <a:ext uri="{FF2B5EF4-FFF2-40B4-BE49-F238E27FC236}">
                <a16:creationId xmlns:a16="http://schemas.microsoft.com/office/drawing/2014/main" id="{9A58BF25-0DB4-3B98-0470-09233515EEAB}"/>
              </a:ext>
            </a:extLst>
          </p:cNvPr>
          <p:cNvSpPr/>
          <p:nvPr/>
        </p:nvSpPr>
        <p:spPr>
          <a:xfrm>
            <a:off x="9071719" y="1850497"/>
            <a:ext cx="2637264"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5">
              <a:lumMod val="75000"/>
            </a:schemeClr>
          </a:solidFill>
          <a:ln w="9525" cap="flat">
            <a:noFill/>
            <a:prstDash val="solid"/>
            <a:miter/>
          </a:ln>
        </p:spPr>
        <p:txBody>
          <a:bodyPr rtlCol="0" anchor="ctr"/>
          <a:lstStyle/>
          <a:p>
            <a:pPr algn="ctr"/>
            <a:r>
              <a:rPr lang="ar-YE" sz="3200" b="1" dirty="0">
                <a:solidFill>
                  <a:schemeClr val="bg2"/>
                </a:solidFill>
              </a:rPr>
              <a:t>موضوعات المقرر</a:t>
            </a:r>
            <a:endParaRPr lang="en-US" sz="3200" b="1" dirty="0">
              <a:solidFill>
                <a:schemeClr val="bg2"/>
              </a:solidFill>
            </a:endParaRPr>
          </a:p>
        </p:txBody>
      </p:sp>
      <p:sp>
        <p:nvSpPr>
          <p:cNvPr id="2" name="TextBox 49">
            <a:extLst>
              <a:ext uri="{FF2B5EF4-FFF2-40B4-BE49-F238E27FC236}">
                <a16:creationId xmlns:a16="http://schemas.microsoft.com/office/drawing/2014/main" id="{577D4E03-C025-349B-CF7B-4C9063E979F7}"/>
              </a:ext>
            </a:extLst>
          </p:cNvPr>
          <p:cNvSpPr txBox="1"/>
          <p:nvPr/>
        </p:nvSpPr>
        <p:spPr>
          <a:xfrm>
            <a:off x="587038" y="719985"/>
            <a:ext cx="8588702" cy="5440720"/>
          </a:xfrm>
          <a:prstGeom prst="rect">
            <a:avLst/>
          </a:prstGeom>
          <a:solidFill>
            <a:srgbClr val="FFC000"/>
          </a:solidFill>
        </p:spPr>
        <p:txBody>
          <a:bodyPr wrap="square">
            <a:spAutoFit/>
          </a:bodyPr>
          <a:lstStyle/>
          <a:p>
            <a:pPr marL="0" indent="0" algn="r" rtl="1">
              <a:lnSpc>
                <a:spcPct val="150000"/>
              </a:lnSpc>
              <a:buNone/>
            </a:pPr>
            <a:r>
              <a:rPr lang="ar-SA" sz="2400" b="1" dirty="0">
                <a:latin typeface="Calibri" panose="020F0502020204030204" pitchFamily="34" charset="0"/>
                <a:ea typeface="Calibri" panose="020F0502020204030204" pitchFamily="34" charset="0"/>
                <a:cs typeface="Arial" panose="020B0604020202020204" pitchFamily="34" charset="0"/>
              </a:rPr>
              <a:t>مقرر إدارة تقنية الأعمال مقرر إدارة تقنية الأعمال يتناول مجموعة متنوعة من الموضوعات في </a:t>
            </a:r>
            <a:r>
              <a:rPr lang="ar-YE" sz="2400" b="1" dirty="0">
                <a:latin typeface="Calibri" panose="020F0502020204030204" pitchFamily="34" charset="0"/>
                <a:ea typeface="Calibri" panose="020F0502020204030204" pitchFamily="34" charset="0"/>
                <a:cs typeface="Arial" panose="020B0604020202020204" pitchFamily="34" charset="0"/>
              </a:rPr>
              <a:t>المنظمات الحديثة منها:</a:t>
            </a:r>
          </a:p>
          <a:p>
            <a:pPr marL="342900" lvl="0" indent="-342900" algn="just" rtl="1">
              <a:spcBef>
                <a:spcPts val="500"/>
              </a:spcBef>
              <a:spcAft>
                <a:spcPts val="1000"/>
              </a:spcAft>
              <a:buFont typeface="+mj-lt"/>
              <a:buAutoNum type="arabicPeriod"/>
              <a:tabLst>
                <a:tab pos="457200" algn="l"/>
                <a:tab pos="914400" algn="l"/>
              </a:tabLst>
            </a:pPr>
            <a:r>
              <a:rPr lang="ar-SA" sz="1800" b="1" dirty="0">
                <a:effectLst/>
                <a:latin typeface="Calibri" panose="020F0502020204030204" pitchFamily="34" charset="0"/>
                <a:ea typeface="Calibri" panose="020F0502020204030204" pitchFamily="34" charset="0"/>
                <a:cs typeface="Arial" panose="020B0604020202020204" pitchFamily="34" charset="0"/>
              </a:rPr>
              <a:t>نظم المعلومات الإدارية</a:t>
            </a:r>
            <a:r>
              <a:rPr lang="en-US" sz="1800" b="1" dirty="0">
                <a:effectLst/>
                <a:latin typeface="Calibri" panose="020F0502020204030204" pitchFamily="34" charset="0"/>
                <a:ea typeface="Calibri" panose="020F0502020204030204" pitchFamily="34" charset="0"/>
                <a:cs typeface="Arial" panose="020B0604020202020204" pitchFamily="34" charset="0"/>
              </a:rPr>
              <a:t>: </a:t>
            </a:r>
            <a:r>
              <a:rPr lang="ar-SA" sz="1800" b="1" dirty="0">
                <a:effectLst/>
                <a:latin typeface="Calibri" panose="020F0502020204030204" pitchFamily="34" charset="0"/>
                <a:ea typeface="Calibri" panose="020F0502020204030204" pitchFamily="34" charset="0"/>
                <a:cs typeface="Arial" panose="020B0604020202020204" pitchFamily="34" charset="0"/>
              </a:rPr>
              <a:t>دراسة كيفية استخدام نظم المعلومات لدعم عمليات الإدارة واتخاذ القرارات</a:t>
            </a:r>
            <a:r>
              <a:rPr lang="en-US" sz="1800" b="1" dirty="0">
                <a:effectLst/>
                <a:latin typeface="Calibri" panose="020F0502020204030204" pitchFamily="34" charset="0"/>
                <a:ea typeface="Calibri" panose="020F0502020204030204" pitchFamily="34" charset="0"/>
                <a:cs typeface="Arial" panose="020B0604020202020204" pitchFamily="34" charset="0"/>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spcBef>
                <a:spcPts val="500"/>
              </a:spcBef>
              <a:spcAft>
                <a:spcPts val="1000"/>
              </a:spcAft>
              <a:buFont typeface="+mj-lt"/>
              <a:buAutoNum type="arabicPeriod"/>
              <a:tabLst>
                <a:tab pos="457200" algn="l"/>
                <a:tab pos="914400" algn="l"/>
              </a:tabLst>
            </a:pPr>
            <a:r>
              <a:rPr lang="ar-SA" sz="1800" b="1" dirty="0">
                <a:effectLst/>
                <a:latin typeface="Calibri" panose="020F0502020204030204" pitchFamily="34" charset="0"/>
                <a:ea typeface="Calibri" panose="020F0502020204030204" pitchFamily="34" charset="0"/>
                <a:cs typeface="Arial" panose="020B0604020202020204" pitchFamily="34" charset="0"/>
              </a:rPr>
              <a:t>تحليل عمليات الأعمال</a:t>
            </a:r>
            <a:r>
              <a:rPr lang="en-US" sz="1800" b="1" dirty="0">
                <a:effectLst/>
                <a:latin typeface="Calibri" panose="020F0502020204030204" pitchFamily="34" charset="0"/>
                <a:ea typeface="Calibri" panose="020F0502020204030204" pitchFamily="34" charset="0"/>
                <a:cs typeface="Arial" panose="020B0604020202020204" pitchFamily="34" charset="0"/>
              </a:rPr>
              <a:t>: </a:t>
            </a:r>
            <a:r>
              <a:rPr lang="ar-SA" sz="1800" b="1" dirty="0">
                <a:effectLst/>
                <a:latin typeface="Calibri" panose="020F0502020204030204" pitchFamily="34" charset="0"/>
                <a:ea typeface="Calibri" panose="020F0502020204030204" pitchFamily="34" charset="0"/>
                <a:cs typeface="Arial" panose="020B0604020202020204" pitchFamily="34" charset="0"/>
              </a:rPr>
              <a:t>فهم وتحليل العمليات التجارية لتحسين الكفاءة والإنتاجية</a:t>
            </a:r>
            <a:r>
              <a:rPr lang="ar-YE" sz="1800" b="1" dirty="0">
                <a:effectLst/>
                <a:latin typeface="Calibri" panose="020F0502020204030204" pitchFamily="34" charset="0"/>
                <a:ea typeface="Calibri" panose="020F0502020204030204" pitchFamily="34" charset="0"/>
                <a:cs typeface="Arial" panose="020B0604020202020204" pitchFamily="34" charset="0"/>
              </a:rPr>
              <a:t> (التجارة الالكترونية)</a:t>
            </a:r>
            <a:r>
              <a:rPr lang="en-US" sz="1800" b="1" dirty="0">
                <a:effectLst/>
                <a:latin typeface="Calibri" panose="020F0502020204030204" pitchFamily="34" charset="0"/>
                <a:ea typeface="Calibri" panose="020F0502020204030204" pitchFamily="34" charset="0"/>
                <a:cs typeface="Arial" panose="020B0604020202020204" pitchFamily="34" charset="0"/>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spcBef>
                <a:spcPts val="500"/>
              </a:spcBef>
              <a:spcAft>
                <a:spcPts val="1000"/>
              </a:spcAft>
              <a:buFont typeface="+mj-lt"/>
              <a:buAutoNum type="arabicPeriod"/>
              <a:tabLst>
                <a:tab pos="457200" algn="l"/>
                <a:tab pos="914400" algn="l"/>
              </a:tabLst>
            </a:pPr>
            <a:r>
              <a:rPr lang="ar-SA" sz="1800" b="1" dirty="0">
                <a:effectLst/>
                <a:latin typeface="Calibri" panose="020F0502020204030204" pitchFamily="34" charset="0"/>
                <a:ea typeface="Calibri" panose="020F0502020204030204" pitchFamily="34" charset="0"/>
                <a:cs typeface="Arial" panose="020B0604020202020204" pitchFamily="34" charset="0"/>
              </a:rPr>
              <a:t>تقنيات ذكاء الأعمال</a:t>
            </a:r>
            <a:r>
              <a:rPr lang="en-US" sz="1800" b="1" dirty="0">
                <a:effectLst/>
                <a:latin typeface="Calibri" panose="020F0502020204030204" pitchFamily="34" charset="0"/>
                <a:ea typeface="Calibri" panose="020F0502020204030204" pitchFamily="34" charset="0"/>
                <a:cs typeface="Arial" panose="020B0604020202020204" pitchFamily="34" charset="0"/>
              </a:rPr>
              <a:t>: </a:t>
            </a:r>
            <a:r>
              <a:rPr lang="ar-SA" sz="1800" b="1" dirty="0">
                <a:effectLst/>
                <a:latin typeface="Calibri" panose="020F0502020204030204" pitchFamily="34" charset="0"/>
                <a:ea typeface="Calibri" panose="020F0502020204030204" pitchFamily="34" charset="0"/>
                <a:cs typeface="Arial" panose="020B0604020202020204" pitchFamily="34" charset="0"/>
              </a:rPr>
              <a:t>تطبيق أدوات وتقنيات ذكاء الأعمال لتحليل البيانات واتخاذ قرارات استراتيجية</a:t>
            </a:r>
            <a:r>
              <a:rPr lang="en-US" sz="1800" b="1" dirty="0">
                <a:effectLst/>
                <a:latin typeface="Calibri" panose="020F0502020204030204" pitchFamily="34" charset="0"/>
                <a:ea typeface="Calibri" panose="020F0502020204030204" pitchFamily="34" charset="0"/>
                <a:cs typeface="Arial" panose="020B0604020202020204" pitchFamily="34" charset="0"/>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spcBef>
                <a:spcPts val="500"/>
              </a:spcBef>
              <a:spcAft>
                <a:spcPts val="1000"/>
              </a:spcAft>
              <a:buFont typeface="+mj-lt"/>
              <a:buAutoNum type="arabicPeriod"/>
              <a:tabLst>
                <a:tab pos="457200" algn="l"/>
                <a:tab pos="914400" algn="l"/>
              </a:tabLst>
            </a:pPr>
            <a:r>
              <a:rPr lang="ar-SA" sz="1800" b="1" dirty="0">
                <a:effectLst/>
                <a:latin typeface="Calibri" panose="020F0502020204030204" pitchFamily="34" charset="0"/>
                <a:ea typeface="Calibri" panose="020F0502020204030204" pitchFamily="34" charset="0"/>
                <a:cs typeface="Arial" panose="020B0604020202020204" pitchFamily="34" charset="0"/>
              </a:rPr>
              <a:t>إدارة المشاريع</a:t>
            </a:r>
            <a:r>
              <a:rPr lang="en-US" sz="1800" b="1" dirty="0">
                <a:effectLst/>
                <a:latin typeface="Calibri" panose="020F0502020204030204" pitchFamily="34" charset="0"/>
                <a:ea typeface="Calibri" panose="020F0502020204030204" pitchFamily="34" charset="0"/>
                <a:cs typeface="Arial" panose="020B0604020202020204" pitchFamily="34" charset="0"/>
              </a:rPr>
              <a:t>: </a:t>
            </a:r>
            <a:r>
              <a:rPr lang="ar-SA" sz="1800" b="1" dirty="0">
                <a:effectLst/>
                <a:latin typeface="Calibri" panose="020F0502020204030204" pitchFamily="34" charset="0"/>
                <a:ea typeface="Calibri" panose="020F0502020204030204" pitchFamily="34" charset="0"/>
                <a:cs typeface="Arial" panose="020B0604020202020204" pitchFamily="34" charset="0"/>
              </a:rPr>
              <a:t>تعلم كيفية تخطيط وتنفيذ وإدارة المشاريع التقنية</a:t>
            </a:r>
            <a:r>
              <a:rPr lang="en-US" sz="1800" b="1" dirty="0">
                <a:effectLst/>
                <a:latin typeface="Calibri" panose="020F0502020204030204" pitchFamily="34" charset="0"/>
                <a:ea typeface="Calibri" panose="020F0502020204030204" pitchFamily="34" charset="0"/>
                <a:cs typeface="Arial" panose="020B0604020202020204" pitchFamily="34" charset="0"/>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spcBef>
                <a:spcPts val="500"/>
              </a:spcBef>
              <a:spcAft>
                <a:spcPts val="1000"/>
              </a:spcAft>
              <a:buFont typeface="+mj-lt"/>
              <a:buAutoNum type="arabicPeriod"/>
              <a:tabLst>
                <a:tab pos="457200" algn="l"/>
                <a:tab pos="914400" algn="l"/>
              </a:tabLst>
            </a:pPr>
            <a:r>
              <a:rPr lang="ar-SA" sz="1800" b="1" dirty="0">
                <a:effectLst/>
                <a:latin typeface="Calibri" panose="020F0502020204030204" pitchFamily="34" charset="0"/>
                <a:ea typeface="Calibri" panose="020F0502020204030204" pitchFamily="34" charset="0"/>
                <a:cs typeface="Arial" panose="020B0604020202020204" pitchFamily="34" charset="0"/>
              </a:rPr>
              <a:t>الشبكات والحوسبة السحابية</a:t>
            </a:r>
            <a:r>
              <a:rPr lang="en-US" sz="1800" b="1" dirty="0">
                <a:effectLst/>
                <a:latin typeface="Calibri" panose="020F0502020204030204" pitchFamily="34" charset="0"/>
                <a:ea typeface="Calibri" panose="020F0502020204030204" pitchFamily="34" charset="0"/>
                <a:cs typeface="Arial" panose="020B0604020202020204" pitchFamily="34" charset="0"/>
              </a:rPr>
              <a:t>: </a:t>
            </a:r>
            <a:r>
              <a:rPr lang="ar-SA" sz="1800" b="1" dirty="0">
                <a:effectLst/>
                <a:latin typeface="Calibri" panose="020F0502020204030204" pitchFamily="34" charset="0"/>
                <a:ea typeface="Calibri" panose="020F0502020204030204" pitchFamily="34" charset="0"/>
                <a:cs typeface="Arial" panose="020B0604020202020204" pitchFamily="34" charset="0"/>
              </a:rPr>
              <a:t>دراسة البنية التحتية للشبكات واستخدام الحوسبة السحابية في الأعمال</a:t>
            </a:r>
            <a:r>
              <a:rPr lang="en-US" sz="1800" b="1" dirty="0">
                <a:effectLst/>
                <a:latin typeface="Calibri" panose="020F0502020204030204" pitchFamily="34" charset="0"/>
                <a:ea typeface="Calibri" panose="020F0502020204030204" pitchFamily="34" charset="0"/>
                <a:cs typeface="Arial" panose="020B0604020202020204" pitchFamily="34" charset="0"/>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spcBef>
                <a:spcPts val="500"/>
              </a:spcBef>
              <a:spcAft>
                <a:spcPts val="1000"/>
              </a:spcAft>
              <a:buFont typeface="+mj-lt"/>
              <a:buAutoNum type="arabicPeriod"/>
              <a:tabLst>
                <a:tab pos="457200" algn="l"/>
                <a:tab pos="914400" algn="l"/>
              </a:tabLst>
            </a:pPr>
            <a:r>
              <a:rPr lang="ar-SA" sz="1800" b="1" dirty="0">
                <a:effectLst/>
                <a:latin typeface="Calibri" panose="020F0502020204030204" pitchFamily="34" charset="0"/>
                <a:ea typeface="Calibri" panose="020F0502020204030204" pitchFamily="34" charset="0"/>
                <a:cs typeface="Arial" panose="020B0604020202020204" pitchFamily="34" charset="0"/>
              </a:rPr>
              <a:t>الأمن السيبراني</a:t>
            </a:r>
            <a:r>
              <a:rPr lang="en-US" sz="1800" b="1" dirty="0">
                <a:effectLst/>
                <a:latin typeface="Calibri" panose="020F0502020204030204" pitchFamily="34" charset="0"/>
                <a:ea typeface="Calibri" panose="020F0502020204030204" pitchFamily="34" charset="0"/>
                <a:cs typeface="Arial" panose="020B0604020202020204" pitchFamily="34" charset="0"/>
              </a:rPr>
              <a:t>: </a:t>
            </a:r>
            <a:r>
              <a:rPr lang="ar-SA" sz="1800" b="1" dirty="0">
                <a:effectLst/>
                <a:latin typeface="Calibri" panose="020F0502020204030204" pitchFamily="34" charset="0"/>
                <a:ea typeface="Calibri" panose="020F0502020204030204" pitchFamily="34" charset="0"/>
                <a:cs typeface="Arial" panose="020B0604020202020204" pitchFamily="34" charset="0"/>
              </a:rPr>
              <a:t>حماية المعلومات والبيانات من التهديدات السيبرانية</a:t>
            </a:r>
            <a:r>
              <a:rPr lang="en-US" sz="1800" b="1" dirty="0">
                <a:effectLst/>
                <a:latin typeface="Calibri" panose="020F0502020204030204" pitchFamily="34" charset="0"/>
                <a:ea typeface="Calibri" panose="020F0502020204030204" pitchFamily="34" charset="0"/>
                <a:cs typeface="Arial" panose="020B0604020202020204" pitchFamily="34" charset="0"/>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indent="-342900" algn="just" rtl="1">
              <a:spcBef>
                <a:spcPts val="500"/>
              </a:spcBef>
              <a:spcAft>
                <a:spcPts val="1000"/>
              </a:spcAft>
              <a:buFont typeface="+mj-lt"/>
              <a:buAutoNum type="arabicPeriod"/>
              <a:tabLst>
                <a:tab pos="457200" algn="l"/>
                <a:tab pos="914400" algn="l"/>
              </a:tabLst>
            </a:pPr>
            <a:r>
              <a:rPr lang="ar-SA" sz="1800" b="1" dirty="0">
                <a:effectLst/>
                <a:latin typeface="Calibri" panose="020F0502020204030204" pitchFamily="34" charset="0"/>
                <a:ea typeface="Calibri" panose="020F0502020204030204" pitchFamily="34" charset="0"/>
                <a:cs typeface="Arial" panose="020B0604020202020204" pitchFamily="34" charset="0"/>
              </a:rPr>
              <a:t>البرمجة </a:t>
            </a:r>
            <a:r>
              <a:rPr lang="ar-SA" b="1" dirty="0">
                <a:latin typeface="Calibri" panose="020F0502020204030204" pitchFamily="34" charset="0"/>
                <a:ea typeface="Calibri" panose="020F0502020204030204" pitchFamily="34" charset="0"/>
                <a:cs typeface="Arial" panose="020B0604020202020204" pitchFamily="34" charset="0"/>
              </a:rPr>
              <a:t>وإدارة قواعد البيانات</a:t>
            </a:r>
            <a:r>
              <a:rPr lang="en-US" b="1" dirty="0">
                <a:latin typeface="Calibri" panose="020F0502020204030204" pitchFamily="34" charset="0"/>
                <a:ea typeface="Calibri" panose="020F0502020204030204" pitchFamily="34" charset="0"/>
                <a:cs typeface="Arial" panose="020B0604020202020204" pitchFamily="34" charset="0"/>
              </a:rPr>
              <a:t>: </a:t>
            </a:r>
            <a:r>
              <a:rPr lang="ar-SA" b="1" dirty="0">
                <a:latin typeface="Calibri" panose="020F0502020204030204" pitchFamily="34" charset="0"/>
                <a:ea typeface="Calibri" panose="020F0502020204030204" pitchFamily="34" charset="0"/>
                <a:cs typeface="Arial" panose="020B0604020202020204" pitchFamily="34" charset="0"/>
              </a:rPr>
              <a:t>تعلم أساسيات البرمجة وكيفية إدارة قواعد البيانات</a:t>
            </a:r>
            <a:r>
              <a:rPr lang="en-US" b="1" dirty="0">
                <a:latin typeface="Calibri" panose="020F0502020204030204" pitchFamily="34" charset="0"/>
                <a:ea typeface="Calibri" panose="020F0502020204030204" pitchFamily="34" charset="0"/>
                <a:cs typeface="Arial" panose="020B0604020202020204" pitchFamily="34" charset="0"/>
              </a:rPr>
              <a:t>.</a:t>
            </a:r>
            <a:endParaRPr lang="ar-YE" b="1" dirty="0">
              <a:latin typeface="Calibri" panose="020F0502020204030204" pitchFamily="34" charset="0"/>
              <a:ea typeface="Calibri" panose="020F0502020204030204" pitchFamily="34" charset="0"/>
              <a:cs typeface="Arial" panose="020B0604020202020204" pitchFamily="34" charset="0"/>
            </a:endParaRPr>
          </a:p>
          <a:p>
            <a:pPr marL="342900" indent="-342900" algn="just" rtl="1">
              <a:spcBef>
                <a:spcPts val="500"/>
              </a:spcBef>
              <a:spcAft>
                <a:spcPts val="1000"/>
              </a:spcAft>
              <a:buFont typeface="+mj-lt"/>
              <a:buAutoNum type="arabicPeriod"/>
              <a:tabLst>
                <a:tab pos="457200" algn="l"/>
                <a:tab pos="914400" algn="l"/>
              </a:tabLst>
            </a:pPr>
            <a:r>
              <a:rPr lang="ar-SA" b="1" dirty="0">
                <a:latin typeface="Calibri" panose="020F0502020204030204" pitchFamily="34" charset="0"/>
                <a:ea typeface="Calibri" panose="020F0502020204030204" pitchFamily="34" charset="0"/>
                <a:cs typeface="Arial" panose="020B0604020202020204" pitchFamily="34" charset="0"/>
              </a:rPr>
              <a:t>الجوانب الاجتماعية والأخلاقية </a:t>
            </a:r>
            <a:r>
              <a:rPr lang="en-US" b="1" dirty="0">
                <a:latin typeface="Calibri" panose="020F0502020204030204" pitchFamily="34" charset="0"/>
                <a:ea typeface="Calibri" panose="020F0502020204030204" pitchFamily="34" charset="0"/>
                <a:cs typeface="Arial" panose="020B0604020202020204" pitchFamily="34" charset="0"/>
              </a:rPr>
              <a:t>: </a:t>
            </a:r>
            <a:r>
              <a:rPr lang="ar-SA" b="1" dirty="0">
                <a:latin typeface="Calibri" panose="020F0502020204030204" pitchFamily="34" charset="0"/>
                <a:ea typeface="Calibri" panose="020F0502020204030204" pitchFamily="34" charset="0"/>
                <a:cs typeface="Arial" panose="020B0604020202020204" pitchFamily="34" charset="0"/>
              </a:rPr>
              <a:t>دراسة تأثير نظم المعلومات على المجتمع</a:t>
            </a:r>
            <a:endParaRPr lang="en-US" b="1" dirty="0">
              <a:latin typeface="Calibri" panose="020F0502020204030204" pitchFamily="34" charset="0"/>
              <a:ea typeface="Calibri" panose="020F0502020204030204" pitchFamily="34" charset="0"/>
              <a:cs typeface="Arial" panose="020B0604020202020204" pitchFamily="34" charset="0"/>
            </a:endParaRPr>
          </a:p>
          <a:p>
            <a:pPr marL="0" indent="0" algn="r" rtl="1">
              <a:lnSpc>
                <a:spcPct val="150000"/>
              </a:lnSpc>
              <a:buNone/>
            </a:pPr>
            <a:endParaRPr lang="ar-IQ" sz="2400" b="1"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589664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E30CA-62EF-7686-8C15-32761E14A429}"/>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F19EF448-6924-E7C7-4779-983FA70A6218}"/>
              </a:ext>
            </a:extLst>
          </p:cNvPr>
          <p:cNvSpPr txBox="1"/>
          <p:nvPr/>
        </p:nvSpPr>
        <p:spPr>
          <a:xfrm>
            <a:off x="464849" y="848470"/>
            <a:ext cx="8588702" cy="5440720"/>
          </a:xfrm>
          <a:prstGeom prst="rect">
            <a:avLst/>
          </a:prstGeom>
          <a:solidFill>
            <a:srgbClr val="FFC000"/>
          </a:solidFill>
        </p:spPr>
        <p:txBody>
          <a:bodyPr wrap="square">
            <a:spAutoFit/>
          </a:bodyPr>
          <a:lstStyle/>
          <a:p>
            <a:pPr marL="0" indent="0" algn="r" rtl="1">
              <a:buNone/>
            </a:pPr>
            <a:r>
              <a:rPr lang="ar-YE" sz="4000" b="1" dirty="0">
                <a:latin typeface="Calibri" panose="020F0502020204030204" pitchFamily="34" charset="0"/>
                <a:ea typeface="Calibri" panose="020F0502020204030204" pitchFamily="34" charset="0"/>
                <a:cs typeface="Arial" panose="020B0604020202020204" pitchFamily="34" charset="0"/>
              </a:rPr>
              <a:t>تشمل مفاهيم </a:t>
            </a:r>
            <a:r>
              <a:rPr lang="ar-SA" sz="4000" b="1" dirty="0">
                <a:effectLst/>
                <a:latin typeface="Calibri" panose="020F0502020204030204" pitchFamily="34" charset="0"/>
                <a:ea typeface="Calibri" panose="020F0502020204030204" pitchFamily="34" charset="0"/>
                <a:cs typeface="Arial" panose="020B0604020202020204" pitchFamily="34" charset="0"/>
              </a:rPr>
              <a:t>إدارة تقنية الأعمال</a:t>
            </a:r>
            <a:r>
              <a:rPr lang="ar-YE" sz="4000" b="1" dirty="0">
                <a:effectLst/>
                <a:latin typeface="Calibri" panose="020F0502020204030204" pitchFamily="34" charset="0"/>
                <a:ea typeface="Calibri" panose="020F0502020204030204" pitchFamily="34" charset="0"/>
                <a:cs typeface="Arial" panose="020B0604020202020204" pitchFamily="34" charset="0"/>
              </a:rPr>
              <a:t> التالي</a:t>
            </a:r>
            <a:r>
              <a:rPr lang="ar-SA" sz="4000" b="1" dirty="0">
                <a:effectLst/>
                <a:latin typeface="Calibri" panose="020F0502020204030204" pitchFamily="34" charset="0"/>
                <a:ea typeface="Calibri" panose="020F0502020204030204" pitchFamily="34" charset="0"/>
                <a:cs typeface="Arial" panose="020B0604020202020204" pitchFamily="34" charset="0"/>
              </a:rPr>
              <a:t> </a:t>
            </a:r>
            <a:r>
              <a:rPr lang="ar-YE" sz="4000" b="1" dirty="0">
                <a:effectLst/>
                <a:latin typeface="Calibri" panose="020F0502020204030204" pitchFamily="34" charset="0"/>
                <a:ea typeface="Calibri" panose="020F0502020204030204" pitchFamily="34" charset="0"/>
                <a:cs typeface="Arial" panose="020B0604020202020204" pitchFamily="34" charset="0"/>
              </a:rPr>
              <a:t>:</a:t>
            </a:r>
            <a:endParaRPr lang="ar-YE" sz="3200" b="1" dirty="0">
              <a:latin typeface="Calibri" panose="020F0502020204030204" pitchFamily="34" charset="0"/>
              <a:ea typeface="Calibri" panose="020F0502020204030204" pitchFamily="34" charset="0"/>
              <a:cs typeface="Arial" panose="020B0604020202020204" pitchFamily="34" charset="0"/>
            </a:endParaRPr>
          </a:p>
          <a:p>
            <a:pPr marL="457200" indent="-457200" algn="r" rtl="1">
              <a:buFont typeface="Wingdings" panose="05000000000000000000" pitchFamily="2" charset="2"/>
              <a:buChar char="ü"/>
            </a:pPr>
            <a:r>
              <a:rPr lang="ar-YE" sz="2400" b="1" dirty="0">
                <a:effectLst/>
                <a:latin typeface="Calibri" panose="020F0502020204030204" pitchFamily="34" charset="0"/>
                <a:ea typeface="Calibri" panose="020F0502020204030204" pitchFamily="34" charset="0"/>
                <a:cs typeface="Arial" panose="020B0604020202020204" pitchFamily="34" charset="0"/>
              </a:rPr>
              <a:t>مفهوم تقنية الاعمال</a:t>
            </a:r>
          </a:p>
          <a:p>
            <a:pPr marL="457200" indent="-457200" algn="r" rtl="1">
              <a:lnSpc>
                <a:spcPct val="150000"/>
              </a:lnSpc>
              <a:buFont typeface="Wingdings" panose="05000000000000000000" pitchFamily="2" charset="2"/>
              <a:buChar char="ü"/>
            </a:pPr>
            <a:r>
              <a:rPr lang="ar-YE" sz="2400" b="1" dirty="0">
                <a:latin typeface="Calibri" panose="020F0502020204030204" pitchFamily="34" charset="0"/>
                <a:ea typeface="Calibri" panose="020F0502020204030204" pitchFamily="34" charset="0"/>
                <a:cs typeface="Arial" panose="020B0604020202020204" pitchFamily="34" charset="0"/>
              </a:rPr>
              <a:t>عمليات تقنية الاعمال</a:t>
            </a:r>
          </a:p>
          <a:p>
            <a:pPr marL="457200" indent="-457200" algn="r" rtl="1">
              <a:lnSpc>
                <a:spcPct val="150000"/>
              </a:lnSpc>
              <a:buFont typeface="Wingdings" panose="05000000000000000000" pitchFamily="2" charset="2"/>
              <a:buChar char="ü"/>
            </a:pPr>
            <a:r>
              <a:rPr lang="ar-YE" sz="2400" b="1" dirty="0">
                <a:latin typeface="Calibri" panose="020F0502020204030204" pitchFamily="34" charset="0"/>
                <a:ea typeface="Calibri" panose="020F0502020204030204" pitchFamily="34" charset="0"/>
                <a:cs typeface="Arial" panose="020B0604020202020204" pitchFamily="34" charset="0"/>
              </a:rPr>
              <a:t>إدارة المعلومات</a:t>
            </a:r>
          </a:p>
          <a:p>
            <a:pPr marL="457200" indent="-457200" algn="r" rtl="1">
              <a:lnSpc>
                <a:spcPct val="150000"/>
              </a:lnSpc>
              <a:buFont typeface="Wingdings" panose="05000000000000000000" pitchFamily="2" charset="2"/>
              <a:buChar char="ü"/>
            </a:pPr>
            <a:r>
              <a:rPr lang="ar-YE" sz="2400" b="1" dirty="0">
                <a:latin typeface="Calibri" panose="020F0502020204030204" pitchFamily="34" charset="0"/>
                <a:ea typeface="Calibri" panose="020F0502020204030204" pitchFamily="34" charset="0"/>
                <a:cs typeface="Arial" panose="020B0604020202020204" pitchFamily="34" charset="0"/>
              </a:rPr>
              <a:t>مجالات تنقية المعلومات</a:t>
            </a:r>
          </a:p>
          <a:p>
            <a:pPr marL="457200" indent="-457200" algn="r" rtl="1">
              <a:lnSpc>
                <a:spcPct val="150000"/>
              </a:lnSpc>
              <a:buFont typeface="Wingdings" panose="05000000000000000000" pitchFamily="2" charset="2"/>
              <a:buChar char="ü"/>
            </a:pPr>
            <a:r>
              <a:rPr lang="ar-YE" sz="2400" b="1" dirty="0">
                <a:latin typeface="Calibri" panose="020F0502020204030204" pitchFamily="34" charset="0"/>
                <a:ea typeface="Calibri" panose="020F0502020204030204" pitchFamily="34" charset="0"/>
                <a:cs typeface="Arial" panose="020B0604020202020204" pitchFamily="34" charset="0"/>
              </a:rPr>
              <a:t>مبادئ إدارة المعلومات</a:t>
            </a:r>
          </a:p>
          <a:p>
            <a:pPr marL="457200" indent="-457200" algn="r" rtl="1">
              <a:lnSpc>
                <a:spcPct val="150000"/>
              </a:lnSpc>
              <a:buFont typeface="Wingdings" panose="05000000000000000000" pitchFamily="2" charset="2"/>
              <a:buChar char="ü"/>
            </a:pPr>
            <a:r>
              <a:rPr lang="ar-YE" sz="2400" b="1" dirty="0">
                <a:latin typeface="Calibri" panose="020F0502020204030204" pitchFamily="34" charset="0"/>
                <a:ea typeface="Calibri" panose="020F0502020204030204" pitchFamily="34" charset="0"/>
                <a:cs typeface="Arial" panose="020B0604020202020204" pitchFamily="34" charset="0"/>
              </a:rPr>
              <a:t>مفهوم إدارة تقنية المعلومات</a:t>
            </a:r>
          </a:p>
          <a:p>
            <a:pPr marL="457200" indent="-457200" algn="r" rtl="1">
              <a:lnSpc>
                <a:spcPct val="150000"/>
              </a:lnSpc>
              <a:buFont typeface="Wingdings" panose="05000000000000000000" pitchFamily="2" charset="2"/>
              <a:buChar char="ü"/>
            </a:pPr>
            <a:r>
              <a:rPr lang="ar-YE" sz="2400" b="1" dirty="0">
                <a:latin typeface="Calibri" panose="020F0502020204030204" pitchFamily="34" charset="0"/>
                <a:ea typeface="Calibri" panose="020F0502020204030204" pitchFamily="34" charset="0"/>
                <a:cs typeface="Arial" panose="020B0604020202020204" pitchFamily="34" charset="0"/>
              </a:rPr>
              <a:t>مهام ومسئولية إدارة تقنية المعلومات</a:t>
            </a:r>
          </a:p>
          <a:p>
            <a:pPr marL="457200" indent="-457200" algn="r" rtl="1">
              <a:lnSpc>
                <a:spcPct val="150000"/>
              </a:lnSpc>
              <a:buFont typeface="Wingdings" panose="05000000000000000000" pitchFamily="2" charset="2"/>
              <a:buChar char="ü"/>
            </a:pPr>
            <a:r>
              <a:rPr lang="ar-YE" sz="2400" b="1" dirty="0">
                <a:latin typeface="Calibri" panose="020F0502020204030204" pitchFamily="34" charset="0"/>
                <a:ea typeface="Calibri" panose="020F0502020204030204" pitchFamily="34" charset="0"/>
                <a:cs typeface="Arial" panose="020B0604020202020204" pitchFamily="34" charset="0"/>
              </a:rPr>
              <a:t>إدارة مخاطر تقنية المعلومات</a:t>
            </a:r>
          </a:p>
          <a:p>
            <a:pPr marL="457200" indent="-457200" algn="r" rtl="1">
              <a:lnSpc>
                <a:spcPct val="150000"/>
              </a:lnSpc>
              <a:buFont typeface="Wingdings" panose="05000000000000000000" pitchFamily="2" charset="2"/>
              <a:buChar char="ü"/>
            </a:pPr>
            <a:r>
              <a:rPr lang="ar-YE" sz="2400" b="1" dirty="0">
                <a:latin typeface="Calibri" panose="020F0502020204030204" pitchFamily="34" charset="0"/>
                <a:ea typeface="Calibri" panose="020F0502020204030204" pitchFamily="34" charset="0"/>
                <a:cs typeface="Arial" panose="020B0604020202020204" pitchFamily="34" charset="0"/>
              </a:rPr>
              <a:t>حوكمة تقنية المعلومات</a:t>
            </a:r>
            <a:endParaRPr lang="ar-IQ" sz="2400" b="1" dirty="0">
              <a:latin typeface="Calibri" panose="020F0502020204030204" pitchFamily="34" charset="0"/>
              <a:ea typeface="Calibri" panose="020F0502020204030204" pitchFamily="34" charset="0"/>
              <a:cs typeface="Arial" panose="020B0604020202020204" pitchFamily="34" charset="0"/>
            </a:endParaRPr>
          </a:p>
        </p:txBody>
      </p:sp>
      <p:sp>
        <p:nvSpPr>
          <p:cNvPr id="53" name="자유형: 도형 24">
            <a:extLst>
              <a:ext uri="{FF2B5EF4-FFF2-40B4-BE49-F238E27FC236}">
                <a16:creationId xmlns:a16="http://schemas.microsoft.com/office/drawing/2014/main" id="{FB867A79-FF5C-EA36-D651-AA5991803854}"/>
              </a:ext>
            </a:extLst>
          </p:cNvPr>
          <p:cNvSpPr/>
          <p:nvPr/>
        </p:nvSpPr>
        <p:spPr>
          <a:xfrm>
            <a:off x="9071719" y="1850497"/>
            <a:ext cx="2637264"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rgbClr val="FF0000"/>
          </a:solidFill>
          <a:ln w="9525" cap="flat">
            <a:noFill/>
            <a:prstDash val="solid"/>
            <a:miter/>
          </a:ln>
        </p:spPr>
        <p:txBody>
          <a:bodyPr rtlCol="0" anchor="ctr"/>
          <a:lstStyle/>
          <a:p>
            <a:pPr algn="ctr"/>
            <a:r>
              <a:rPr lang="ar-YE" sz="3200" b="1" dirty="0">
                <a:solidFill>
                  <a:schemeClr val="bg2"/>
                </a:solidFill>
              </a:rPr>
              <a:t>مقدمة في:</a:t>
            </a:r>
          </a:p>
          <a:p>
            <a:pPr algn="ctr"/>
            <a:r>
              <a:rPr lang="ar-YE" sz="3200" b="1" dirty="0">
                <a:solidFill>
                  <a:schemeClr val="bg2"/>
                </a:solidFill>
              </a:rPr>
              <a:t>إدارة تقنية </a:t>
            </a:r>
          </a:p>
          <a:p>
            <a:pPr algn="ctr"/>
            <a:r>
              <a:rPr lang="ar-YE" sz="3200" b="1" dirty="0">
                <a:solidFill>
                  <a:schemeClr val="bg2"/>
                </a:solidFill>
              </a:rPr>
              <a:t>الاعمال</a:t>
            </a:r>
            <a:endParaRPr lang="en-US" sz="3200" b="1" dirty="0">
              <a:solidFill>
                <a:schemeClr val="bg2"/>
              </a:solidFill>
            </a:endParaRPr>
          </a:p>
        </p:txBody>
      </p:sp>
    </p:spTree>
    <p:extLst>
      <p:ext uri="{BB962C8B-B14F-4D97-AF65-F5344CB8AC3E}">
        <p14:creationId xmlns:p14="http://schemas.microsoft.com/office/powerpoint/2010/main" val="1640752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rrow: Right 6">
            <a:extLst>
              <a:ext uri="{FF2B5EF4-FFF2-40B4-BE49-F238E27FC236}">
                <a16:creationId xmlns:a16="http://schemas.microsoft.com/office/drawing/2014/main" id="{6841B9FF-2E92-4E2A-9005-C0642953A1AE}"/>
              </a:ext>
            </a:extLst>
          </p:cNvPr>
          <p:cNvSpPr/>
          <p:nvPr/>
        </p:nvSpPr>
        <p:spPr>
          <a:xfrm rot="10800000">
            <a:off x="1066800" y="423127"/>
            <a:ext cx="10058400" cy="1352041"/>
          </a:xfrm>
          <a:prstGeom prst="rightArrow">
            <a:avLst>
              <a:gd name="adj1" fmla="val 51572"/>
              <a:gd name="adj2" fmla="val 4984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a:p>
        </p:txBody>
      </p:sp>
      <p:sp>
        <p:nvSpPr>
          <p:cNvPr id="11" name="TextBox 10">
            <a:extLst>
              <a:ext uri="{FF2B5EF4-FFF2-40B4-BE49-F238E27FC236}">
                <a16:creationId xmlns:a16="http://schemas.microsoft.com/office/drawing/2014/main" id="{11F85892-B5B7-43FB-B0D4-A173677AF363}"/>
              </a:ext>
            </a:extLst>
          </p:cNvPr>
          <p:cNvSpPr txBox="1"/>
          <p:nvPr/>
        </p:nvSpPr>
        <p:spPr>
          <a:xfrm>
            <a:off x="7272287" y="742143"/>
            <a:ext cx="3852913" cy="707886"/>
          </a:xfrm>
          <a:prstGeom prst="rect">
            <a:avLst/>
          </a:prstGeom>
          <a:noFill/>
        </p:spPr>
        <p:txBody>
          <a:bodyPr wrap="square" rtlCol="0">
            <a:spAutoFit/>
          </a:bodyPr>
          <a:lstStyle/>
          <a:p>
            <a:pPr algn="r" rtl="1"/>
            <a:r>
              <a:rPr lang="ar-YE" altLang="ko-KR" sz="4000" b="1" dirty="0">
                <a:solidFill>
                  <a:schemeClr val="bg1"/>
                </a:solidFill>
                <a:cs typeface="Arial" pitchFamily="34" charset="0"/>
              </a:rPr>
              <a:t>مفهوم تقنية الاعمال</a:t>
            </a:r>
          </a:p>
        </p:txBody>
      </p:sp>
      <p:sp>
        <p:nvSpPr>
          <p:cNvPr id="13" name="TextBox 12">
            <a:extLst>
              <a:ext uri="{FF2B5EF4-FFF2-40B4-BE49-F238E27FC236}">
                <a16:creationId xmlns:a16="http://schemas.microsoft.com/office/drawing/2014/main" id="{0BA6515C-F297-4D1D-862E-8132CB7D3BF6}"/>
              </a:ext>
            </a:extLst>
          </p:cNvPr>
          <p:cNvSpPr txBox="1"/>
          <p:nvPr/>
        </p:nvSpPr>
        <p:spPr>
          <a:xfrm>
            <a:off x="4991171" y="3092671"/>
            <a:ext cx="3852913" cy="338554"/>
          </a:xfrm>
          <a:prstGeom prst="rect">
            <a:avLst/>
          </a:prstGeom>
          <a:noFill/>
        </p:spPr>
        <p:txBody>
          <a:bodyPr wrap="square" rtlCol="0">
            <a:spAutoFit/>
          </a:bodyPr>
          <a:lstStyle/>
          <a:p>
            <a:r>
              <a:rPr lang="en-US" altLang="ko-KR" sz="1600" b="1" dirty="0">
                <a:solidFill>
                  <a:schemeClr val="bg1"/>
                </a:solidFill>
                <a:cs typeface="Arial" pitchFamily="34" charset="0"/>
              </a:rPr>
              <a:t>Modern  PowerPoint  Presentation</a:t>
            </a:r>
            <a:endParaRPr lang="ko-KR" altLang="en-US" sz="1600" b="1" dirty="0">
              <a:solidFill>
                <a:schemeClr val="bg1"/>
              </a:solidFill>
              <a:cs typeface="Arial" pitchFamily="34" charset="0"/>
            </a:endParaRPr>
          </a:p>
        </p:txBody>
      </p:sp>
      <p:sp>
        <p:nvSpPr>
          <p:cNvPr id="28" name="TextBox 27">
            <a:extLst>
              <a:ext uri="{FF2B5EF4-FFF2-40B4-BE49-F238E27FC236}">
                <a16:creationId xmlns:a16="http://schemas.microsoft.com/office/drawing/2014/main" id="{7DE2C740-E504-4351-AC66-9A0992DDC903}"/>
              </a:ext>
            </a:extLst>
          </p:cNvPr>
          <p:cNvSpPr txBox="1"/>
          <p:nvPr/>
        </p:nvSpPr>
        <p:spPr>
          <a:xfrm>
            <a:off x="2028638" y="1443419"/>
            <a:ext cx="8745338" cy="3694409"/>
          </a:xfrm>
          <a:prstGeom prst="rect">
            <a:avLst/>
          </a:prstGeom>
          <a:solidFill>
            <a:schemeClr val="accent4">
              <a:lumMod val="75000"/>
            </a:schemeClr>
          </a:solidFill>
        </p:spPr>
        <p:txBody>
          <a:bodyPr wrap="square">
            <a:spAutoFit/>
          </a:bodyPr>
          <a:lstStyle/>
          <a:p>
            <a:pPr marL="0" indent="0" algn="r" rtl="1">
              <a:lnSpc>
                <a:spcPct val="150000"/>
              </a:lnSpc>
              <a:buNone/>
            </a:pPr>
            <a:r>
              <a:rPr lang="ar-YE" sz="3200" b="0" i="0" dirty="0">
                <a:solidFill>
                  <a:srgbClr val="111111"/>
                </a:solidFill>
                <a:effectLst/>
                <a:highlight>
                  <a:srgbClr val="F3F3F3"/>
                </a:highlight>
                <a:latin typeface="-apple-system"/>
              </a:rPr>
              <a:t>تقنية الأعمال هي استخدام التكنولوجيا لتحسين أداء الشركات وزيادة كفاءتها. تشمل هذه التقنية مجموعة واسعة من الأدوات والأنظمة التي تساعد في إدارة العمليات التجارية، وتحليل البيانات، وتحسين التواصل الداخلي والخارجي، واتخاذ القرارات المستندة إلى البيانات.</a:t>
            </a:r>
            <a:endParaRPr lang="ar-YE" sz="3200" dirty="0"/>
          </a:p>
        </p:txBody>
      </p:sp>
    </p:spTree>
    <p:extLst>
      <p:ext uri="{BB962C8B-B14F-4D97-AF65-F5344CB8AC3E}">
        <p14:creationId xmlns:p14="http://schemas.microsoft.com/office/powerpoint/2010/main" val="624695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6A547-2907-700A-9758-49BD0A6F10EB}"/>
            </a:ext>
          </a:extLst>
        </p:cNvPr>
        <p:cNvGrpSpPr/>
        <p:nvPr/>
      </p:nvGrpSpPr>
      <p:grpSpPr>
        <a:xfrm>
          <a:off x="0" y="0"/>
          <a:ext cx="0" cy="0"/>
          <a:chOff x="0" y="0"/>
          <a:chExt cx="0" cy="0"/>
        </a:xfrm>
      </p:grpSpPr>
      <p:sp>
        <p:nvSpPr>
          <p:cNvPr id="7" name="Arrow: Right 6">
            <a:extLst>
              <a:ext uri="{FF2B5EF4-FFF2-40B4-BE49-F238E27FC236}">
                <a16:creationId xmlns:a16="http://schemas.microsoft.com/office/drawing/2014/main" id="{33F57376-FB63-B09F-6C24-E77D22F14D55}"/>
              </a:ext>
            </a:extLst>
          </p:cNvPr>
          <p:cNvSpPr/>
          <p:nvPr/>
        </p:nvSpPr>
        <p:spPr>
          <a:xfrm rot="10800000">
            <a:off x="1152769" y="-155211"/>
            <a:ext cx="10058400" cy="1352041"/>
          </a:xfrm>
          <a:prstGeom prst="rightArrow">
            <a:avLst>
              <a:gd name="adj1" fmla="val 51572"/>
              <a:gd name="adj2" fmla="val 49841"/>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a:p>
        </p:txBody>
      </p:sp>
      <p:sp>
        <p:nvSpPr>
          <p:cNvPr id="11" name="TextBox 10">
            <a:extLst>
              <a:ext uri="{FF2B5EF4-FFF2-40B4-BE49-F238E27FC236}">
                <a16:creationId xmlns:a16="http://schemas.microsoft.com/office/drawing/2014/main" id="{F2691D76-4DB3-8831-DE12-240A39FC6F30}"/>
              </a:ext>
            </a:extLst>
          </p:cNvPr>
          <p:cNvSpPr txBox="1"/>
          <p:nvPr/>
        </p:nvSpPr>
        <p:spPr>
          <a:xfrm>
            <a:off x="7186318" y="166866"/>
            <a:ext cx="3852913" cy="707886"/>
          </a:xfrm>
          <a:prstGeom prst="rect">
            <a:avLst/>
          </a:prstGeom>
          <a:noFill/>
        </p:spPr>
        <p:txBody>
          <a:bodyPr wrap="square" rtlCol="0">
            <a:spAutoFit/>
          </a:bodyPr>
          <a:lstStyle/>
          <a:p>
            <a:pPr algn="r" rtl="1"/>
            <a:r>
              <a:rPr lang="ar-YE" altLang="ko-KR" sz="4000" b="1" dirty="0">
                <a:solidFill>
                  <a:schemeClr val="bg1"/>
                </a:solidFill>
                <a:cs typeface="Arial" pitchFamily="34" charset="0"/>
              </a:rPr>
              <a:t>مفهوم تقنية الاعمال</a:t>
            </a:r>
          </a:p>
        </p:txBody>
      </p:sp>
      <p:sp>
        <p:nvSpPr>
          <p:cNvPr id="13" name="TextBox 12">
            <a:extLst>
              <a:ext uri="{FF2B5EF4-FFF2-40B4-BE49-F238E27FC236}">
                <a16:creationId xmlns:a16="http://schemas.microsoft.com/office/drawing/2014/main" id="{6AEB38DD-E3E6-A5B9-2B4F-9A22EC11FE01}"/>
              </a:ext>
            </a:extLst>
          </p:cNvPr>
          <p:cNvSpPr txBox="1"/>
          <p:nvPr/>
        </p:nvSpPr>
        <p:spPr>
          <a:xfrm>
            <a:off x="4991171" y="3092671"/>
            <a:ext cx="3852913" cy="338554"/>
          </a:xfrm>
          <a:prstGeom prst="rect">
            <a:avLst/>
          </a:prstGeom>
          <a:noFill/>
        </p:spPr>
        <p:txBody>
          <a:bodyPr wrap="square" rtlCol="0">
            <a:spAutoFit/>
          </a:bodyPr>
          <a:lstStyle/>
          <a:p>
            <a:r>
              <a:rPr lang="en-US" altLang="ko-KR" sz="1600" b="1" dirty="0">
                <a:solidFill>
                  <a:schemeClr val="bg1"/>
                </a:solidFill>
                <a:cs typeface="Arial" pitchFamily="34" charset="0"/>
              </a:rPr>
              <a:t>Modern  PowerPoint  Presentation</a:t>
            </a:r>
            <a:endParaRPr lang="ko-KR" altLang="en-US" sz="1600" b="1" dirty="0">
              <a:solidFill>
                <a:schemeClr val="bg1"/>
              </a:solidFill>
              <a:cs typeface="Arial" pitchFamily="34" charset="0"/>
            </a:endParaRPr>
          </a:p>
        </p:txBody>
      </p:sp>
      <p:sp>
        <p:nvSpPr>
          <p:cNvPr id="28" name="TextBox 27">
            <a:extLst>
              <a:ext uri="{FF2B5EF4-FFF2-40B4-BE49-F238E27FC236}">
                <a16:creationId xmlns:a16="http://schemas.microsoft.com/office/drawing/2014/main" id="{2244A3E9-BEB9-8C6B-C21E-AE96BA804CA0}"/>
              </a:ext>
            </a:extLst>
          </p:cNvPr>
          <p:cNvSpPr txBox="1"/>
          <p:nvPr/>
        </p:nvSpPr>
        <p:spPr>
          <a:xfrm>
            <a:off x="68241" y="1311485"/>
            <a:ext cx="12082584" cy="5171737"/>
          </a:xfrm>
          <a:prstGeom prst="rect">
            <a:avLst/>
          </a:prstGeom>
          <a:solidFill>
            <a:schemeClr val="accent3">
              <a:lumMod val="75000"/>
            </a:schemeClr>
          </a:solidFill>
        </p:spPr>
        <p:txBody>
          <a:bodyPr wrap="square">
            <a:spAutoFit/>
          </a:bodyPr>
          <a:lstStyle/>
          <a:p>
            <a:pPr marL="457200" indent="-457200" algn="just" rtl="1">
              <a:lnSpc>
                <a:spcPct val="150000"/>
              </a:lnSpc>
              <a:buFont typeface="Arial" panose="020B0604020202020204" pitchFamily="34" charset="0"/>
              <a:buChar char="•"/>
            </a:pPr>
            <a:r>
              <a:rPr lang="ar-YE" sz="3200" b="1" dirty="0"/>
              <a:t>حسب تعريف مجموعة تقنية المعلومات الامريكية </a:t>
            </a:r>
            <a:r>
              <a:rPr lang="en-US" sz="3200" b="1" dirty="0"/>
              <a:t>ITAA</a:t>
            </a:r>
            <a:r>
              <a:rPr lang="ar-YE" sz="3200" b="1" dirty="0"/>
              <a:t> والتي اعتبرتها دراسة تصميم وتطوير ودعم أنظمة المعلومات في المنظمات التي تعتمد على الحواسيب والتطبيقات البرمجية.</a:t>
            </a:r>
          </a:p>
          <a:p>
            <a:pPr marL="457200" indent="-457200" algn="just" rtl="1">
              <a:lnSpc>
                <a:spcPct val="150000"/>
              </a:lnSpc>
              <a:buFont typeface="Arial" panose="020B0604020202020204" pitchFamily="34" charset="0"/>
              <a:buChar char="•"/>
            </a:pPr>
            <a:r>
              <a:rPr lang="ar-YE" sz="3200" b="1" dirty="0"/>
              <a:t>تقنية المعلومات اختصار لكلمة </a:t>
            </a:r>
            <a:r>
              <a:rPr lang="en-US" sz="3200" b="1" dirty="0"/>
              <a:t>Information Technology </a:t>
            </a:r>
            <a:r>
              <a:rPr lang="ar-YE" sz="3200" b="1" dirty="0"/>
              <a:t> ويرتبط بالتقنية وكل ما يتعلق بها من معالجات وإدارة واستخدام في المنظمات الحديثة من حواسيب وشبكات وبرمجيات وتخزين وتحويل وحماية ومعالجة ونقل واستعادة واستدامة وحماية وتطوير وتحسين مستمر يدعم البقاء والنمو والمنافسة</a:t>
            </a:r>
          </a:p>
        </p:txBody>
      </p:sp>
    </p:spTree>
    <p:extLst>
      <p:ext uri="{BB962C8B-B14F-4D97-AF65-F5344CB8AC3E}">
        <p14:creationId xmlns:p14="http://schemas.microsoft.com/office/powerpoint/2010/main" val="3697111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D6F3E-44A9-7124-91E4-83E05959DACB}"/>
            </a:ext>
          </a:extLst>
        </p:cNvPr>
        <p:cNvGrpSpPr/>
        <p:nvPr/>
      </p:nvGrpSpPr>
      <p:grpSpPr>
        <a:xfrm>
          <a:off x="0" y="0"/>
          <a:ext cx="0" cy="0"/>
          <a:chOff x="0" y="0"/>
          <a:chExt cx="0" cy="0"/>
        </a:xfrm>
      </p:grpSpPr>
      <p:sp>
        <p:nvSpPr>
          <p:cNvPr id="7" name="Arrow: Right 6">
            <a:extLst>
              <a:ext uri="{FF2B5EF4-FFF2-40B4-BE49-F238E27FC236}">
                <a16:creationId xmlns:a16="http://schemas.microsoft.com/office/drawing/2014/main" id="{0BDB9C6B-D935-F7CF-781A-6E78FE524974}"/>
              </a:ext>
            </a:extLst>
          </p:cNvPr>
          <p:cNvSpPr/>
          <p:nvPr/>
        </p:nvSpPr>
        <p:spPr>
          <a:xfrm rot="10800000">
            <a:off x="1066800" y="423127"/>
            <a:ext cx="10058400" cy="1352041"/>
          </a:xfrm>
          <a:prstGeom prst="rightArrow">
            <a:avLst>
              <a:gd name="adj1" fmla="val 51572"/>
              <a:gd name="adj2" fmla="val 4984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a:p>
        </p:txBody>
      </p:sp>
      <p:sp>
        <p:nvSpPr>
          <p:cNvPr id="11" name="TextBox 10">
            <a:extLst>
              <a:ext uri="{FF2B5EF4-FFF2-40B4-BE49-F238E27FC236}">
                <a16:creationId xmlns:a16="http://schemas.microsoft.com/office/drawing/2014/main" id="{41EE2469-756F-3AC7-B48A-17AACB0A6A3C}"/>
              </a:ext>
            </a:extLst>
          </p:cNvPr>
          <p:cNvSpPr txBox="1"/>
          <p:nvPr/>
        </p:nvSpPr>
        <p:spPr>
          <a:xfrm>
            <a:off x="7272287" y="742143"/>
            <a:ext cx="3852913" cy="707886"/>
          </a:xfrm>
          <a:prstGeom prst="rect">
            <a:avLst/>
          </a:prstGeom>
          <a:noFill/>
        </p:spPr>
        <p:txBody>
          <a:bodyPr wrap="square" rtlCol="0">
            <a:spAutoFit/>
          </a:bodyPr>
          <a:lstStyle/>
          <a:p>
            <a:pPr algn="r" rtl="1"/>
            <a:r>
              <a:rPr lang="ar-YE" altLang="ko-KR" sz="4000" b="1" dirty="0">
                <a:solidFill>
                  <a:schemeClr val="bg1"/>
                </a:solidFill>
                <a:cs typeface="Arial" pitchFamily="34" charset="0"/>
              </a:rPr>
              <a:t>مفهوم تقنية الاعمال</a:t>
            </a:r>
          </a:p>
        </p:txBody>
      </p:sp>
      <p:sp>
        <p:nvSpPr>
          <p:cNvPr id="13" name="TextBox 12">
            <a:extLst>
              <a:ext uri="{FF2B5EF4-FFF2-40B4-BE49-F238E27FC236}">
                <a16:creationId xmlns:a16="http://schemas.microsoft.com/office/drawing/2014/main" id="{3DA2DA3B-ACE9-ADDC-BD1E-A6B714CD6E07}"/>
              </a:ext>
            </a:extLst>
          </p:cNvPr>
          <p:cNvSpPr txBox="1"/>
          <p:nvPr/>
        </p:nvSpPr>
        <p:spPr>
          <a:xfrm>
            <a:off x="4991171" y="3092671"/>
            <a:ext cx="3852913" cy="338554"/>
          </a:xfrm>
          <a:prstGeom prst="rect">
            <a:avLst/>
          </a:prstGeom>
          <a:noFill/>
        </p:spPr>
        <p:txBody>
          <a:bodyPr wrap="square" rtlCol="0">
            <a:spAutoFit/>
          </a:bodyPr>
          <a:lstStyle/>
          <a:p>
            <a:r>
              <a:rPr lang="en-US" altLang="ko-KR" sz="1600" b="1" dirty="0">
                <a:solidFill>
                  <a:schemeClr val="bg1"/>
                </a:solidFill>
                <a:cs typeface="Arial" pitchFamily="34" charset="0"/>
              </a:rPr>
              <a:t>Modern  PowerPoint  Presentation</a:t>
            </a:r>
            <a:endParaRPr lang="ko-KR" altLang="en-US" sz="1600" b="1" dirty="0">
              <a:solidFill>
                <a:schemeClr val="bg1"/>
              </a:solidFill>
              <a:cs typeface="Arial" pitchFamily="34" charset="0"/>
            </a:endParaRPr>
          </a:p>
        </p:txBody>
      </p:sp>
      <p:sp>
        <p:nvSpPr>
          <p:cNvPr id="28" name="TextBox 27">
            <a:extLst>
              <a:ext uri="{FF2B5EF4-FFF2-40B4-BE49-F238E27FC236}">
                <a16:creationId xmlns:a16="http://schemas.microsoft.com/office/drawing/2014/main" id="{DA6A4167-9A10-E94B-26AA-0F54CC0710A6}"/>
              </a:ext>
            </a:extLst>
          </p:cNvPr>
          <p:cNvSpPr txBox="1"/>
          <p:nvPr/>
        </p:nvSpPr>
        <p:spPr>
          <a:xfrm>
            <a:off x="2028638" y="1443419"/>
            <a:ext cx="8745338" cy="5171737"/>
          </a:xfrm>
          <a:prstGeom prst="rect">
            <a:avLst/>
          </a:prstGeom>
          <a:solidFill>
            <a:schemeClr val="accent4">
              <a:lumMod val="75000"/>
            </a:schemeClr>
          </a:solidFill>
        </p:spPr>
        <p:txBody>
          <a:bodyPr wrap="square">
            <a:spAutoFit/>
          </a:bodyPr>
          <a:lstStyle/>
          <a:p>
            <a:pPr marL="0" indent="0" algn="r" rtl="1">
              <a:lnSpc>
                <a:spcPct val="150000"/>
              </a:lnSpc>
              <a:buNone/>
            </a:pPr>
            <a:r>
              <a:rPr lang="ar-YE" sz="3200" b="0" i="0" dirty="0">
                <a:solidFill>
                  <a:srgbClr val="111111"/>
                </a:solidFill>
                <a:effectLst/>
                <a:highlight>
                  <a:srgbClr val="F3F3F3"/>
                </a:highlight>
                <a:latin typeface="-apple-system"/>
              </a:rPr>
              <a:t>تقنية الأعمال مفهوم يركز على  نظم إدارة قواعد البيانات وأدوات التحليل والتقارير واستخراج المعلومات القيمة ويركز على إدارة علاقات العملاء وأنظمة تخطيط احتياجات وموارد المنظمة وقنواتها التسويقية والترويجية والاتصال والتواصل بما يحقق رضا العملاء ويحقق الميزة التنافسية للمنظمة ويخفض التكاليف ويعمل على زيادة الربحية وسرعة أداء الاعمال بأعلى كفاءة وفاعلية وبأقل وقت وجهد وكلفة</a:t>
            </a:r>
            <a:endParaRPr lang="ar-YE" sz="3200" dirty="0"/>
          </a:p>
        </p:txBody>
      </p:sp>
    </p:spTree>
    <p:extLst>
      <p:ext uri="{BB962C8B-B14F-4D97-AF65-F5344CB8AC3E}">
        <p14:creationId xmlns:p14="http://schemas.microsoft.com/office/powerpoint/2010/main" val="4229741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DD056-34B7-3665-192F-8F3760BF1FEB}"/>
            </a:ext>
          </a:extLst>
        </p:cNvPr>
        <p:cNvGrpSpPr/>
        <p:nvPr/>
      </p:nvGrpSpPr>
      <p:grpSpPr>
        <a:xfrm>
          <a:off x="0" y="0"/>
          <a:ext cx="0" cy="0"/>
          <a:chOff x="0" y="0"/>
          <a:chExt cx="0" cy="0"/>
        </a:xfrm>
      </p:grpSpPr>
      <p:sp>
        <p:nvSpPr>
          <p:cNvPr id="7" name="Arrow: Right 6">
            <a:extLst>
              <a:ext uri="{FF2B5EF4-FFF2-40B4-BE49-F238E27FC236}">
                <a16:creationId xmlns:a16="http://schemas.microsoft.com/office/drawing/2014/main" id="{A498A270-42A1-B0DA-DE01-CA9A55779D7C}"/>
              </a:ext>
            </a:extLst>
          </p:cNvPr>
          <p:cNvSpPr/>
          <p:nvPr/>
        </p:nvSpPr>
        <p:spPr>
          <a:xfrm rot="10800000">
            <a:off x="1066800" y="423127"/>
            <a:ext cx="10058400" cy="1352041"/>
          </a:xfrm>
          <a:prstGeom prst="rightArrow">
            <a:avLst>
              <a:gd name="adj1" fmla="val 51572"/>
              <a:gd name="adj2" fmla="val 4984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a:p>
        </p:txBody>
      </p:sp>
      <p:sp>
        <p:nvSpPr>
          <p:cNvPr id="11" name="TextBox 10">
            <a:extLst>
              <a:ext uri="{FF2B5EF4-FFF2-40B4-BE49-F238E27FC236}">
                <a16:creationId xmlns:a16="http://schemas.microsoft.com/office/drawing/2014/main" id="{FFB0EB19-E7BA-90BD-A7F6-D017631A42B1}"/>
              </a:ext>
            </a:extLst>
          </p:cNvPr>
          <p:cNvSpPr txBox="1"/>
          <p:nvPr/>
        </p:nvSpPr>
        <p:spPr>
          <a:xfrm>
            <a:off x="7272287" y="742143"/>
            <a:ext cx="3852913" cy="707886"/>
          </a:xfrm>
          <a:prstGeom prst="rect">
            <a:avLst/>
          </a:prstGeom>
          <a:noFill/>
        </p:spPr>
        <p:txBody>
          <a:bodyPr wrap="square" rtlCol="0">
            <a:spAutoFit/>
          </a:bodyPr>
          <a:lstStyle/>
          <a:p>
            <a:pPr algn="r" rtl="1"/>
            <a:r>
              <a:rPr lang="ar-YE" altLang="ko-KR" sz="4000" b="1" dirty="0">
                <a:solidFill>
                  <a:schemeClr val="bg1"/>
                </a:solidFill>
                <a:cs typeface="Arial" pitchFamily="34" charset="0"/>
              </a:rPr>
              <a:t>عمليات تقنية الاعمال:</a:t>
            </a:r>
          </a:p>
        </p:txBody>
      </p:sp>
      <p:sp>
        <p:nvSpPr>
          <p:cNvPr id="13" name="TextBox 12">
            <a:extLst>
              <a:ext uri="{FF2B5EF4-FFF2-40B4-BE49-F238E27FC236}">
                <a16:creationId xmlns:a16="http://schemas.microsoft.com/office/drawing/2014/main" id="{4C79C473-152C-B0E9-4C03-8F62FB40F9DD}"/>
              </a:ext>
            </a:extLst>
          </p:cNvPr>
          <p:cNvSpPr txBox="1"/>
          <p:nvPr/>
        </p:nvSpPr>
        <p:spPr>
          <a:xfrm>
            <a:off x="4991171" y="3092671"/>
            <a:ext cx="3852913" cy="338554"/>
          </a:xfrm>
          <a:prstGeom prst="rect">
            <a:avLst/>
          </a:prstGeom>
          <a:noFill/>
        </p:spPr>
        <p:txBody>
          <a:bodyPr wrap="square" rtlCol="0">
            <a:spAutoFit/>
          </a:bodyPr>
          <a:lstStyle/>
          <a:p>
            <a:r>
              <a:rPr lang="en-US" altLang="ko-KR" sz="1600" b="1" dirty="0">
                <a:solidFill>
                  <a:schemeClr val="bg1"/>
                </a:solidFill>
                <a:cs typeface="Arial" pitchFamily="34" charset="0"/>
              </a:rPr>
              <a:t>Modern  PowerPoint  Presentation</a:t>
            </a:r>
            <a:endParaRPr lang="ko-KR" altLang="en-US" sz="1600" b="1" dirty="0">
              <a:solidFill>
                <a:schemeClr val="bg1"/>
              </a:solidFill>
              <a:cs typeface="Arial" pitchFamily="34" charset="0"/>
            </a:endParaRPr>
          </a:p>
        </p:txBody>
      </p:sp>
      <p:sp>
        <p:nvSpPr>
          <p:cNvPr id="28" name="TextBox 27">
            <a:extLst>
              <a:ext uri="{FF2B5EF4-FFF2-40B4-BE49-F238E27FC236}">
                <a16:creationId xmlns:a16="http://schemas.microsoft.com/office/drawing/2014/main" id="{AADEF424-D0C2-03A5-11E3-82D5DF4D86E5}"/>
              </a:ext>
            </a:extLst>
          </p:cNvPr>
          <p:cNvSpPr txBox="1"/>
          <p:nvPr/>
        </p:nvSpPr>
        <p:spPr>
          <a:xfrm>
            <a:off x="2028638" y="1443419"/>
            <a:ext cx="8745338" cy="3694409"/>
          </a:xfrm>
          <a:prstGeom prst="rect">
            <a:avLst/>
          </a:prstGeom>
          <a:solidFill>
            <a:schemeClr val="accent4">
              <a:lumMod val="75000"/>
            </a:schemeClr>
          </a:solidFill>
        </p:spPr>
        <p:txBody>
          <a:bodyPr wrap="square">
            <a:spAutoFit/>
          </a:bodyPr>
          <a:lstStyle/>
          <a:p>
            <a:pPr marL="0" indent="0" algn="r" rtl="1">
              <a:lnSpc>
                <a:spcPct val="150000"/>
              </a:lnSpc>
              <a:buNone/>
            </a:pPr>
            <a:r>
              <a:rPr lang="ar-YE" sz="3200" b="0" i="0" dirty="0">
                <a:solidFill>
                  <a:srgbClr val="111111"/>
                </a:solidFill>
                <a:effectLst/>
                <a:highlight>
                  <a:srgbClr val="F3F3F3"/>
                </a:highlight>
                <a:latin typeface="-apple-system"/>
              </a:rPr>
              <a:t>عمليات الأعمال مجموعة من الأنشطة التي تستخدم التكنولوجيا لتحسين أداء المنظمات وتسهيل عملياتها الإنتاجية والتسويقية والمالية وكل </a:t>
            </a:r>
            <a:r>
              <a:rPr lang="ar-YE" sz="3200" dirty="0">
                <a:solidFill>
                  <a:srgbClr val="111111"/>
                </a:solidFill>
                <a:highlight>
                  <a:srgbClr val="F3F3F3"/>
                </a:highlight>
                <a:latin typeface="-apple-system"/>
              </a:rPr>
              <a:t>وظائفها المختلفة في اطار الاتمتة الشاملة والامن السيبراني والذكاء الصناعي ومنصات التواصل الاجتماعي والادوات الافتراضية</a:t>
            </a:r>
            <a:r>
              <a:rPr lang="ar-YE" sz="3200" b="0" i="0" dirty="0">
                <a:solidFill>
                  <a:srgbClr val="111111"/>
                </a:solidFill>
                <a:effectLst/>
                <a:highlight>
                  <a:srgbClr val="F3F3F3"/>
                </a:highlight>
                <a:latin typeface="-apple-system"/>
              </a:rPr>
              <a:t>.</a:t>
            </a:r>
            <a:endParaRPr lang="ar-YE" sz="3200" dirty="0"/>
          </a:p>
        </p:txBody>
      </p:sp>
    </p:spTree>
    <p:extLst>
      <p:ext uri="{BB962C8B-B14F-4D97-AF65-F5344CB8AC3E}">
        <p14:creationId xmlns:p14="http://schemas.microsoft.com/office/powerpoint/2010/main" val="2340208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A8B57-933C-454F-846E-C6B54ED09A88}"/>
            </a:ext>
          </a:extLst>
        </p:cNvPr>
        <p:cNvGrpSpPr/>
        <p:nvPr/>
      </p:nvGrpSpPr>
      <p:grpSpPr>
        <a:xfrm>
          <a:off x="0" y="0"/>
          <a:ext cx="0" cy="0"/>
          <a:chOff x="0" y="0"/>
          <a:chExt cx="0" cy="0"/>
        </a:xfrm>
      </p:grpSpPr>
      <p:sp>
        <p:nvSpPr>
          <p:cNvPr id="7" name="Arrow: Right 6">
            <a:extLst>
              <a:ext uri="{FF2B5EF4-FFF2-40B4-BE49-F238E27FC236}">
                <a16:creationId xmlns:a16="http://schemas.microsoft.com/office/drawing/2014/main" id="{2FF7CEF6-FD39-105A-CC01-D2426536A07A}"/>
              </a:ext>
            </a:extLst>
          </p:cNvPr>
          <p:cNvSpPr/>
          <p:nvPr/>
        </p:nvSpPr>
        <p:spPr>
          <a:xfrm rot="10800000">
            <a:off x="984911" y="423126"/>
            <a:ext cx="10438263" cy="1352041"/>
          </a:xfrm>
          <a:prstGeom prst="rightArrow">
            <a:avLst>
              <a:gd name="adj1" fmla="val 51572"/>
              <a:gd name="adj2" fmla="val 49841"/>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11" name="TextBox 10">
            <a:extLst>
              <a:ext uri="{FF2B5EF4-FFF2-40B4-BE49-F238E27FC236}">
                <a16:creationId xmlns:a16="http://schemas.microsoft.com/office/drawing/2014/main" id="{DF20AD0B-64F7-BDD3-3051-0320C2157F0C}"/>
              </a:ext>
            </a:extLst>
          </p:cNvPr>
          <p:cNvSpPr txBox="1"/>
          <p:nvPr/>
        </p:nvSpPr>
        <p:spPr>
          <a:xfrm>
            <a:off x="7272287" y="742143"/>
            <a:ext cx="3852913" cy="707886"/>
          </a:xfrm>
          <a:prstGeom prst="rect">
            <a:avLst/>
          </a:prstGeom>
          <a:noFill/>
        </p:spPr>
        <p:txBody>
          <a:bodyPr wrap="square" rtlCol="0">
            <a:spAutoFit/>
          </a:bodyPr>
          <a:lstStyle/>
          <a:p>
            <a:pPr algn="r" rtl="1"/>
            <a:r>
              <a:rPr lang="ar-YE" altLang="ko-KR" sz="4000" b="1" dirty="0">
                <a:solidFill>
                  <a:schemeClr val="bg1"/>
                </a:solidFill>
                <a:cs typeface="Arial" pitchFamily="34" charset="0"/>
              </a:rPr>
              <a:t>عمليات تقنية الاعمال:</a:t>
            </a:r>
          </a:p>
        </p:txBody>
      </p:sp>
      <p:sp>
        <p:nvSpPr>
          <p:cNvPr id="13" name="TextBox 12">
            <a:extLst>
              <a:ext uri="{FF2B5EF4-FFF2-40B4-BE49-F238E27FC236}">
                <a16:creationId xmlns:a16="http://schemas.microsoft.com/office/drawing/2014/main" id="{38E79CA1-5686-7A0F-8931-988C9440897B}"/>
              </a:ext>
            </a:extLst>
          </p:cNvPr>
          <p:cNvSpPr txBox="1"/>
          <p:nvPr/>
        </p:nvSpPr>
        <p:spPr>
          <a:xfrm>
            <a:off x="4991171" y="3092671"/>
            <a:ext cx="3852913" cy="338554"/>
          </a:xfrm>
          <a:prstGeom prst="rect">
            <a:avLst/>
          </a:prstGeom>
          <a:noFill/>
        </p:spPr>
        <p:txBody>
          <a:bodyPr wrap="square" rtlCol="0">
            <a:spAutoFit/>
          </a:bodyPr>
          <a:lstStyle/>
          <a:p>
            <a:r>
              <a:rPr lang="en-US" altLang="ko-KR" sz="1600" b="1" dirty="0">
                <a:solidFill>
                  <a:schemeClr val="bg1"/>
                </a:solidFill>
                <a:cs typeface="Arial" pitchFamily="34" charset="0"/>
              </a:rPr>
              <a:t>Modern  PowerPoint  Presentation</a:t>
            </a:r>
            <a:endParaRPr lang="ko-KR" altLang="en-US" sz="1600" b="1" dirty="0">
              <a:solidFill>
                <a:schemeClr val="bg1"/>
              </a:solidFill>
              <a:cs typeface="Arial" pitchFamily="34" charset="0"/>
            </a:endParaRPr>
          </a:p>
        </p:txBody>
      </p:sp>
      <p:sp>
        <p:nvSpPr>
          <p:cNvPr id="28" name="TextBox 27">
            <a:extLst>
              <a:ext uri="{FF2B5EF4-FFF2-40B4-BE49-F238E27FC236}">
                <a16:creationId xmlns:a16="http://schemas.microsoft.com/office/drawing/2014/main" id="{69CDE11F-DCD0-7274-84B5-23DFE8670134}"/>
              </a:ext>
            </a:extLst>
          </p:cNvPr>
          <p:cNvSpPr txBox="1"/>
          <p:nvPr/>
        </p:nvSpPr>
        <p:spPr>
          <a:xfrm>
            <a:off x="2028638" y="1443419"/>
            <a:ext cx="8745338" cy="5045164"/>
          </a:xfrm>
          <a:prstGeom prst="rect">
            <a:avLst/>
          </a:prstGeom>
          <a:solidFill>
            <a:srgbClr val="92D050"/>
          </a:solidFill>
        </p:spPr>
        <p:txBody>
          <a:bodyPr wrap="square">
            <a:spAutoFit/>
          </a:bodyPr>
          <a:lstStyle/>
          <a:p>
            <a:pPr marL="0" indent="0" algn="r" rtl="1">
              <a:lnSpc>
                <a:spcPct val="150000"/>
              </a:lnSpc>
              <a:buNone/>
            </a:pPr>
            <a:r>
              <a:rPr lang="ar-YE" sz="4400" b="0" i="0" dirty="0">
                <a:solidFill>
                  <a:srgbClr val="111111"/>
                </a:solidFill>
                <a:effectLst/>
                <a:highlight>
                  <a:srgbClr val="F3F3F3"/>
                </a:highlight>
                <a:latin typeface="-apple-system"/>
              </a:rPr>
              <a:t>عمليات تقنية  الأعمال مجموعة من العمليات والخدمات الإدارية بمختلف وظائفها من تخطيط وتنظيم وتوجيه وتنسيق ورقابة واتخاذ قرار وبناء قاعدة معلومات ونشر وتوزيع وتحقق وصيانه لنظم وبرامج المعلومات في المنظمة</a:t>
            </a:r>
            <a:endParaRPr lang="ar-YE" sz="4400" dirty="0"/>
          </a:p>
        </p:txBody>
      </p:sp>
    </p:spTree>
    <p:extLst>
      <p:ext uri="{BB962C8B-B14F-4D97-AF65-F5344CB8AC3E}">
        <p14:creationId xmlns:p14="http://schemas.microsoft.com/office/powerpoint/2010/main" val="715006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B2868-8A2B-EDBA-B053-6075707C06E7}"/>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45214148-A48F-3564-BC90-777818DF113A}"/>
              </a:ext>
            </a:extLst>
          </p:cNvPr>
          <p:cNvSpPr txBox="1"/>
          <p:nvPr/>
        </p:nvSpPr>
        <p:spPr>
          <a:xfrm>
            <a:off x="464849" y="848470"/>
            <a:ext cx="8588702" cy="5902385"/>
          </a:xfrm>
          <a:prstGeom prst="rect">
            <a:avLst/>
          </a:prstGeom>
          <a:solidFill>
            <a:srgbClr val="FFC000"/>
          </a:solidFill>
        </p:spPr>
        <p:txBody>
          <a:bodyPr wrap="square">
            <a:spAutoFit/>
          </a:bodyPr>
          <a:lstStyle/>
          <a:p>
            <a:pPr marL="0" indent="0" algn="r" rtl="1">
              <a:buNone/>
            </a:pPr>
            <a:r>
              <a:rPr lang="ar-YE" sz="4000" b="1" dirty="0">
                <a:latin typeface="Calibri" panose="020F0502020204030204" pitchFamily="34" charset="0"/>
                <a:ea typeface="Calibri" panose="020F0502020204030204" pitchFamily="34" charset="0"/>
                <a:cs typeface="Arial" panose="020B0604020202020204" pitchFamily="34" charset="0"/>
              </a:rPr>
              <a:t>تشمل مفاهيم </a:t>
            </a:r>
            <a:r>
              <a:rPr lang="ar-SA" sz="4000" b="1" dirty="0">
                <a:effectLst/>
                <a:latin typeface="Calibri" panose="020F0502020204030204" pitchFamily="34" charset="0"/>
                <a:ea typeface="Calibri" panose="020F0502020204030204" pitchFamily="34" charset="0"/>
                <a:cs typeface="Arial" panose="020B0604020202020204" pitchFamily="34" charset="0"/>
              </a:rPr>
              <a:t>إدارة تقنية الأعمال</a:t>
            </a:r>
            <a:r>
              <a:rPr lang="ar-YE" sz="4000" b="1" dirty="0">
                <a:effectLst/>
                <a:latin typeface="Calibri" panose="020F0502020204030204" pitchFamily="34" charset="0"/>
                <a:ea typeface="Calibri" panose="020F0502020204030204" pitchFamily="34" charset="0"/>
                <a:cs typeface="Arial" panose="020B0604020202020204" pitchFamily="34" charset="0"/>
              </a:rPr>
              <a:t> التالي</a:t>
            </a:r>
            <a:r>
              <a:rPr lang="ar-SA" sz="4000" b="1" dirty="0">
                <a:effectLst/>
                <a:latin typeface="Calibri" panose="020F0502020204030204" pitchFamily="34" charset="0"/>
                <a:ea typeface="Calibri" panose="020F0502020204030204" pitchFamily="34" charset="0"/>
                <a:cs typeface="Arial" panose="020B0604020202020204" pitchFamily="34" charset="0"/>
              </a:rPr>
              <a:t> </a:t>
            </a:r>
            <a:r>
              <a:rPr lang="ar-YE" sz="4000" b="1" dirty="0">
                <a:effectLst/>
                <a:latin typeface="Calibri" panose="020F0502020204030204" pitchFamily="34" charset="0"/>
                <a:ea typeface="Calibri" panose="020F0502020204030204" pitchFamily="34" charset="0"/>
                <a:cs typeface="Arial" panose="020B0604020202020204" pitchFamily="34" charset="0"/>
              </a:rPr>
              <a:t>:</a:t>
            </a:r>
            <a:endParaRPr lang="ar-YE" sz="3200" b="1" dirty="0">
              <a:latin typeface="Calibri" panose="020F0502020204030204" pitchFamily="34" charset="0"/>
              <a:ea typeface="Calibri" panose="020F0502020204030204" pitchFamily="34" charset="0"/>
              <a:cs typeface="Arial" panose="020B0604020202020204" pitchFamily="34" charset="0"/>
            </a:endParaRPr>
          </a:p>
          <a:p>
            <a:pPr marL="457200" indent="-457200" algn="r" rtl="1">
              <a:buFont typeface="Wingdings" panose="05000000000000000000" pitchFamily="2" charset="2"/>
              <a:buChar char="ü"/>
            </a:pPr>
            <a:r>
              <a:rPr lang="ar-YE" sz="2400" b="1" dirty="0">
                <a:effectLst/>
                <a:latin typeface="Calibri" panose="020F0502020204030204" pitchFamily="34" charset="0"/>
                <a:ea typeface="Calibri" panose="020F0502020204030204" pitchFamily="34" charset="0"/>
                <a:cs typeface="Arial" panose="020B0604020202020204" pitchFamily="34" charset="0"/>
              </a:rPr>
              <a:t>.</a:t>
            </a:r>
          </a:p>
          <a:p>
            <a:pPr marL="457200" indent="-457200" algn="r" rtl="1">
              <a:lnSpc>
                <a:spcPct val="150000"/>
              </a:lnSpc>
              <a:buFont typeface="Wingdings" panose="05000000000000000000" pitchFamily="2" charset="2"/>
              <a:buChar char="ü"/>
            </a:pPr>
            <a:r>
              <a:rPr lang="ar-YE" sz="2400" b="1" dirty="0">
                <a:latin typeface="Calibri" panose="020F0502020204030204" pitchFamily="34" charset="0"/>
                <a:ea typeface="Calibri" panose="020F0502020204030204" pitchFamily="34" charset="0"/>
                <a:cs typeface="Arial" panose="020B0604020202020204" pitchFamily="34" charset="0"/>
              </a:rPr>
              <a:t>.</a:t>
            </a:r>
          </a:p>
          <a:p>
            <a:pPr marL="457200" indent="-457200" algn="r" rtl="1">
              <a:lnSpc>
                <a:spcPct val="150000"/>
              </a:lnSpc>
              <a:buFont typeface="Wingdings" panose="05000000000000000000" pitchFamily="2" charset="2"/>
              <a:buChar char="ü"/>
            </a:pPr>
            <a:r>
              <a:rPr lang="ar-YE" sz="4400" b="1" dirty="0">
                <a:latin typeface="Calibri" panose="020F0502020204030204" pitchFamily="34" charset="0"/>
                <a:ea typeface="Calibri" panose="020F0502020204030204" pitchFamily="34" charset="0"/>
                <a:cs typeface="Arial" panose="020B0604020202020204" pitchFamily="34" charset="0"/>
              </a:rPr>
              <a:t>إدارة المعلومات</a:t>
            </a:r>
          </a:p>
          <a:p>
            <a:pPr marL="457200" indent="-457200" algn="r" rtl="1">
              <a:lnSpc>
                <a:spcPct val="150000"/>
              </a:lnSpc>
              <a:buFont typeface="Wingdings" panose="05000000000000000000" pitchFamily="2" charset="2"/>
              <a:buChar char="ü"/>
            </a:pPr>
            <a:r>
              <a:rPr lang="ar-YE" sz="2400" b="1" dirty="0">
                <a:latin typeface="Calibri" panose="020F0502020204030204" pitchFamily="34" charset="0"/>
                <a:ea typeface="Calibri" panose="020F0502020204030204" pitchFamily="34" charset="0"/>
                <a:cs typeface="Arial" panose="020B0604020202020204" pitchFamily="34" charset="0"/>
              </a:rPr>
              <a:t>.</a:t>
            </a:r>
          </a:p>
          <a:p>
            <a:pPr marL="457200" indent="-457200" algn="r" rtl="1">
              <a:lnSpc>
                <a:spcPct val="150000"/>
              </a:lnSpc>
              <a:buFont typeface="Wingdings" panose="05000000000000000000" pitchFamily="2" charset="2"/>
              <a:buChar char="ü"/>
            </a:pPr>
            <a:r>
              <a:rPr lang="ar-YE" sz="2400" b="1" dirty="0">
                <a:latin typeface="Calibri" panose="020F0502020204030204" pitchFamily="34" charset="0"/>
                <a:ea typeface="Calibri" panose="020F0502020204030204" pitchFamily="34" charset="0"/>
                <a:cs typeface="Arial" panose="020B0604020202020204" pitchFamily="34" charset="0"/>
              </a:rPr>
              <a:t>.</a:t>
            </a:r>
          </a:p>
          <a:p>
            <a:pPr marL="457200" indent="-457200" algn="r" rtl="1">
              <a:lnSpc>
                <a:spcPct val="150000"/>
              </a:lnSpc>
              <a:buFont typeface="Wingdings" panose="05000000000000000000" pitchFamily="2" charset="2"/>
              <a:buChar char="ü"/>
            </a:pPr>
            <a:r>
              <a:rPr lang="ar-YE" sz="2400" b="1" dirty="0">
                <a:latin typeface="Calibri" panose="020F0502020204030204" pitchFamily="34" charset="0"/>
                <a:ea typeface="Calibri" panose="020F0502020204030204" pitchFamily="34" charset="0"/>
                <a:cs typeface="Arial" panose="020B0604020202020204" pitchFamily="34" charset="0"/>
              </a:rPr>
              <a:t>.</a:t>
            </a:r>
          </a:p>
          <a:p>
            <a:pPr marL="457200" indent="-457200" algn="r" rtl="1">
              <a:lnSpc>
                <a:spcPct val="150000"/>
              </a:lnSpc>
              <a:buFont typeface="Wingdings" panose="05000000000000000000" pitchFamily="2" charset="2"/>
              <a:buChar char="ü"/>
            </a:pPr>
            <a:r>
              <a:rPr lang="ar-YE" sz="2400" b="1" dirty="0">
                <a:latin typeface="Calibri" panose="020F0502020204030204" pitchFamily="34" charset="0"/>
                <a:ea typeface="Calibri" panose="020F0502020204030204" pitchFamily="34" charset="0"/>
                <a:cs typeface="Arial" panose="020B0604020202020204" pitchFamily="34" charset="0"/>
              </a:rPr>
              <a:t>.</a:t>
            </a:r>
          </a:p>
          <a:p>
            <a:pPr marL="457200" indent="-457200" algn="r" rtl="1">
              <a:lnSpc>
                <a:spcPct val="150000"/>
              </a:lnSpc>
              <a:buFont typeface="Wingdings" panose="05000000000000000000" pitchFamily="2" charset="2"/>
              <a:buChar char="ü"/>
            </a:pPr>
            <a:r>
              <a:rPr lang="ar-YE" sz="2400" b="1" dirty="0">
                <a:latin typeface="Calibri" panose="020F0502020204030204" pitchFamily="34" charset="0"/>
                <a:ea typeface="Calibri" panose="020F0502020204030204" pitchFamily="34" charset="0"/>
                <a:cs typeface="Arial" panose="020B0604020202020204" pitchFamily="34" charset="0"/>
              </a:rPr>
              <a:t>.</a:t>
            </a:r>
          </a:p>
          <a:p>
            <a:pPr marL="457200" indent="-457200" algn="r" rtl="1">
              <a:lnSpc>
                <a:spcPct val="150000"/>
              </a:lnSpc>
              <a:buFont typeface="Wingdings" panose="05000000000000000000" pitchFamily="2" charset="2"/>
              <a:buChar char="ü"/>
            </a:pPr>
            <a:r>
              <a:rPr lang="ar-YE" sz="2400" b="1" dirty="0">
                <a:latin typeface="Calibri" panose="020F0502020204030204" pitchFamily="34" charset="0"/>
                <a:ea typeface="Calibri" panose="020F0502020204030204" pitchFamily="34" charset="0"/>
                <a:cs typeface="Arial" panose="020B0604020202020204" pitchFamily="34" charset="0"/>
              </a:rPr>
              <a:t>.</a:t>
            </a:r>
            <a:endParaRPr lang="ar-IQ" sz="2400" b="1" dirty="0">
              <a:latin typeface="Calibri" panose="020F0502020204030204" pitchFamily="34" charset="0"/>
              <a:ea typeface="Calibri" panose="020F0502020204030204" pitchFamily="34" charset="0"/>
              <a:cs typeface="Arial" panose="020B0604020202020204" pitchFamily="34" charset="0"/>
            </a:endParaRPr>
          </a:p>
        </p:txBody>
      </p:sp>
      <p:sp>
        <p:nvSpPr>
          <p:cNvPr id="53" name="자유형: 도형 24">
            <a:extLst>
              <a:ext uri="{FF2B5EF4-FFF2-40B4-BE49-F238E27FC236}">
                <a16:creationId xmlns:a16="http://schemas.microsoft.com/office/drawing/2014/main" id="{01C20620-07E1-78CB-AB7C-F53F70760F50}"/>
              </a:ext>
            </a:extLst>
          </p:cNvPr>
          <p:cNvSpPr/>
          <p:nvPr/>
        </p:nvSpPr>
        <p:spPr>
          <a:xfrm>
            <a:off x="9071719" y="1850497"/>
            <a:ext cx="2637264"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rgbClr val="FF0000"/>
          </a:solidFill>
          <a:ln w="9525" cap="flat">
            <a:noFill/>
            <a:prstDash val="solid"/>
            <a:miter/>
          </a:ln>
        </p:spPr>
        <p:txBody>
          <a:bodyPr rtlCol="0" anchor="ctr"/>
          <a:lstStyle/>
          <a:p>
            <a:pPr algn="ctr"/>
            <a:r>
              <a:rPr lang="ar-YE" sz="3200" b="1" dirty="0">
                <a:solidFill>
                  <a:schemeClr val="bg2"/>
                </a:solidFill>
              </a:rPr>
              <a:t>مقدمة في:</a:t>
            </a:r>
          </a:p>
          <a:p>
            <a:pPr algn="ctr"/>
            <a:r>
              <a:rPr lang="ar-YE" sz="3200" b="1" dirty="0">
                <a:solidFill>
                  <a:schemeClr val="bg2"/>
                </a:solidFill>
              </a:rPr>
              <a:t>إدارة تقنية </a:t>
            </a:r>
          </a:p>
          <a:p>
            <a:pPr algn="ctr"/>
            <a:r>
              <a:rPr lang="ar-YE" sz="3200" b="1" dirty="0">
                <a:solidFill>
                  <a:schemeClr val="bg2"/>
                </a:solidFill>
              </a:rPr>
              <a:t>الاعمال</a:t>
            </a:r>
            <a:endParaRPr lang="en-US" sz="3200" b="1" dirty="0">
              <a:solidFill>
                <a:schemeClr val="bg2"/>
              </a:solidFill>
            </a:endParaRPr>
          </a:p>
        </p:txBody>
      </p:sp>
    </p:spTree>
    <p:extLst>
      <p:ext uri="{BB962C8B-B14F-4D97-AF65-F5344CB8AC3E}">
        <p14:creationId xmlns:p14="http://schemas.microsoft.com/office/powerpoint/2010/main" val="3169985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4FF7C-06D0-EB03-4A87-304AEC8C180C}"/>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755F1B47-01B7-45A8-7135-968E8C5B92F9}"/>
              </a:ext>
            </a:extLst>
          </p:cNvPr>
          <p:cNvSpPr txBox="1"/>
          <p:nvPr/>
        </p:nvSpPr>
        <p:spPr>
          <a:xfrm>
            <a:off x="232016" y="234321"/>
            <a:ext cx="8835183" cy="6463308"/>
          </a:xfrm>
          <a:prstGeom prst="rect">
            <a:avLst/>
          </a:prstGeom>
          <a:solidFill>
            <a:srgbClr val="FFC000"/>
          </a:solidFill>
        </p:spPr>
        <p:txBody>
          <a:bodyPr wrap="square">
            <a:spAutoFit/>
          </a:bodyPr>
          <a:lstStyle/>
          <a:p>
            <a:pPr algn="r" rtl="1">
              <a:lnSpc>
                <a:spcPct val="150000"/>
              </a:lnSpc>
            </a:pPr>
            <a:r>
              <a:rPr lang="ar-YE" sz="3600" b="1" dirty="0">
                <a:latin typeface="Calibri" panose="020F0502020204030204" pitchFamily="34" charset="0"/>
                <a:ea typeface="Calibri" panose="020F0502020204030204" pitchFamily="34" charset="0"/>
                <a:cs typeface="Arial" panose="020B0604020202020204" pitchFamily="34" charset="0"/>
              </a:rPr>
              <a:t>تتكون بيئة إدارة المعلومات من المجالات التالية:</a:t>
            </a:r>
          </a:p>
          <a:p>
            <a:pPr marL="1028700" lvl="1" indent="-571500" algn="r" rtl="1">
              <a:buFont typeface="Arial" panose="020B0604020202020204" pitchFamily="34" charset="0"/>
              <a:buChar char="•"/>
            </a:pPr>
            <a:r>
              <a:rPr lang="ar-YE" sz="3600" b="1" dirty="0">
                <a:latin typeface="Calibri" panose="020F0502020204030204" pitchFamily="34" charset="0"/>
                <a:ea typeface="Calibri" panose="020F0502020204030204" pitchFamily="34" charset="0"/>
                <a:cs typeface="Arial" panose="020B0604020202020204" pitchFamily="34" charset="0"/>
              </a:rPr>
              <a:t>إدارة المحتوى</a:t>
            </a:r>
          </a:p>
          <a:p>
            <a:pPr marL="1028700" lvl="1" indent="-571500" algn="r" rtl="1">
              <a:buFont typeface="Arial" panose="020B0604020202020204" pitchFamily="34" charset="0"/>
              <a:buChar char="•"/>
            </a:pPr>
            <a:r>
              <a:rPr lang="ar-YE" sz="3600" b="1" dirty="0">
                <a:latin typeface="Calibri" panose="020F0502020204030204" pitchFamily="34" charset="0"/>
                <a:ea typeface="Calibri" panose="020F0502020204030204" pitchFamily="34" charset="0"/>
                <a:cs typeface="Arial" panose="020B0604020202020204" pitchFamily="34" charset="0"/>
              </a:rPr>
              <a:t>إدارة المعرفة</a:t>
            </a:r>
          </a:p>
          <a:p>
            <a:pPr marL="1028700" lvl="1" indent="-571500" algn="r" rtl="1">
              <a:buFont typeface="Arial" panose="020B0604020202020204" pitchFamily="34" charset="0"/>
              <a:buChar char="•"/>
            </a:pPr>
            <a:r>
              <a:rPr lang="ar-YE" sz="3600" b="1" dirty="0">
                <a:latin typeface="Calibri" panose="020F0502020204030204" pitchFamily="34" charset="0"/>
                <a:ea typeface="Calibri" panose="020F0502020204030204" pitchFamily="34" charset="0"/>
                <a:cs typeface="Arial" panose="020B0604020202020204" pitchFamily="34" charset="0"/>
              </a:rPr>
              <a:t>إدارة السجلات والارشفة</a:t>
            </a:r>
          </a:p>
          <a:p>
            <a:pPr marL="1028700" lvl="1" indent="-571500" algn="r" rtl="1">
              <a:buFont typeface="Arial" panose="020B0604020202020204" pitchFamily="34" charset="0"/>
              <a:buChar char="•"/>
            </a:pPr>
            <a:r>
              <a:rPr lang="ar-YE" sz="3600" b="1" dirty="0">
                <a:latin typeface="Calibri" panose="020F0502020204030204" pitchFamily="34" charset="0"/>
                <a:ea typeface="Calibri" panose="020F0502020204030204" pitchFamily="34" charset="0"/>
                <a:cs typeface="Arial" panose="020B0604020202020204" pitchFamily="34" charset="0"/>
              </a:rPr>
              <a:t>إدارة اتمتة الاعمال</a:t>
            </a:r>
          </a:p>
          <a:p>
            <a:pPr marL="1028700" lvl="1" indent="-571500" algn="r" rtl="1">
              <a:buFont typeface="Arial" panose="020B0604020202020204" pitchFamily="34" charset="0"/>
              <a:buChar char="•"/>
            </a:pPr>
            <a:r>
              <a:rPr lang="ar-YE" sz="3600" b="1" dirty="0">
                <a:latin typeface="Calibri" panose="020F0502020204030204" pitchFamily="34" charset="0"/>
                <a:ea typeface="Calibri" panose="020F0502020204030204" pitchFamily="34" charset="0"/>
                <a:cs typeface="Arial" panose="020B0604020202020204" pitchFamily="34" charset="0"/>
              </a:rPr>
              <a:t>إدارة محتوى الانترنت</a:t>
            </a:r>
          </a:p>
          <a:p>
            <a:pPr marL="1028700" lvl="1" indent="-571500" algn="r" rtl="1">
              <a:buFont typeface="Arial" panose="020B0604020202020204" pitchFamily="34" charset="0"/>
              <a:buChar char="•"/>
            </a:pPr>
            <a:r>
              <a:rPr lang="ar-YE" sz="3600" b="1" dirty="0">
                <a:latin typeface="Calibri" panose="020F0502020204030204" pitchFamily="34" charset="0"/>
                <a:ea typeface="Calibri" panose="020F0502020204030204" pitchFamily="34" charset="0"/>
                <a:cs typeface="Arial" panose="020B0604020202020204" pitchFamily="34" charset="0"/>
              </a:rPr>
              <a:t>إدارة أدوات الاعلام والمنصات الاجتماعية والافتراضية</a:t>
            </a:r>
          </a:p>
          <a:p>
            <a:pPr marL="1028700" lvl="1" indent="-571500" algn="r" rtl="1">
              <a:buFont typeface="Arial" panose="020B0604020202020204" pitchFamily="34" charset="0"/>
              <a:buChar char="•"/>
            </a:pPr>
            <a:r>
              <a:rPr lang="ar-YE" sz="3600" b="1" dirty="0">
                <a:latin typeface="Calibri" panose="020F0502020204030204" pitchFamily="34" charset="0"/>
                <a:ea typeface="Calibri" panose="020F0502020204030204" pitchFamily="34" charset="0"/>
                <a:cs typeface="Arial" panose="020B0604020202020204" pitchFamily="34" charset="0"/>
              </a:rPr>
              <a:t>ذكاء الاعمال</a:t>
            </a:r>
          </a:p>
          <a:p>
            <a:pPr marL="1028700" lvl="1" indent="-571500" algn="r" rtl="1">
              <a:buFont typeface="Arial" panose="020B0604020202020204" pitchFamily="34" charset="0"/>
              <a:buChar char="•"/>
            </a:pPr>
            <a:r>
              <a:rPr lang="ar-YE" sz="3600" b="1" dirty="0">
                <a:latin typeface="Calibri" panose="020F0502020204030204" pitchFamily="34" charset="0"/>
                <a:ea typeface="Calibri" panose="020F0502020204030204" pitchFamily="34" charset="0"/>
                <a:cs typeface="Arial" panose="020B0604020202020204" pitchFamily="34" charset="0"/>
              </a:rPr>
              <a:t>إدارة البيانات الرئيسة</a:t>
            </a:r>
          </a:p>
          <a:p>
            <a:pPr marL="1028700" lvl="1" indent="-571500" algn="r" rtl="1">
              <a:buFont typeface="Arial" panose="020B0604020202020204" pitchFamily="34" charset="0"/>
              <a:buChar char="•"/>
            </a:pPr>
            <a:r>
              <a:rPr lang="ar-YE" sz="3600" b="1" dirty="0">
                <a:latin typeface="Calibri" panose="020F0502020204030204" pitchFamily="34" charset="0"/>
                <a:ea typeface="Calibri" panose="020F0502020204030204" pitchFamily="34" charset="0"/>
                <a:cs typeface="Arial" panose="020B0604020202020204" pitchFamily="34" charset="0"/>
              </a:rPr>
              <a:t>إدارة وحماية المعلومات</a:t>
            </a:r>
          </a:p>
        </p:txBody>
      </p:sp>
      <p:sp>
        <p:nvSpPr>
          <p:cNvPr id="53" name="자유형: 도형 24">
            <a:extLst>
              <a:ext uri="{FF2B5EF4-FFF2-40B4-BE49-F238E27FC236}">
                <a16:creationId xmlns:a16="http://schemas.microsoft.com/office/drawing/2014/main" id="{D8809B71-158B-0F54-459F-B37111A6EA39}"/>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A61CF692-21E5-6E65-E859-22CCB9EE760C}"/>
              </a:ext>
            </a:extLst>
          </p:cNvPr>
          <p:cNvSpPr/>
          <p:nvPr/>
        </p:nvSpPr>
        <p:spPr>
          <a:xfrm>
            <a:off x="8748216" y="1624084"/>
            <a:ext cx="3358832" cy="3016077"/>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400" b="1" dirty="0">
                <a:latin typeface="Calibri" panose="020F0502020204030204" pitchFamily="34" charset="0"/>
                <a:ea typeface="Calibri" panose="020F0502020204030204" pitchFamily="34" charset="0"/>
                <a:cs typeface="Arial" panose="020B0604020202020204" pitchFamily="34" charset="0"/>
              </a:rPr>
              <a:t>مجالات</a:t>
            </a:r>
          </a:p>
          <a:p>
            <a:pPr algn="ctr" rtl="1"/>
            <a:r>
              <a:rPr lang="ar-YE" sz="4400" b="1" dirty="0">
                <a:latin typeface="Calibri" panose="020F0502020204030204" pitchFamily="34" charset="0"/>
                <a:ea typeface="Calibri" panose="020F0502020204030204" pitchFamily="34" charset="0"/>
                <a:cs typeface="Arial" panose="020B0604020202020204" pitchFamily="34" charset="0"/>
              </a:rPr>
              <a:t>إدارة</a:t>
            </a:r>
          </a:p>
          <a:p>
            <a:pPr algn="ctr" rtl="1"/>
            <a:r>
              <a:rPr lang="ar-YE" sz="44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4184910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E7741-D2E6-0D6A-D4D8-3AC53FC94D7C}"/>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4A5460F8-1300-EABE-88DC-C128C6B89164}"/>
              </a:ext>
            </a:extLst>
          </p:cNvPr>
          <p:cNvSpPr txBox="1"/>
          <p:nvPr/>
        </p:nvSpPr>
        <p:spPr>
          <a:xfrm>
            <a:off x="232016" y="534576"/>
            <a:ext cx="8835183" cy="5940088"/>
          </a:xfrm>
          <a:prstGeom prst="rect">
            <a:avLst/>
          </a:prstGeom>
          <a:solidFill>
            <a:schemeClr val="accent2">
              <a:lumMod val="75000"/>
            </a:schemeClr>
          </a:solidFill>
        </p:spPr>
        <p:txBody>
          <a:bodyPr wrap="square">
            <a:spAutoFit/>
          </a:bodyPr>
          <a:lstStyle/>
          <a:p>
            <a:pPr algn="r" rtl="1">
              <a:lnSpc>
                <a:spcPct val="150000"/>
              </a:lnSpc>
            </a:pPr>
            <a:r>
              <a:rPr lang="ar-YE" sz="4000" b="1" dirty="0">
                <a:latin typeface="Calibri" panose="020F0502020204030204" pitchFamily="34" charset="0"/>
                <a:ea typeface="Calibri" panose="020F0502020204030204" pitchFamily="34" charset="0"/>
                <a:cs typeface="Arial" panose="020B0604020202020204" pitchFamily="34" charset="0"/>
              </a:rPr>
              <a:t>تعتمد إدارة المعلومات على المبادئ التالية:</a:t>
            </a:r>
          </a:p>
          <a:p>
            <a:pPr marL="1028700" lvl="1" indent="-571500" algn="r" rtl="1">
              <a:buFont typeface="Arial" panose="020B0604020202020204" pitchFamily="34" charset="0"/>
              <a:buChar char="•"/>
            </a:pPr>
            <a:r>
              <a:rPr lang="ar-YE" sz="4000" b="1" dirty="0">
                <a:latin typeface="Calibri" panose="020F0502020204030204" pitchFamily="34" charset="0"/>
                <a:ea typeface="Calibri" panose="020F0502020204030204" pitchFamily="34" charset="0"/>
                <a:cs typeface="Arial" panose="020B0604020202020204" pitchFamily="34" charset="0"/>
              </a:rPr>
              <a:t>المعلومة اصل من أصول المنظمة</a:t>
            </a:r>
          </a:p>
          <a:p>
            <a:pPr marL="1028700" lvl="1" indent="-571500" algn="r" rtl="1">
              <a:buFont typeface="Arial" panose="020B0604020202020204" pitchFamily="34" charset="0"/>
              <a:buChar char="•"/>
            </a:pPr>
            <a:r>
              <a:rPr lang="ar-YE" sz="4000" b="1" dirty="0">
                <a:latin typeface="Calibri" panose="020F0502020204030204" pitchFamily="34" charset="0"/>
                <a:ea typeface="Calibri" panose="020F0502020204030204" pitchFamily="34" charset="0"/>
                <a:cs typeface="Arial" panose="020B0604020202020204" pitchFamily="34" charset="0"/>
              </a:rPr>
              <a:t>المعلومة </a:t>
            </a:r>
            <a:r>
              <a:rPr lang="ar-YE" sz="4000" b="1" dirty="0" err="1">
                <a:latin typeface="Calibri" panose="020F0502020204030204" pitchFamily="34" charset="0"/>
                <a:ea typeface="Calibri" panose="020F0502020204030204" pitchFamily="34" charset="0"/>
                <a:cs typeface="Arial" panose="020B0604020202020204" pitchFamily="34" charset="0"/>
              </a:rPr>
              <a:t>باهضة</a:t>
            </a:r>
            <a:r>
              <a:rPr lang="ar-YE" sz="4000" b="1" dirty="0">
                <a:latin typeface="Calibri" panose="020F0502020204030204" pitchFamily="34" charset="0"/>
                <a:ea typeface="Calibri" panose="020F0502020204030204" pitchFamily="34" charset="0"/>
                <a:cs typeface="Arial" panose="020B0604020202020204" pitchFamily="34" charset="0"/>
              </a:rPr>
              <a:t> الثمن ويجب الاحتفاظ بها</a:t>
            </a:r>
          </a:p>
          <a:p>
            <a:pPr marL="1028700" lvl="1" indent="-571500" algn="r" rtl="1">
              <a:buFont typeface="Arial" panose="020B0604020202020204" pitchFamily="34" charset="0"/>
              <a:buChar char="•"/>
            </a:pPr>
            <a:r>
              <a:rPr lang="ar-YE" sz="4000" b="1" dirty="0">
                <a:latin typeface="Calibri" panose="020F0502020204030204" pitchFamily="34" charset="0"/>
                <a:ea typeface="Calibri" panose="020F0502020204030204" pitchFamily="34" charset="0"/>
                <a:cs typeface="Arial" panose="020B0604020202020204" pitchFamily="34" charset="0"/>
              </a:rPr>
              <a:t>المعلومة تؤثر على كل مفاصل المنظمة</a:t>
            </a:r>
          </a:p>
          <a:p>
            <a:pPr marL="1028700" lvl="1" indent="-571500" algn="r" rtl="1">
              <a:buFont typeface="Arial" panose="020B0604020202020204" pitchFamily="34" charset="0"/>
              <a:buChar char="•"/>
            </a:pPr>
            <a:r>
              <a:rPr lang="ar-YE" sz="4000" b="1" dirty="0">
                <a:latin typeface="Calibri" panose="020F0502020204030204" pitchFamily="34" charset="0"/>
                <a:ea typeface="Calibri" panose="020F0502020204030204" pitchFamily="34" charset="0"/>
                <a:cs typeface="Arial" panose="020B0604020202020204" pitchFamily="34" charset="0"/>
              </a:rPr>
              <a:t>توفر المعلومة وفقا للصلاحيات فقط</a:t>
            </a:r>
          </a:p>
          <a:p>
            <a:pPr marL="1028700" lvl="1" indent="-571500" algn="r" rtl="1">
              <a:buFont typeface="Arial" panose="020B0604020202020204" pitchFamily="34" charset="0"/>
              <a:buChar char="•"/>
            </a:pPr>
            <a:r>
              <a:rPr lang="ar-YE" sz="4000" b="1" dirty="0">
                <a:latin typeface="Calibri" panose="020F0502020204030204" pitchFamily="34" charset="0"/>
                <a:ea typeface="Calibri" panose="020F0502020204030204" pitchFamily="34" charset="0"/>
                <a:cs typeface="Arial" panose="020B0604020202020204" pitchFamily="34" charset="0"/>
              </a:rPr>
              <a:t>توفير البرامج والأجهزة التي تطيل من عمر الاحتفاظ بالمعلومة </a:t>
            </a:r>
          </a:p>
          <a:p>
            <a:pPr marL="1028700" lvl="1" indent="-571500" algn="r" rtl="1">
              <a:buFont typeface="Arial" panose="020B0604020202020204" pitchFamily="34" charset="0"/>
              <a:buChar char="•"/>
            </a:pPr>
            <a:r>
              <a:rPr lang="ar-YE" sz="4000" b="1" dirty="0">
                <a:latin typeface="Calibri" panose="020F0502020204030204" pitchFamily="34" charset="0"/>
                <a:ea typeface="Calibri" panose="020F0502020204030204" pitchFamily="34" charset="0"/>
                <a:cs typeface="Arial" panose="020B0604020202020204" pitchFamily="34" charset="0"/>
              </a:rPr>
              <a:t>وضع السياسات والضوابط التي تضمن حماية المعلومات وطريقة التعامل معها</a:t>
            </a:r>
          </a:p>
        </p:txBody>
      </p:sp>
      <p:sp>
        <p:nvSpPr>
          <p:cNvPr id="53" name="자유형: 도형 24">
            <a:extLst>
              <a:ext uri="{FF2B5EF4-FFF2-40B4-BE49-F238E27FC236}">
                <a16:creationId xmlns:a16="http://schemas.microsoft.com/office/drawing/2014/main" id="{29E757A6-1FA3-6E54-B054-6AD5D3BA200E}"/>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90C62006-4353-539C-83E3-CD6EC6F5EE8F}"/>
              </a:ext>
            </a:extLst>
          </p:cNvPr>
          <p:cNvSpPr/>
          <p:nvPr/>
        </p:nvSpPr>
        <p:spPr>
          <a:xfrm>
            <a:off x="8748216" y="1624084"/>
            <a:ext cx="3358832" cy="3016077"/>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2">
              <a:lumMod val="50000"/>
            </a:schemeClr>
          </a:solidFill>
          <a:ln w="9525" cap="flat">
            <a:noFill/>
            <a:prstDash val="solid"/>
            <a:miter/>
          </a:ln>
        </p:spPr>
        <p:txBody>
          <a:bodyPr rtlCol="0" anchor="ctr"/>
          <a:lstStyle/>
          <a:p>
            <a:pPr algn="ctr" rtl="1"/>
            <a:r>
              <a:rPr lang="ar-YE" sz="4400" b="1" dirty="0">
                <a:latin typeface="Calibri" panose="020F0502020204030204" pitchFamily="34" charset="0"/>
                <a:ea typeface="Calibri" panose="020F0502020204030204" pitchFamily="34" charset="0"/>
                <a:cs typeface="Arial" panose="020B0604020202020204" pitchFamily="34" charset="0"/>
              </a:rPr>
              <a:t>مبادئ</a:t>
            </a:r>
          </a:p>
          <a:p>
            <a:pPr algn="ctr" rtl="1"/>
            <a:r>
              <a:rPr lang="ar-YE" sz="4400" b="1" dirty="0">
                <a:latin typeface="Calibri" panose="020F0502020204030204" pitchFamily="34" charset="0"/>
                <a:ea typeface="Calibri" panose="020F0502020204030204" pitchFamily="34" charset="0"/>
                <a:cs typeface="Arial" panose="020B0604020202020204" pitchFamily="34" charset="0"/>
              </a:rPr>
              <a:t>إدارة</a:t>
            </a:r>
          </a:p>
          <a:p>
            <a:pPr algn="ctr" rtl="1"/>
            <a:r>
              <a:rPr lang="ar-YE" sz="44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3024849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AF0D9-0AAD-DC63-5D65-D6966E6BB020}"/>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E1CBB0B0-616D-836A-6E82-73F66A9EBE6D}"/>
              </a:ext>
            </a:extLst>
          </p:cNvPr>
          <p:cNvSpPr txBox="1"/>
          <p:nvPr/>
        </p:nvSpPr>
        <p:spPr>
          <a:xfrm>
            <a:off x="232016" y="234321"/>
            <a:ext cx="8835183" cy="5355312"/>
          </a:xfrm>
          <a:prstGeom prst="rect">
            <a:avLst/>
          </a:prstGeom>
          <a:solidFill>
            <a:schemeClr val="accent3">
              <a:lumMod val="60000"/>
              <a:lumOff val="40000"/>
            </a:schemeClr>
          </a:solidFill>
        </p:spPr>
        <p:txBody>
          <a:bodyPr wrap="square">
            <a:spAutoFit/>
          </a:bodyPr>
          <a:lstStyle/>
          <a:p>
            <a:pPr algn="r" rtl="1">
              <a:lnSpc>
                <a:spcPct val="150000"/>
              </a:lnSpc>
            </a:pPr>
            <a:r>
              <a:rPr lang="ar-YE" sz="3600" b="1" dirty="0">
                <a:latin typeface="Calibri" panose="020F0502020204030204" pitchFamily="34" charset="0"/>
                <a:ea typeface="Calibri" panose="020F0502020204030204" pitchFamily="34" charset="0"/>
                <a:cs typeface="Arial" panose="020B0604020202020204" pitchFamily="34" charset="0"/>
              </a:rPr>
              <a:t>يشير مفهوم إدارة تقنية المعلومات إلى:</a:t>
            </a:r>
          </a:p>
          <a:p>
            <a:pPr marL="1028700" lvl="1" indent="-571500" algn="r" rtl="1">
              <a:buFont typeface="Arial" panose="020B0604020202020204" pitchFamily="34" charset="0"/>
              <a:buChar char="•"/>
            </a:pPr>
            <a:r>
              <a:rPr lang="ar-YE" sz="3600" b="1" dirty="0">
                <a:latin typeface="Calibri" panose="020F0502020204030204" pitchFamily="34" charset="0"/>
                <a:ea typeface="Calibri" panose="020F0502020204030204" pitchFamily="34" charset="0"/>
                <a:cs typeface="Arial" panose="020B0604020202020204" pitchFamily="34" charset="0"/>
              </a:rPr>
              <a:t>الى الإدارة التي تتولي تقديم جميع الخدمات المتعلقة بتقنية المعلومات وتخطيطها وتنظيمها وتبادلها واستراتيجياتها والرقابة عليها وحمايتها وتعمل على توفير كل متطلبات تقنية المعلومات من أجهزة حاسوب وأنظمة وبرامج وطاقة وطابعات وماسحات ضوئية وتعمل على ديمومتها وضمان استمرار عملها بكفاءة عالية وتوفر لها الحماية البرمجية والمادية وتعمل على صيانتها وتحديها باستمرار</a:t>
            </a:r>
          </a:p>
        </p:txBody>
      </p:sp>
      <p:sp>
        <p:nvSpPr>
          <p:cNvPr id="53" name="자유형: 도형 24">
            <a:extLst>
              <a:ext uri="{FF2B5EF4-FFF2-40B4-BE49-F238E27FC236}">
                <a16:creationId xmlns:a16="http://schemas.microsoft.com/office/drawing/2014/main" id="{EA0B3883-106F-2D7D-9B90-86B50DBFC1C4}"/>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063B4AE1-5195-373B-8429-3F3758A570E4}"/>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مفهوم</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إدارة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2178220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B48B7-BBBC-AB90-E330-9035C3A70A83}"/>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96C3CA39-2991-7BAE-89D5-577FA9AF729A}"/>
              </a:ext>
            </a:extLst>
          </p:cNvPr>
          <p:cNvSpPr txBox="1"/>
          <p:nvPr/>
        </p:nvSpPr>
        <p:spPr>
          <a:xfrm>
            <a:off x="232016" y="234321"/>
            <a:ext cx="8835183" cy="6463308"/>
          </a:xfrm>
          <a:prstGeom prst="rect">
            <a:avLst/>
          </a:prstGeom>
          <a:solidFill>
            <a:schemeClr val="accent5">
              <a:lumMod val="40000"/>
              <a:lumOff val="60000"/>
            </a:schemeClr>
          </a:solidFill>
        </p:spPr>
        <p:txBody>
          <a:bodyPr wrap="square">
            <a:spAutoFit/>
          </a:bodyPr>
          <a:lstStyle/>
          <a:p>
            <a:pPr algn="r" rtl="1">
              <a:lnSpc>
                <a:spcPct val="150000"/>
              </a:lnSpc>
            </a:pPr>
            <a:r>
              <a:rPr lang="ar-YE" sz="3600" b="1" dirty="0">
                <a:latin typeface="Calibri" panose="020F0502020204030204" pitchFamily="34" charset="0"/>
                <a:ea typeface="Calibri" panose="020F0502020204030204" pitchFamily="34" charset="0"/>
                <a:cs typeface="Arial" panose="020B0604020202020204" pitchFamily="34" charset="0"/>
              </a:rPr>
              <a:t>تتمثل مهام ومسئوليات إدارة تقنية المعلومات في :</a:t>
            </a:r>
          </a:p>
          <a:p>
            <a:pPr marL="1028700" lvl="1" indent="-571500" algn="r" rtl="1">
              <a:buFont typeface="Arial" panose="020B0604020202020204" pitchFamily="34" charset="0"/>
              <a:buChar char="•"/>
            </a:pPr>
            <a:r>
              <a:rPr lang="ar-YE" sz="3600" b="1" dirty="0">
                <a:latin typeface="Calibri" panose="020F0502020204030204" pitchFamily="34" charset="0"/>
                <a:ea typeface="Calibri" panose="020F0502020204030204" pitchFamily="34" charset="0"/>
                <a:cs typeface="Arial" panose="020B0604020202020204" pitchFamily="34" charset="0"/>
              </a:rPr>
              <a:t>تحديد البرامج والأنظمة التقنية والعمل على تطويرها</a:t>
            </a:r>
          </a:p>
          <a:p>
            <a:pPr marL="1028700" lvl="1" indent="-571500" algn="r" rtl="1">
              <a:buFont typeface="Arial" panose="020B0604020202020204" pitchFamily="34" charset="0"/>
              <a:buChar char="•"/>
            </a:pPr>
            <a:r>
              <a:rPr lang="ar-YE" sz="3600" b="1" dirty="0">
                <a:latin typeface="Calibri" panose="020F0502020204030204" pitchFamily="34" charset="0"/>
                <a:ea typeface="Calibri" panose="020F0502020204030204" pitchFamily="34" charset="0"/>
                <a:cs typeface="Arial" panose="020B0604020202020204" pitchFamily="34" charset="0"/>
              </a:rPr>
              <a:t>التأكد من جاهزية وسلامة وامن كافة </a:t>
            </a:r>
            <a:r>
              <a:rPr lang="ar-YE" sz="3600" b="1" dirty="0" err="1">
                <a:latin typeface="Calibri" panose="020F0502020204030204" pitchFamily="34" charset="0"/>
                <a:ea typeface="Calibri" panose="020F0502020204030204" pitchFamily="34" charset="0"/>
                <a:cs typeface="Arial" panose="020B0604020202020204" pitchFamily="34" charset="0"/>
              </a:rPr>
              <a:t>الاجهز</a:t>
            </a:r>
            <a:r>
              <a:rPr lang="ar-YE" sz="3600" b="1" dirty="0">
                <a:latin typeface="Calibri" panose="020F0502020204030204" pitchFamily="34" charset="0"/>
                <a:ea typeface="Calibri" panose="020F0502020204030204" pitchFamily="34" charset="0"/>
                <a:cs typeface="Arial" panose="020B0604020202020204" pitchFamily="34" charset="0"/>
              </a:rPr>
              <a:t> والأنظمة التشغيلية والتقنية ومتابعة أدائها</a:t>
            </a:r>
          </a:p>
          <a:p>
            <a:pPr marL="1028700" lvl="1" indent="-571500" algn="r" rtl="1">
              <a:buFont typeface="Arial" panose="020B0604020202020204" pitchFamily="34" charset="0"/>
              <a:buChar char="•"/>
            </a:pPr>
            <a:r>
              <a:rPr lang="ar-YE" sz="3600" b="1" dirty="0">
                <a:latin typeface="Calibri" panose="020F0502020204030204" pitchFamily="34" charset="0"/>
                <a:ea typeface="Calibri" panose="020F0502020204030204" pitchFamily="34" charset="0"/>
                <a:cs typeface="Arial" panose="020B0604020202020204" pitchFamily="34" charset="0"/>
              </a:rPr>
              <a:t>برمجة وحفظ واسترجاع وتعديل نظم المعلومة والبيانات لكافة أنشطة المنظمة</a:t>
            </a:r>
          </a:p>
          <a:p>
            <a:pPr marL="1028700" lvl="1" indent="-571500" algn="r" rtl="1">
              <a:buFont typeface="Arial" panose="020B0604020202020204" pitchFamily="34" charset="0"/>
              <a:buChar char="•"/>
            </a:pPr>
            <a:r>
              <a:rPr lang="ar-YE" sz="3600" b="1" dirty="0">
                <a:latin typeface="Calibri" panose="020F0502020204030204" pitchFamily="34" charset="0"/>
                <a:ea typeface="Calibri" panose="020F0502020204030204" pitchFamily="34" charset="0"/>
                <a:cs typeface="Arial" panose="020B0604020202020204" pitchFamily="34" charset="0"/>
              </a:rPr>
              <a:t>تقديم خدمات الدعم والمساندة الفنية لكافة الوحدات التنظيمية </a:t>
            </a:r>
          </a:p>
          <a:p>
            <a:pPr marL="1028700" lvl="1" indent="-571500" algn="r" rtl="1">
              <a:buFont typeface="Arial" panose="020B0604020202020204" pitchFamily="34" charset="0"/>
              <a:buChar char="•"/>
            </a:pPr>
            <a:r>
              <a:rPr lang="ar-YE" sz="3600" b="1" dirty="0">
                <a:latin typeface="Calibri" panose="020F0502020204030204" pitchFamily="34" charset="0"/>
                <a:ea typeface="Calibri" panose="020F0502020204030204" pitchFamily="34" charset="0"/>
                <a:cs typeface="Arial" panose="020B0604020202020204" pitchFamily="34" charset="0"/>
              </a:rPr>
              <a:t>اعداد أنظمة إدارة المحتوى والحماية </a:t>
            </a:r>
          </a:p>
          <a:p>
            <a:pPr marL="1028700" lvl="1" indent="-571500" algn="r" rtl="1">
              <a:buFont typeface="Arial" panose="020B0604020202020204" pitchFamily="34" charset="0"/>
              <a:buChar char="•"/>
            </a:pPr>
            <a:r>
              <a:rPr lang="ar-YE" sz="3600" b="1" dirty="0">
                <a:latin typeface="Calibri" panose="020F0502020204030204" pitchFamily="34" charset="0"/>
                <a:ea typeface="Calibri" panose="020F0502020204030204" pitchFamily="34" charset="0"/>
                <a:cs typeface="Arial" panose="020B0604020202020204" pitchFamily="34" charset="0"/>
              </a:rPr>
              <a:t>تصميم وصيانة وتحديث النظام </a:t>
            </a:r>
          </a:p>
          <a:p>
            <a:pPr marL="1028700" lvl="1" indent="-571500" algn="r" rtl="1">
              <a:buFont typeface="Arial" panose="020B0604020202020204" pitchFamily="34" charset="0"/>
              <a:buChar char="•"/>
            </a:pPr>
            <a:r>
              <a:rPr lang="ar-YE" sz="3600" b="1" dirty="0">
                <a:latin typeface="Calibri" panose="020F0502020204030204" pitchFamily="34" charset="0"/>
                <a:ea typeface="Calibri" panose="020F0502020204030204" pitchFamily="34" charset="0"/>
                <a:cs typeface="Arial" panose="020B0604020202020204" pitchFamily="34" charset="0"/>
              </a:rPr>
              <a:t>إدارة مخاطر </a:t>
            </a:r>
            <a:r>
              <a:rPr lang="ar-YE" sz="3600" b="1">
                <a:latin typeface="Calibri" panose="020F0502020204030204" pitchFamily="34" charset="0"/>
                <a:ea typeface="Calibri" panose="020F0502020204030204" pitchFamily="34" charset="0"/>
                <a:cs typeface="Arial" panose="020B0604020202020204" pitchFamily="34" charset="0"/>
              </a:rPr>
              <a:t>تقنية المعلومات</a:t>
            </a:r>
          </a:p>
        </p:txBody>
      </p:sp>
      <p:sp>
        <p:nvSpPr>
          <p:cNvPr id="53" name="자유형: 도형 24">
            <a:extLst>
              <a:ext uri="{FF2B5EF4-FFF2-40B4-BE49-F238E27FC236}">
                <a16:creationId xmlns:a16="http://schemas.microsoft.com/office/drawing/2014/main" id="{750D9EB9-9F31-4FB1-D71E-71237B3AA360}"/>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7FDF066F-E977-0B7D-3725-1323B7B0A91E}"/>
              </a:ext>
            </a:extLst>
          </p:cNvPr>
          <p:cNvSpPr/>
          <p:nvPr/>
        </p:nvSpPr>
        <p:spPr>
          <a:xfrm>
            <a:off x="8748216" y="914404"/>
            <a:ext cx="3358832" cy="5308978"/>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5">
              <a:lumMod val="20000"/>
              <a:lumOff val="80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مهام ومسئوليات إدارة تقنية المعلومات</a:t>
            </a:r>
          </a:p>
        </p:txBody>
      </p:sp>
    </p:spTree>
    <p:extLst>
      <p:ext uri="{BB962C8B-B14F-4D97-AF65-F5344CB8AC3E}">
        <p14:creationId xmlns:p14="http://schemas.microsoft.com/office/powerpoint/2010/main" val="408880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565D-0494-EDD5-BF5E-FDD4AB13A929}"/>
            </a:ext>
          </a:extLst>
        </p:cNvPr>
        <p:cNvGrpSpPr/>
        <p:nvPr/>
      </p:nvGrpSpPr>
      <p:grpSpPr>
        <a:xfrm>
          <a:off x="0" y="0"/>
          <a:ext cx="0" cy="0"/>
          <a:chOff x="0" y="0"/>
          <a:chExt cx="0" cy="0"/>
        </a:xfrm>
      </p:grpSpPr>
      <p:pic>
        <p:nvPicPr>
          <p:cNvPr id="4" name="صورة 3">
            <a:extLst>
              <a:ext uri="{FF2B5EF4-FFF2-40B4-BE49-F238E27FC236}">
                <a16:creationId xmlns:a16="http://schemas.microsoft.com/office/drawing/2014/main" id="{B456DD8C-3FE1-CC71-C935-54B564C1C1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74" y="175847"/>
            <a:ext cx="11869616" cy="6523892"/>
          </a:xfrm>
          <a:prstGeom prst="rect">
            <a:avLst/>
          </a:prstGeom>
        </p:spPr>
      </p:pic>
    </p:spTree>
    <p:extLst>
      <p:ext uri="{BB962C8B-B14F-4D97-AF65-F5344CB8AC3E}">
        <p14:creationId xmlns:p14="http://schemas.microsoft.com/office/powerpoint/2010/main" val="2834684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35DF0-C2C0-2090-06DC-0EA32B5A6117}"/>
            </a:ext>
          </a:extLst>
        </p:cNvPr>
        <p:cNvGrpSpPr/>
        <p:nvPr/>
      </p:nvGrpSpPr>
      <p:grpSpPr>
        <a:xfrm>
          <a:off x="0" y="0"/>
          <a:ext cx="0" cy="0"/>
          <a:chOff x="0" y="0"/>
          <a:chExt cx="0" cy="0"/>
        </a:xfrm>
      </p:grpSpPr>
      <p:sp>
        <p:nvSpPr>
          <p:cNvPr id="53" name="자유형: 도형 24">
            <a:extLst>
              <a:ext uri="{FF2B5EF4-FFF2-40B4-BE49-F238E27FC236}">
                <a16:creationId xmlns:a16="http://schemas.microsoft.com/office/drawing/2014/main" id="{5E925FFD-283C-0E4D-5962-1B33788C5FBB}"/>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B530E7EB-816A-08EB-AAB4-A59DABD31C8A}"/>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محاضرة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البنية التحتية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لإدارة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pic>
        <p:nvPicPr>
          <p:cNvPr id="4" name="صورة 3">
            <a:extLst>
              <a:ext uri="{FF2B5EF4-FFF2-40B4-BE49-F238E27FC236}">
                <a16:creationId xmlns:a16="http://schemas.microsoft.com/office/drawing/2014/main" id="{C8A1803F-B554-F02D-1D96-33B6C04C1B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564" y="219806"/>
            <a:ext cx="8818683" cy="6216162"/>
          </a:xfrm>
          <a:prstGeom prst="rect">
            <a:avLst/>
          </a:prstGeom>
        </p:spPr>
      </p:pic>
    </p:spTree>
    <p:extLst>
      <p:ext uri="{BB962C8B-B14F-4D97-AF65-F5344CB8AC3E}">
        <p14:creationId xmlns:p14="http://schemas.microsoft.com/office/powerpoint/2010/main" val="2185197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B1708-BC59-3820-1FE8-56392A2B1941}"/>
            </a:ext>
          </a:extLst>
        </p:cNvPr>
        <p:cNvGrpSpPr/>
        <p:nvPr/>
      </p:nvGrpSpPr>
      <p:grpSpPr>
        <a:xfrm>
          <a:off x="0" y="0"/>
          <a:ext cx="0" cy="0"/>
          <a:chOff x="0" y="0"/>
          <a:chExt cx="0" cy="0"/>
        </a:xfrm>
      </p:grpSpPr>
      <p:sp>
        <p:nvSpPr>
          <p:cNvPr id="53" name="자유형: 도형 24">
            <a:extLst>
              <a:ext uri="{FF2B5EF4-FFF2-40B4-BE49-F238E27FC236}">
                <a16:creationId xmlns:a16="http://schemas.microsoft.com/office/drawing/2014/main" id="{1A100BBB-AD5A-8757-B106-22217031C3BA}"/>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C575D5F5-9D1E-2D41-98BC-C4140B6797D3}"/>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endParaRPr lang="ar-YE" sz="4000" b="1" dirty="0">
              <a:latin typeface="Calibri" panose="020F0502020204030204" pitchFamily="34" charset="0"/>
              <a:ea typeface="Calibri" panose="020F0502020204030204" pitchFamily="34" charset="0"/>
              <a:cs typeface="Arial" panose="020B0604020202020204" pitchFamily="34" charset="0"/>
            </a:endParaRP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البنية التحتية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لتقنية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a:p>
            <a:pPr algn="ctr" rtl="1"/>
            <a:r>
              <a:rPr lang="en-US" sz="4000" b="1" dirty="0">
                <a:latin typeface="Calibri" panose="020F0502020204030204" pitchFamily="34" charset="0"/>
                <a:ea typeface="Calibri" panose="020F0502020204030204" pitchFamily="34" charset="0"/>
                <a:cs typeface="Arial" panose="020B0604020202020204" pitchFamily="34" charset="0"/>
              </a:rPr>
              <a:t>IT</a:t>
            </a:r>
            <a:endParaRPr lang="ar-YE" sz="4000" b="1" dirty="0">
              <a:latin typeface="Calibri" panose="020F0502020204030204" pitchFamily="34" charset="0"/>
              <a:ea typeface="Calibri" panose="020F0502020204030204" pitchFamily="34" charset="0"/>
              <a:cs typeface="Arial" panose="020B0604020202020204" pitchFamily="34" charset="0"/>
            </a:endParaRPr>
          </a:p>
        </p:txBody>
      </p:sp>
      <p:pic>
        <p:nvPicPr>
          <p:cNvPr id="5" name="صورة 4">
            <a:extLst>
              <a:ext uri="{FF2B5EF4-FFF2-40B4-BE49-F238E27FC236}">
                <a16:creationId xmlns:a16="http://schemas.microsoft.com/office/drawing/2014/main" id="{CA425C8E-0AB6-F1F9-F33E-F78DF02A0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952" y="-924"/>
            <a:ext cx="8663264" cy="6832544"/>
          </a:xfrm>
          <a:prstGeom prst="rect">
            <a:avLst/>
          </a:prstGeom>
        </p:spPr>
      </p:pic>
    </p:spTree>
    <p:extLst>
      <p:ext uri="{BB962C8B-B14F-4D97-AF65-F5344CB8AC3E}">
        <p14:creationId xmlns:p14="http://schemas.microsoft.com/office/powerpoint/2010/main" val="1253065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0BFB9-1E0B-2ED6-38D8-D8C7325B149A}"/>
            </a:ext>
          </a:extLst>
        </p:cNvPr>
        <p:cNvGrpSpPr/>
        <p:nvPr/>
      </p:nvGrpSpPr>
      <p:grpSpPr>
        <a:xfrm>
          <a:off x="0" y="0"/>
          <a:ext cx="0" cy="0"/>
          <a:chOff x="0" y="0"/>
          <a:chExt cx="0" cy="0"/>
        </a:xfrm>
      </p:grpSpPr>
      <p:sp>
        <p:nvSpPr>
          <p:cNvPr id="53" name="자유형: 도형 24">
            <a:extLst>
              <a:ext uri="{FF2B5EF4-FFF2-40B4-BE49-F238E27FC236}">
                <a16:creationId xmlns:a16="http://schemas.microsoft.com/office/drawing/2014/main" id="{7B7DD662-9B5C-00A2-B9E6-8E5E49B94C77}"/>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3866C2E6-CCE9-0F29-752E-058D1318B0E8}"/>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خدمات</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البنية التحتية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لتقنية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a:p>
            <a:pPr algn="ctr" rtl="1"/>
            <a:r>
              <a:rPr lang="en-US" sz="4000" b="1" dirty="0">
                <a:latin typeface="Calibri" panose="020F0502020204030204" pitchFamily="34" charset="0"/>
                <a:ea typeface="Calibri" panose="020F0502020204030204" pitchFamily="34" charset="0"/>
                <a:cs typeface="Arial" panose="020B0604020202020204" pitchFamily="34" charset="0"/>
              </a:rPr>
              <a:t>IT</a:t>
            </a:r>
            <a:endParaRPr lang="ar-YE" sz="4000" b="1" dirty="0">
              <a:latin typeface="Calibri" panose="020F0502020204030204" pitchFamily="34" charset="0"/>
              <a:ea typeface="Calibri" panose="020F0502020204030204" pitchFamily="34" charset="0"/>
              <a:cs typeface="Arial" panose="020B0604020202020204" pitchFamily="34" charset="0"/>
            </a:endParaRPr>
          </a:p>
        </p:txBody>
      </p:sp>
      <p:pic>
        <p:nvPicPr>
          <p:cNvPr id="7" name="صورة 6">
            <a:extLst>
              <a:ext uri="{FF2B5EF4-FFF2-40B4-BE49-F238E27FC236}">
                <a16:creationId xmlns:a16="http://schemas.microsoft.com/office/drawing/2014/main" id="{41BD04AA-E804-9B39-344B-94A093C543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952" y="114300"/>
            <a:ext cx="8783821" cy="6409592"/>
          </a:xfrm>
          <a:prstGeom prst="rect">
            <a:avLst/>
          </a:prstGeom>
        </p:spPr>
      </p:pic>
    </p:spTree>
    <p:extLst>
      <p:ext uri="{BB962C8B-B14F-4D97-AF65-F5344CB8AC3E}">
        <p14:creationId xmlns:p14="http://schemas.microsoft.com/office/powerpoint/2010/main" val="445979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A41E2-1E86-ECED-DEAE-8D99DFC84A30}"/>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957BB532-38FA-30CD-FB5A-93F15BA4812B}"/>
              </a:ext>
            </a:extLst>
          </p:cNvPr>
          <p:cNvSpPr txBox="1"/>
          <p:nvPr/>
        </p:nvSpPr>
        <p:spPr>
          <a:xfrm>
            <a:off x="185991" y="1109288"/>
            <a:ext cx="8835183" cy="4308872"/>
          </a:xfrm>
          <a:prstGeom prst="rect">
            <a:avLst/>
          </a:prstGeom>
          <a:solidFill>
            <a:schemeClr val="accent3">
              <a:lumMod val="60000"/>
              <a:lumOff val="40000"/>
            </a:schemeClr>
          </a:solidFill>
        </p:spPr>
        <p:txBody>
          <a:bodyPr wrap="square">
            <a:spAutoFit/>
          </a:bodyPr>
          <a:lstStyle/>
          <a:p>
            <a:pPr algn="r" rtl="1">
              <a:lnSpc>
                <a:spcPct val="150000"/>
              </a:lnSpc>
            </a:pPr>
            <a:r>
              <a:rPr lang="ar-YE" sz="3600" b="1" dirty="0">
                <a:latin typeface="Calibri" panose="020F0502020204030204" pitchFamily="34" charset="0"/>
                <a:ea typeface="Calibri" panose="020F0502020204030204" pitchFamily="34" charset="0"/>
                <a:cs typeface="Arial" panose="020B0604020202020204" pitchFamily="34" charset="0"/>
              </a:rPr>
              <a:t>يشير مفهوم البنية التحتية لإدارة تقنية المعلومات إلى:</a:t>
            </a:r>
          </a:p>
          <a:p>
            <a:pPr marL="1028700" lvl="1" indent="-571500" algn="just" rtl="1">
              <a:buFont typeface="Arial" panose="020B0604020202020204" pitchFamily="34" charset="0"/>
              <a:buChar char="•"/>
            </a:pPr>
            <a:r>
              <a:rPr lang="ar-SA" sz="4400" b="1" dirty="0">
                <a:effectLst/>
                <a:latin typeface="Calibri" panose="020F0502020204030204" pitchFamily="34" charset="0"/>
                <a:ea typeface="Calibri" panose="020F0502020204030204" pitchFamily="34" charset="0"/>
                <a:cs typeface="Arial" panose="020B0604020202020204" pitchFamily="34" charset="0"/>
              </a:rPr>
              <a:t>مفهوم البنية التحتية، وأهميتها في دعم الأعمال الرقمية، وسنستعرض المكونات الأساسية التي تتكون منها. كما سنتطرق إلى التحديات التي تواجه البنية التحتية وكيفية التغلب عليها. </a:t>
            </a:r>
            <a:endParaRPr lang="ar-YE" sz="7200" b="1" dirty="0">
              <a:latin typeface="Calibri" panose="020F0502020204030204" pitchFamily="34" charset="0"/>
              <a:ea typeface="Calibri" panose="020F0502020204030204" pitchFamily="34" charset="0"/>
              <a:cs typeface="Arial" panose="020B0604020202020204" pitchFamily="34" charset="0"/>
            </a:endParaRPr>
          </a:p>
        </p:txBody>
      </p:sp>
      <p:sp>
        <p:nvSpPr>
          <p:cNvPr id="53" name="자유형: 도형 24">
            <a:extLst>
              <a:ext uri="{FF2B5EF4-FFF2-40B4-BE49-F238E27FC236}">
                <a16:creationId xmlns:a16="http://schemas.microsoft.com/office/drawing/2014/main" id="{C7E0E255-3AC5-E3B3-9C0B-7E4AFAF3DC87}"/>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C50DF6DB-028C-3BCF-C6AA-55246FC857B0}"/>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مقدمة في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البنية التحتية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لإدارة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991086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4EDF1-B3D6-737F-9034-5F3BC59F551F}"/>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84BFD23C-64C6-D994-DA53-2CA7758F0D1E}"/>
              </a:ext>
            </a:extLst>
          </p:cNvPr>
          <p:cNvSpPr txBox="1"/>
          <p:nvPr/>
        </p:nvSpPr>
        <p:spPr>
          <a:xfrm>
            <a:off x="232016" y="234321"/>
            <a:ext cx="8835183" cy="6463308"/>
          </a:xfrm>
          <a:prstGeom prst="rect">
            <a:avLst/>
          </a:prstGeom>
          <a:solidFill>
            <a:schemeClr val="accent3">
              <a:lumMod val="60000"/>
              <a:lumOff val="40000"/>
            </a:schemeClr>
          </a:solidFill>
        </p:spPr>
        <p:txBody>
          <a:bodyPr wrap="square">
            <a:spAutoFit/>
          </a:bodyPr>
          <a:lstStyle/>
          <a:p>
            <a:pPr algn="r" rtl="1">
              <a:lnSpc>
                <a:spcPct val="150000"/>
              </a:lnSpc>
            </a:pPr>
            <a:r>
              <a:rPr lang="ar-YE" sz="3600" b="1" dirty="0">
                <a:latin typeface="Calibri" panose="020F0502020204030204" pitchFamily="34" charset="0"/>
                <a:ea typeface="Calibri" panose="020F0502020204030204" pitchFamily="34" charset="0"/>
                <a:cs typeface="Arial" panose="020B0604020202020204" pitchFamily="34" charset="0"/>
              </a:rPr>
              <a:t>يتبع مفهوم البنية التحتية في إدارة تقنية المعلومات إلى:</a:t>
            </a:r>
          </a:p>
          <a:p>
            <a:pPr marL="1028700" lvl="1" indent="-571500" algn="just" rtl="1">
              <a:buFont typeface="Arial" panose="020B0604020202020204" pitchFamily="34" charset="0"/>
              <a:buChar char="•"/>
            </a:pPr>
            <a:r>
              <a:rPr lang="ar-SA" sz="4000" b="1" dirty="0">
                <a:effectLst/>
                <a:latin typeface="Calibri" panose="020F0502020204030204" pitchFamily="34" charset="0"/>
                <a:ea typeface="Calibri" panose="020F0502020204030204" pitchFamily="34" charset="0"/>
                <a:cs typeface="Arial" panose="020B0604020202020204" pitchFamily="34" charset="0"/>
              </a:rPr>
              <a:t>تتكون البنية التحتية من مجموعة متنوعة من المكونات المترابطة. الأجهزة هي اللبنات الأساسية للبنية التحتية، وهي مسؤولة عن معالجة البيانات وتخزينها. البرمجيات هي التي تتحكم في عمل الأجهزة وتوفر الخدمات للمستخدمين. الشبكات هي التي تربط بين الأجهزة المختلفة وتسمح بتبادل البيانات. أما البيانات فهي الكنز الثمين الذي يجب حمايته وإدارته بكفاءة</a:t>
            </a:r>
            <a:endParaRPr lang="ar-YE" sz="6600" b="1" dirty="0">
              <a:latin typeface="Calibri" panose="020F0502020204030204" pitchFamily="34" charset="0"/>
              <a:ea typeface="Calibri" panose="020F0502020204030204" pitchFamily="34" charset="0"/>
              <a:cs typeface="Arial" panose="020B0604020202020204" pitchFamily="34" charset="0"/>
            </a:endParaRPr>
          </a:p>
        </p:txBody>
      </p:sp>
      <p:sp>
        <p:nvSpPr>
          <p:cNvPr id="53" name="자유형: 도형 24">
            <a:extLst>
              <a:ext uri="{FF2B5EF4-FFF2-40B4-BE49-F238E27FC236}">
                <a16:creationId xmlns:a16="http://schemas.microsoft.com/office/drawing/2014/main" id="{A6C259FE-ABFB-C5E7-5CBC-E0502E8F437B}"/>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5112AFBF-ABF7-9315-AC20-478ED96D59A8}"/>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البنية التحتية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لتقنية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657124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A1E42-80C6-7B4D-E17F-B7CFB84BEF0D}"/>
            </a:ext>
          </a:extLst>
        </p:cNvPr>
        <p:cNvGrpSpPr/>
        <p:nvPr/>
      </p:nvGrpSpPr>
      <p:grpSpPr>
        <a:xfrm>
          <a:off x="0" y="0"/>
          <a:ext cx="0" cy="0"/>
          <a:chOff x="0" y="0"/>
          <a:chExt cx="0" cy="0"/>
        </a:xfrm>
      </p:grpSpPr>
      <p:sp>
        <p:nvSpPr>
          <p:cNvPr id="53" name="자유형: 도형 24">
            <a:extLst>
              <a:ext uri="{FF2B5EF4-FFF2-40B4-BE49-F238E27FC236}">
                <a16:creationId xmlns:a16="http://schemas.microsoft.com/office/drawing/2014/main" id="{7DE6E47D-8841-79D8-B1B5-0530C9CC120C}"/>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D3135D6A-38B9-F856-C465-099537D9FB87}"/>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البنية التحتية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لتقنية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pic>
        <p:nvPicPr>
          <p:cNvPr id="4" name="صورة 3">
            <a:extLst>
              <a:ext uri="{FF2B5EF4-FFF2-40B4-BE49-F238E27FC236}">
                <a16:creationId xmlns:a16="http://schemas.microsoft.com/office/drawing/2014/main" id="{0A724F32-59B2-898F-B2A3-C59B57ABB1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352" y="219808"/>
            <a:ext cx="8783821" cy="6515100"/>
          </a:xfrm>
          <a:prstGeom prst="rect">
            <a:avLst/>
          </a:prstGeom>
        </p:spPr>
      </p:pic>
    </p:spTree>
    <p:extLst>
      <p:ext uri="{BB962C8B-B14F-4D97-AF65-F5344CB8AC3E}">
        <p14:creationId xmlns:p14="http://schemas.microsoft.com/office/powerpoint/2010/main" val="3656243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3A790-CE07-616C-30CE-A50CA4B23943}"/>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33DBD860-3FEA-A868-7201-3386C1A0A8AA}"/>
              </a:ext>
            </a:extLst>
          </p:cNvPr>
          <p:cNvSpPr txBox="1"/>
          <p:nvPr/>
        </p:nvSpPr>
        <p:spPr>
          <a:xfrm>
            <a:off x="84952" y="665835"/>
            <a:ext cx="8835183" cy="5710089"/>
          </a:xfrm>
          <a:prstGeom prst="rect">
            <a:avLst/>
          </a:prstGeom>
          <a:solidFill>
            <a:schemeClr val="accent3">
              <a:lumMod val="60000"/>
              <a:lumOff val="40000"/>
            </a:schemeClr>
          </a:solidFill>
        </p:spPr>
        <p:txBody>
          <a:bodyPr wrap="square">
            <a:spAutoFit/>
          </a:bodyPr>
          <a:lstStyle/>
          <a:p>
            <a:pPr algn="r" rtl="1">
              <a:lnSpc>
                <a:spcPct val="150000"/>
              </a:lnSpc>
            </a:pPr>
            <a:r>
              <a:rPr lang="ar-YE" sz="4400" b="1" dirty="0">
                <a:latin typeface="Calibri" panose="020F0502020204030204" pitchFamily="34" charset="0"/>
                <a:ea typeface="Calibri" panose="020F0502020204030204" pitchFamily="34" charset="0"/>
                <a:cs typeface="Arial" panose="020B0604020202020204" pitchFamily="34" charset="0"/>
              </a:rPr>
              <a:t>تتمثل أنواع البنية التحتية لتقنية المعلومات في:</a:t>
            </a:r>
          </a:p>
          <a:p>
            <a:pPr algn="r" rtl="1">
              <a:lnSpc>
                <a:spcPct val="107000"/>
              </a:lnSpc>
              <a:spcAft>
                <a:spcPts val="800"/>
              </a:spcAft>
              <a:tabLst>
                <a:tab pos="5170170" algn="l"/>
              </a:tabLst>
            </a:pPr>
            <a:r>
              <a:rPr lang="ar-YE" sz="4400" b="1" kern="100" dirty="0">
                <a:effectLst/>
                <a:latin typeface="Calibri" panose="020F0502020204030204" pitchFamily="34" charset="0"/>
                <a:ea typeface="Calibri" panose="020F0502020204030204" pitchFamily="34" charset="0"/>
                <a:cs typeface="Arial" panose="020B0604020202020204" pitchFamily="34" charset="0"/>
              </a:rPr>
              <a:t>1-</a:t>
            </a:r>
            <a:r>
              <a:rPr lang="ar-SA" sz="4400" b="1" kern="100" dirty="0">
                <a:effectLst/>
                <a:latin typeface="Calibri" panose="020F0502020204030204" pitchFamily="34" charset="0"/>
                <a:ea typeface="Calibri" panose="020F0502020204030204" pitchFamily="34" charset="0"/>
                <a:cs typeface="Arial" panose="020B0604020202020204" pitchFamily="34" charset="0"/>
              </a:rPr>
              <a:t> البنية التحتية: تقليدية، سحابية، هجينة.</a:t>
            </a:r>
            <a:endParaRPr lang="en-US" sz="4400" kern="1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7000"/>
              </a:lnSpc>
              <a:spcAft>
                <a:spcPts val="800"/>
              </a:spcAft>
              <a:tabLst>
                <a:tab pos="5170170" algn="l"/>
              </a:tabLst>
            </a:pPr>
            <a:r>
              <a:rPr lang="ar-SA" sz="4400" b="1" kern="100" dirty="0">
                <a:effectLst/>
                <a:latin typeface="Calibri" panose="020F0502020204030204" pitchFamily="34" charset="0"/>
                <a:ea typeface="Calibri" panose="020F0502020204030204" pitchFamily="34" charset="0"/>
                <a:cs typeface="Arial" panose="020B0604020202020204" pitchFamily="34" charset="0"/>
              </a:rPr>
              <a:t> * أمن البنية التحتية: التهديدات، الحلول.</a:t>
            </a:r>
            <a:endParaRPr lang="en-US" sz="4400" kern="1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7000"/>
              </a:lnSpc>
              <a:spcAft>
                <a:spcPts val="800"/>
              </a:spcAft>
              <a:tabLst>
                <a:tab pos="5170170" algn="l"/>
              </a:tabLst>
            </a:pPr>
            <a:r>
              <a:rPr lang="ar-SA" sz="4400" b="1" kern="100" dirty="0">
                <a:effectLst/>
                <a:latin typeface="Calibri" panose="020F0502020204030204" pitchFamily="34" charset="0"/>
                <a:ea typeface="Calibri" panose="020F0502020204030204" pitchFamily="34" charset="0"/>
                <a:cs typeface="Arial" panose="020B0604020202020204" pitchFamily="34" charset="0"/>
              </a:rPr>
              <a:t> * إدارة البنية التحتية: التخطيط، الصيانة، التحسين.</a:t>
            </a:r>
            <a:endParaRPr lang="en-US" sz="4400" kern="1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7000"/>
              </a:lnSpc>
              <a:spcAft>
                <a:spcPts val="800"/>
              </a:spcAft>
              <a:tabLst>
                <a:tab pos="5170170" algn="l"/>
              </a:tabLst>
            </a:pPr>
            <a:r>
              <a:rPr lang="ar-SA" sz="4400" b="1" kern="100" dirty="0">
                <a:effectLst/>
                <a:latin typeface="Calibri" panose="020F0502020204030204" pitchFamily="34" charset="0"/>
                <a:ea typeface="Calibri" panose="020F0502020204030204" pitchFamily="34" charset="0"/>
                <a:cs typeface="Arial" panose="020B0604020202020204" pitchFamily="34" charset="0"/>
              </a:rPr>
              <a:t> </a:t>
            </a:r>
            <a:r>
              <a:rPr lang="ar-YE" sz="4400" b="1" kern="100" dirty="0">
                <a:effectLst/>
                <a:latin typeface="Calibri" panose="020F0502020204030204" pitchFamily="34" charset="0"/>
                <a:ea typeface="Calibri" panose="020F0502020204030204" pitchFamily="34" charset="0"/>
                <a:cs typeface="Arial" panose="020B0604020202020204" pitchFamily="34" charset="0"/>
              </a:rPr>
              <a:t>2</a:t>
            </a:r>
            <a:r>
              <a:rPr lang="ar-SA" sz="4400" b="1" kern="100" dirty="0">
                <a:effectLst/>
                <a:latin typeface="Calibri" panose="020F0502020204030204" pitchFamily="34" charset="0"/>
                <a:ea typeface="Calibri" panose="020F0502020204030204" pitchFamily="34" charset="0"/>
                <a:cs typeface="Arial" panose="020B0604020202020204" pitchFamily="34" charset="0"/>
              </a:rPr>
              <a:t> اتجاهات المستقبل: الحوسبة السحابية، الذكاء الاصطناعي، إنترنت الأشياء</a:t>
            </a:r>
            <a:r>
              <a:rPr lang="ar-SA" sz="1800" b="1" kern="100" dirty="0">
                <a:effectLst/>
                <a:latin typeface="Calibri" panose="020F0502020204030204" pitchFamily="34" charset="0"/>
                <a:ea typeface="Calibri" panose="020F0502020204030204" pitchFamily="34" charset="0"/>
                <a:cs typeface="Arial" panose="020B0604020202020204" pitchFamily="34" charset="0"/>
              </a:rPr>
              <a:t>.</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53" name="자유형: 도형 24">
            <a:extLst>
              <a:ext uri="{FF2B5EF4-FFF2-40B4-BE49-F238E27FC236}">
                <a16:creationId xmlns:a16="http://schemas.microsoft.com/office/drawing/2014/main" id="{F40B0A75-30E9-8239-C5DA-6E7809EB2F04}"/>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5635872E-DBC9-8344-AEA6-860413313810}"/>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أنواع البنية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التحتية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لتقنية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2015138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43B82-D327-F883-61F8-55A02F7EE18D}"/>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DDF57633-66D5-4F2F-E6CD-0CCB7F95AB5A}"/>
              </a:ext>
            </a:extLst>
          </p:cNvPr>
          <p:cNvSpPr txBox="1"/>
          <p:nvPr/>
        </p:nvSpPr>
        <p:spPr>
          <a:xfrm>
            <a:off x="326805" y="1813173"/>
            <a:ext cx="8835183" cy="2862322"/>
          </a:xfrm>
          <a:prstGeom prst="rect">
            <a:avLst/>
          </a:prstGeom>
          <a:solidFill>
            <a:schemeClr val="accent3">
              <a:lumMod val="60000"/>
              <a:lumOff val="40000"/>
            </a:schemeClr>
          </a:solidFill>
        </p:spPr>
        <p:txBody>
          <a:bodyPr wrap="square">
            <a:spAutoFit/>
          </a:bodyPr>
          <a:lstStyle/>
          <a:p>
            <a:pPr algn="r" rtl="1">
              <a:lnSpc>
                <a:spcPct val="150000"/>
              </a:lnSpc>
            </a:pPr>
            <a:r>
              <a:rPr lang="ar-YE" sz="4000" b="1" dirty="0">
                <a:solidFill>
                  <a:srgbClr val="FF0000"/>
                </a:solidFill>
                <a:latin typeface="Calibri" panose="020F0502020204030204" pitchFamily="34" charset="0"/>
                <a:ea typeface="Calibri" panose="020F0502020204030204" pitchFamily="34" charset="0"/>
                <a:cs typeface="Arial" panose="020B0604020202020204" pitchFamily="34" charset="0"/>
              </a:rPr>
              <a:t>تهدف الى البنية التحتية لإدارة تقنية المعلومات إلى:</a:t>
            </a:r>
          </a:p>
          <a:p>
            <a:pPr lvl="1" algn="just" rtl="1"/>
            <a:r>
              <a:rPr lang="ar-YE" sz="4000" b="1" dirty="0">
                <a:latin typeface="Calibri" panose="020F0502020204030204" pitchFamily="34" charset="0"/>
                <a:ea typeface="Calibri" panose="020F0502020204030204" pitchFamily="34" charset="0"/>
                <a:cs typeface="Arial" panose="020B0604020202020204" pitchFamily="34" charset="0"/>
              </a:rPr>
              <a:t>  </a:t>
            </a:r>
            <a:r>
              <a:rPr lang="ar-SA" sz="4000" b="1" dirty="0">
                <a:latin typeface="Calibri" panose="020F0502020204030204" pitchFamily="34" charset="0"/>
                <a:ea typeface="Calibri" panose="020F0502020204030204" pitchFamily="34" charset="0"/>
                <a:cs typeface="Arial" panose="020B0604020202020204" pitchFamily="34" charset="0"/>
              </a:rPr>
              <a:t>توفير الخدمات التقنية للمستخدمين، دعم الأعمال، ضمان استمرارية الأعمال</a:t>
            </a:r>
            <a:r>
              <a:rPr lang="ar-YE" sz="4000" b="1" dirty="0">
                <a:latin typeface="Calibri" panose="020F0502020204030204" pitchFamily="34" charset="0"/>
                <a:ea typeface="Calibri" panose="020F0502020204030204" pitchFamily="34" charset="0"/>
                <a:cs typeface="Arial" panose="020B0604020202020204" pitchFamily="34" charset="0"/>
              </a:rPr>
              <a:t> في المنظمات المعاصرة</a:t>
            </a:r>
            <a:endParaRPr lang="ar-YE" sz="23900" b="1" dirty="0">
              <a:latin typeface="Calibri" panose="020F0502020204030204" pitchFamily="34" charset="0"/>
              <a:ea typeface="Calibri" panose="020F0502020204030204" pitchFamily="34" charset="0"/>
              <a:cs typeface="Arial" panose="020B0604020202020204" pitchFamily="34" charset="0"/>
            </a:endParaRPr>
          </a:p>
        </p:txBody>
      </p:sp>
      <p:sp>
        <p:nvSpPr>
          <p:cNvPr id="53" name="자유형: 도형 24">
            <a:extLst>
              <a:ext uri="{FF2B5EF4-FFF2-40B4-BE49-F238E27FC236}">
                <a16:creationId xmlns:a16="http://schemas.microsoft.com/office/drawing/2014/main" id="{1A7A319A-4EDD-18A5-E866-2EFBBBE334F7}"/>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EF00F78D-489E-C16D-943F-D2AA08B88DFB}"/>
              </a:ext>
            </a:extLst>
          </p:cNvPr>
          <p:cNvSpPr/>
          <p:nvPr/>
        </p:nvSpPr>
        <p:spPr>
          <a:xfrm>
            <a:off x="8470147" y="764275"/>
            <a:ext cx="3815803"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اهداف البنية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التحتية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لإدارة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3667278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03A42-B5CC-E246-5EFA-9DD34321A3FC}"/>
            </a:ext>
          </a:extLst>
        </p:cNvPr>
        <p:cNvGrpSpPr/>
        <p:nvPr/>
      </p:nvGrpSpPr>
      <p:grpSpPr>
        <a:xfrm>
          <a:off x="0" y="0"/>
          <a:ext cx="0" cy="0"/>
          <a:chOff x="0" y="0"/>
          <a:chExt cx="0" cy="0"/>
        </a:xfrm>
      </p:grpSpPr>
      <p:sp>
        <p:nvSpPr>
          <p:cNvPr id="53" name="자유형: 도형 24">
            <a:extLst>
              <a:ext uri="{FF2B5EF4-FFF2-40B4-BE49-F238E27FC236}">
                <a16:creationId xmlns:a16="http://schemas.microsoft.com/office/drawing/2014/main" id="{357BFBFE-0E9F-1614-918A-E8EFCBCB1E92}"/>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9E9B4D0E-7185-9907-F664-F3DEFF86227D}"/>
              </a:ext>
            </a:extLst>
          </p:cNvPr>
          <p:cNvSpPr/>
          <p:nvPr/>
        </p:nvSpPr>
        <p:spPr>
          <a:xfrm>
            <a:off x="8470147" y="764275"/>
            <a:ext cx="3815803"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خدمات</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البنية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التحتية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لإدارة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pic>
        <p:nvPicPr>
          <p:cNvPr id="4" name="صورة 3">
            <a:extLst>
              <a:ext uri="{FF2B5EF4-FFF2-40B4-BE49-F238E27FC236}">
                <a16:creationId xmlns:a16="http://schemas.microsoft.com/office/drawing/2014/main" id="{64D1688E-5BAD-FD47-9CA7-5605957CE7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692" y="490537"/>
            <a:ext cx="8601808" cy="5876925"/>
          </a:xfrm>
          <a:prstGeom prst="rect">
            <a:avLst/>
          </a:prstGeom>
        </p:spPr>
      </p:pic>
    </p:spTree>
    <p:extLst>
      <p:ext uri="{BB962C8B-B14F-4D97-AF65-F5344CB8AC3E}">
        <p14:creationId xmlns:p14="http://schemas.microsoft.com/office/powerpoint/2010/main" val="38052745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93715-4E2A-DA5A-23FC-E595261C5350}"/>
            </a:ext>
          </a:extLst>
        </p:cNvPr>
        <p:cNvGrpSpPr/>
        <p:nvPr/>
      </p:nvGrpSpPr>
      <p:grpSpPr>
        <a:xfrm>
          <a:off x="0" y="0"/>
          <a:ext cx="0" cy="0"/>
          <a:chOff x="0" y="0"/>
          <a:chExt cx="0" cy="0"/>
        </a:xfrm>
      </p:grpSpPr>
      <p:sp>
        <p:nvSpPr>
          <p:cNvPr id="2" name="자유형: 도형 24">
            <a:extLst>
              <a:ext uri="{FF2B5EF4-FFF2-40B4-BE49-F238E27FC236}">
                <a16:creationId xmlns:a16="http://schemas.microsoft.com/office/drawing/2014/main" id="{7207249A-4488-6333-3CBC-13539EAEF7E3}"/>
              </a:ext>
            </a:extLst>
          </p:cNvPr>
          <p:cNvSpPr/>
          <p:nvPr/>
        </p:nvSpPr>
        <p:spPr>
          <a:xfrm>
            <a:off x="1232452" y="1102057"/>
            <a:ext cx="9253331"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7200" b="1" dirty="0">
                <a:latin typeface="Calibri" panose="020F0502020204030204" pitchFamily="34" charset="0"/>
                <a:ea typeface="Calibri" panose="020F0502020204030204" pitchFamily="34" charset="0"/>
                <a:cs typeface="Arial" panose="020B0604020202020204" pitchFamily="34" charset="0"/>
              </a:rPr>
              <a:t>حوكمة</a:t>
            </a:r>
          </a:p>
          <a:p>
            <a:pPr algn="ctr" rtl="1"/>
            <a:r>
              <a:rPr lang="ar-YE" sz="72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72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26379108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0DD46-6F41-A733-50D0-4B514DC17359}"/>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B059C0DF-DA6D-A21F-24CC-F762837E502B}"/>
              </a:ext>
            </a:extLst>
          </p:cNvPr>
          <p:cNvSpPr txBox="1"/>
          <p:nvPr/>
        </p:nvSpPr>
        <p:spPr>
          <a:xfrm>
            <a:off x="520251" y="1014489"/>
            <a:ext cx="8835183" cy="4616648"/>
          </a:xfrm>
          <a:prstGeom prst="rect">
            <a:avLst/>
          </a:prstGeom>
          <a:solidFill>
            <a:schemeClr val="accent3">
              <a:lumMod val="60000"/>
              <a:lumOff val="40000"/>
            </a:schemeClr>
          </a:solidFill>
        </p:spPr>
        <p:txBody>
          <a:bodyPr wrap="square">
            <a:spAutoFit/>
          </a:bodyPr>
          <a:lstStyle/>
          <a:p>
            <a:pPr algn="r" rtl="1">
              <a:lnSpc>
                <a:spcPct val="150000"/>
              </a:lnSpc>
            </a:pPr>
            <a:r>
              <a:rPr lang="ar-YE" sz="3600" b="1" dirty="0">
                <a:latin typeface="Calibri" panose="020F0502020204030204" pitchFamily="34" charset="0"/>
                <a:ea typeface="Calibri" panose="020F0502020204030204" pitchFamily="34" charset="0"/>
                <a:cs typeface="Arial" panose="020B0604020202020204" pitchFamily="34" charset="0"/>
              </a:rPr>
              <a:t>يشير مفهوم حوكمة تقنية المعلومات إلى:</a:t>
            </a:r>
          </a:p>
          <a:p>
            <a:pPr marL="1028700" lvl="1" indent="-571500" algn="just" rtl="1">
              <a:buFont typeface="Arial" panose="020B0604020202020204" pitchFamily="34" charset="0"/>
              <a:buChar char="•"/>
            </a:pPr>
            <a:r>
              <a:rPr lang="ar-YE" sz="4000" b="1" dirty="0">
                <a:effectLst/>
                <a:latin typeface="Calibri" panose="020F0502020204030204" pitchFamily="34" charset="0"/>
                <a:ea typeface="Calibri" panose="020F0502020204030204" pitchFamily="34" charset="0"/>
                <a:cs typeface="Arial" panose="020B0604020202020204" pitchFamily="34" charset="0"/>
              </a:rPr>
              <a:t>مجموعة المسؤوليات والممارسات التي يقوم بها مجلس الإدارة وإدارة تقنية المعلومات لضمان تحقيق اهداف تقنية المعلومات وإدارة مخاطرها </a:t>
            </a:r>
            <a:r>
              <a:rPr lang="ar-YE" sz="4000" b="1" dirty="0" err="1">
                <a:effectLst/>
                <a:latin typeface="Calibri" panose="020F0502020204030204" pitchFamily="34" charset="0"/>
                <a:ea typeface="Calibri" panose="020F0502020204030204" pitchFamily="34" charset="0"/>
                <a:cs typeface="Arial" panose="020B0604020202020204" pitchFamily="34" charset="0"/>
              </a:rPr>
              <a:t>والتاكد</a:t>
            </a:r>
            <a:r>
              <a:rPr lang="ar-YE" sz="4000" b="1" dirty="0">
                <a:effectLst/>
                <a:latin typeface="Calibri" panose="020F0502020204030204" pitchFamily="34" charset="0"/>
                <a:ea typeface="Calibri" panose="020F0502020204030204" pitchFamily="34" charset="0"/>
                <a:cs typeface="Arial" panose="020B0604020202020204" pitchFamily="34" charset="0"/>
              </a:rPr>
              <a:t> من ان إدارة موارد المعلومات تدار بشكل صحيح وبكفاءة وفاعلية عالية واقل كلفة ومخاطرة ممكنة</a:t>
            </a:r>
            <a:endParaRPr lang="ar-YE" sz="16600" b="1" dirty="0">
              <a:latin typeface="Calibri" panose="020F0502020204030204" pitchFamily="34" charset="0"/>
              <a:ea typeface="Calibri" panose="020F0502020204030204" pitchFamily="34" charset="0"/>
              <a:cs typeface="Arial" panose="020B0604020202020204" pitchFamily="34" charset="0"/>
            </a:endParaRPr>
          </a:p>
        </p:txBody>
      </p:sp>
      <p:sp>
        <p:nvSpPr>
          <p:cNvPr id="53" name="자유형: 도형 24">
            <a:extLst>
              <a:ext uri="{FF2B5EF4-FFF2-40B4-BE49-F238E27FC236}">
                <a16:creationId xmlns:a16="http://schemas.microsoft.com/office/drawing/2014/main" id="{7E047220-BC06-0DDB-0512-A150D7A7C3F3}"/>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E5C512EB-4463-A7FB-776B-0AD378F7F625}"/>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حوكمة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1265740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0DA44-9AE4-D499-11F1-9B14CE2CA2EE}"/>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17F0FACC-00A1-DFA7-5874-1CDFCDA906F3}"/>
              </a:ext>
            </a:extLst>
          </p:cNvPr>
          <p:cNvSpPr txBox="1"/>
          <p:nvPr/>
        </p:nvSpPr>
        <p:spPr>
          <a:xfrm>
            <a:off x="520251" y="1014489"/>
            <a:ext cx="8835183" cy="4001095"/>
          </a:xfrm>
          <a:prstGeom prst="rect">
            <a:avLst/>
          </a:prstGeom>
          <a:solidFill>
            <a:schemeClr val="accent3">
              <a:lumMod val="60000"/>
              <a:lumOff val="40000"/>
            </a:schemeClr>
          </a:solidFill>
        </p:spPr>
        <p:txBody>
          <a:bodyPr wrap="square">
            <a:spAutoFit/>
          </a:bodyPr>
          <a:lstStyle/>
          <a:p>
            <a:pPr algn="r" rtl="1">
              <a:lnSpc>
                <a:spcPct val="150000"/>
              </a:lnSpc>
            </a:pPr>
            <a:r>
              <a:rPr lang="ar-YE" sz="3600" b="1" dirty="0">
                <a:latin typeface="Calibri" panose="020F0502020204030204" pitchFamily="34" charset="0"/>
                <a:ea typeface="Calibri" panose="020F0502020204030204" pitchFamily="34" charset="0"/>
                <a:cs typeface="Arial" panose="020B0604020202020204" pitchFamily="34" charset="0"/>
              </a:rPr>
              <a:t>يشير مفهوم حوكمة تقنية المعلومات إلى:</a:t>
            </a:r>
          </a:p>
          <a:p>
            <a:pPr marL="1028700" lvl="1" indent="-571500" algn="just" rtl="1">
              <a:buFont typeface="Arial" panose="020B0604020202020204" pitchFamily="34" charset="0"/>
              <a:buChar char="•"/>
            </a:pPr>
            <a:r>
              <a:rPr lang="ar-YE" sz="4000" b="1" dirty="0">
                <a:effectLst/>
                <a:latin typeface="Calibri" panose="020F0502020204030204" pitchFamily="34" charset="0"/>
                <a:ea typeface="Calibri" panose="020F0502020204030204" pitchFamily="34" charset="0"/>
                <a:cs typeface="Arial" panose="020B0604020202020204" pitchFamily="34" charset="0"/>
              </a:rPr>
              <a:t>مجموعة المسؤوليات والممارسات التي يقوم بها مدير إدارة تقنية المعلومات او مسؤول النظام بالتعاون مع المدراء التنفيذيون لضمان أداء تقنية المعلومات وإدارة مخاطرها بفاعلية كفاءة عالية واقل كلفة ومخاطرة ممكنة</a:t>
            </a:r>
            <a:endParaRPr lang="ar-YE" sz="16600" b="1" dirty="0">
              <a:latin typeface="Calibri" panose="020F0502020204030204" pitchFamily="34" charset="0"/>
              <a:ea typeface="Calibri" panose="020F0502020204030204" pitchFamily="34" charset="0"/>
              <a:cs typeface="Arial" panose="020B0604020202020204" pitchFamily="34" charset="0"/>
            </a:endParaRPr>
          </a:p>
        </p:txBody>
      </p:sp>
      <p:sp>
        <p:nvSpPr>
          <p:cNvPr id="53" name="자유형: 도형 24">
            <a:extLst>
              <a:ext uri="{FF2B5EF4-FFF2-40B4-BE49-F238E27FC236}">
                <a16:creationId xmlns:a16="http://schemas.microsoft.com/office/drawing/2014/main" id="{B3B3B2B3-5842-2983-4D4F-145D2C52793C}"/>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FD97C646-6B75-AE17-1E98-C614B62B3926}"/>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حوكمة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25324048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B52B7-FEEF-9A23-6BDF-DD50F971C240}"/>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98BBEFE2-6441-D1E7-7700-A242646EF627}"/>
              </a:ext>
            </a:extLst>
          </p:cNvPr>
          <p:cNvSpPr txBox="1"/>
          <p:nvPr/>
        </p:nvSpPr>
        <p:spPr>
          <a:xfrm>
            <a:off x="520251" y="1014489"/>
            <a:ext cx="8835183" cy="5581913"/>
          </a:xfrm>
          <a:prstGeom prst="rect">
            <a:avLst/>
          </a:prstGeom>
          <a:solidFill>
            <a:schemeClr val="accent3">
              <a:lumMod val="60000"/>
              <a:lumOff val="40000"/>
            </a:schemeClr>
          </a:solidFill>
        </p:spPr>
        <p:txBody>
          <a:bodyPr wrap="square">
            <a:spAutoFit/>
          </a:bodyPr>
          <a:lstStyle/>
          <a:p>
            <a:pPr algn="r" rtl="1">
              <a:lnSpc>
                <a:spcPct val="150000"/>
              </a:lnSpc>
            </a:pPr>
            <a:r>
              <a:rPr lang="ar-YE" sz="3600" b="1" dirty="0">
                <a:latin typeface="Calibri" panose="020F0502020204030204" pitchFamily="34" charset="0"/>
                <a:ea typeface="Calibri" panose="020F0502020204030204" pitchFamily="34" charset="0"/>
                <a:cs typeface="Arial" panose="020B0604020202020204" pitchFamily="34" charset="0"/>
              </a:rPr>
              <a:t>حوكمة تقنية المعلومات والامتثال عملية تتضمن :</a:t>
            </a:r>
          </a:p>
          <a:p>
            <a:pPr marL="1028700" lvl="1" indent="-571500" algn="r" rtl="1">
              <a:lnSpc>
                <a:spcPct val="107000"/>
              </a:lnSpc>
              <a:spcAft>
                <a:spcPts val="800"/>
              </a:spcAft>
              <a:buSzPts val="1000"/>
              <a:buFont typeface="Wingdings" panose="05000000000000000000" pitchFamily="2" charset="2"/>
              <a:buChar char="v"/>
              <a:tabLst>
                <a:tab pos="457200" algn="l"/>
              </a:tabLst>
            </a:pPr>
            <a:r>
              <a:rPr lang="ar-SA" sz="4400" b="1" dirty="0">
                <a:latin typeface="Calibri" panose="020F0502020204030204" pitchFamily="34" charset="0"/>
                <a:ea typeface="Calibri" panose="020F0502020204030204" pitchFamily="34" charset="0"/>
                <a:cs typeface="Arial" panose="020B0604020202020204" pitchFamily="34" charset="0"/>
              </a:rPr>
              <a:t>أطر حوكمة تكنولوجيا المعلومات</a:t>
            </a:r>
            <a:r>
              <a:rPr lang="en-US" sz="4400" b="1" dirty="0">
                <a:latin typeface="Calibri" panose="020F0502020204030204" pitchFamily="34" charset="0"/>
                <a:ea typeface="Calibri" panose="020F0502020204030204" pitchFamily="34" charset="0"/>
                <a:cs typeface="Arial" panose="020B0604020202020204" pitchFamily="34" charset="0"/>
              </a:rPr>
              <a:t> (COBIT</a:t>
            </a:r>
            <a:r>
              <a:rPr lang="ar-SA" sz="4400" b="1" dirty="0">
                <a:latin typeface="Calibri" panose="020F0502020204030204" pitchFamily="34" charset="0"/>
                <a:ea typeface="Calibri" panose="020F0502020204030204" pitchFamily="34" charset="0"/>
                <a:cs typeface="Arial" panose="020B0604020202020204" pitchFamily="34" charset="0"/>
              </a:rPr>
              <a:t>، </a:t>
            </a:r>
            <a:r>
              <a:rPr lang="en-US" sz="4400" b="1" dirty="0">
                <a:latin typeface="Calibri" panose="020F0502020204030204" pitchFamily="34" charset="0"/>
                <a:ea typeface="Calibri" panose="020F0502020204030204" pitchFamily="34" charset="0"/>
                <a:cs typeface="Arial" panose="020B0604020202020204" pitchFamily="34" charset="0"/>
              </a:rPr>
              <a:t>ITIL)</a:t>
            </a:r>
          </a:p>
          <a:p>
            <a:pPr marL="1028700" lvl="1" indent="-571500" algn="r" rtl="1">
              <a:lnSpc>
                <a:spcPct val="107000"/>
              </a:lnSpc>
              <a:spcAft>
                <a:spcPts val="800"/>
              </a:spcAft>
              <a:buSzPts val="1000"/>
              <a:buFont typeface="Wingdings" panose="05000000000000000000" pitchFamily="2" charset="2"/>
              <a:buChar char="v"/>
              <a:tabLst>
                <a:tab pos="457200" algn="l"/>
              </a:tabLst>
            </a:pPr>
            <a:r>
              <a:rPr lang="ar-SA" sz="4400" b="1" dirty="0">
                <a:latin typeface="Calibri" panose="020F0502020204030204" pitchFamily="34" charset="0"/>
                <a:ea typeface="Calibri" panose="020F0502020204030204" pitchFamily="34" charset="0"/>
                <a:cs typeface="Arial" panose="020B0604020202020204" pitchFamily="34" charset="0"/>
              </a:rPr>
              <a:t>الامتثال التنظيمي في تكنولوجيا المعلومات</a:t>
            </a:r>
            <a:r>
              <a:rPr lang="en-US" sz="4400" b="1" dirty="0">
                <a:latin typeface="Calibri" panose="020F0502020204030204" pitchFamily="34" charset="0"/>
                <a:ea typeface="Calibri" panose="020F0502020204030204" pitchFamily="34" charset="0"/>
                <a:cs typeface="Arial" panose="020B0604020202020204" pitchFamily="34" charset="0"/>
              </a:rPr>
              <a:t> (GDPR</a:t>
            </a:r>
            <a:r>
              <a:rPr lang="ar-SA" sz="4400" b="1" dirty="0">
                <a:latin typeface="Calibri" panose="020F0502020204030204" pitchFamily="34" charset="0"/>
                <a:ea typeface="Calibri" panose="020F0502020204030204" pitchFamily="34" charset="0"/>
                <a:cs typeface="Arial" panose="020B0604020202020204" pitchFamily="34" charset="0"/>
              </a:rPr>
              <a:t>، </a:t>
            </a:r>
            <a:r>
              <a:rPr lang="en-US" sz="4400" b="1" dirty="0">
                <a:latin typeface="Calibri" panose="020F0502020204030204" pitchFamily="34" charset="0"/>
                <a:ea typeface="Calibri" panose="020F0502020204030204" pitchFamily="34" charset="0"/>
                <a:cs typeface="Arial" panose="020B0604020202020204" pitchFamily="34" charset="0"/>
              </a:rPr>
              <a:t>HIPAA)</a:t>
            </a:r>
          </a:p>
          <a:p>
            <a:pPr marL="1028700" lvl="1" indent="-571500" algn="r" rtl="1">
              <a:lnSpc>
                <a:spcPct val="107000"/>
              </a:lnSpc>
              <a:spcAft>
                <a:spcPts val="800"/>
              </a:spcAft>
              <a:buSzPts val="1000"/>
              <a:buFont typeface="Wingdings" panose="05000000000000000000" pitchFamily="2" charset="2"/>
              <a:buChar char="v"/>
              <a:tabLst>
                <a:tab pos="457200" algn="l"/>
              </a:tabLst>
            </a:pPr>
            <a:r>
              <a:rPr lang="ar-SA" sz="4400" b="1" dirty="0">
                <a:latin typeface="Calibri" panose="020F0502020204030204" pitchFamily="34" charset="0"/>
                <a:ea typeface="Calibri" panose="020F0502020204030204" pitchFamily="34" charset="0"/>
                <a:cs typeface="Arial" panose="020B0604020202020204" pitchFamily="34" charset="0"/>
              </a:rPr>
              <a:t>إدارة المخاطر والاعتبارات الأخلاقية</a:t>
            </a:r>
            <a:endParaRPr lang="en-US" sz="4400" b="1" dirty="0">
              <a:latin typeface="Calibri" panose="020F0502020204030204" pitchFamily="34" charset="0"/>
              <a:ea typeface="Calibri" panose="020F0502020204030204" pitchFamily="34" charset="0"/>
              <a:cs typeface="Arial" panose="020B0604020202020204" pitchFamily="34" charset="0"/>
            </a:endParaRPr>
          </a:p>
          <a:p>
            <a:pPr marL="1028700" lvl="1" indent="-571500" algn="r" rtl="1">
              <a:lnSpc>
                <a:spcPct val="150000"/>
              </a:lnSpc>
              <a:buFont typeface="Arial" panose="020B0604020202020204" pitchFamily="34" charset="0"/>
              <a:buChar char="•"/>
            </a:pPr>
            <a:endParaRPr lang="ar-YE" sz="3600" b="1" dirty="0">
              <a:latin typeface="Calibri" panose="020F0502020204030204" pitchFamily="34" charset="0"/>
              <a:ea typeface="Calibri" panose="020F0502020204030204" pitchFamily="34" charset="0"/>
              <a:cs typeface="Arial" panose="020B0604020202020204" pitchFamily="34" charset="0"/>
            </a:endParaRPr>
          </a:p>
        </p:txBody>
      </p:sp>
      <p:sp>
        <p:nvSpPr>
          <p:cNvPr id="53" name="자유형: 도형 24">
            <a:extLst>
              <a:ext uri="{FF2B5EF4-FFF2-40B4-BE49-F238E27FC236}">
                <a16:creationId xmlns:a16="http://schemas.microsoft.com/office/drawing/2014/main" id="{C520398B-E02B-A44A-22CF-C78FEEF94007}"/>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347C005A-913D-E4FA-AA2F-FD952ED4602D}"/>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حوكمة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والامتثال</a:t>
            </a:r>
          </a:p>
        </p:txBody>
      </p:sp>
    </p:spTree>
    <p:extLst>
      <p:ext uri="{BB962C8B-B14F-4D97-AF65-F5344CB8AC3E}">
        <p14:creationId xmlns:p14="http://schemas.microsoft.com/office/powerpoint/2010/main" val="27235247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FB604-9DD6-4D1F-976A-253DD369722A}"/>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242010B7-C588-D113-1412-AB09C4AD968E}"/>
              </a:ext>
            </a:extLst>
          </p:cNvPr>
          <p:cNvSpPr txBox="1"/>
          <p:nvPr/>
        </p:nvSpPr>
        <p:spPr>
          <a:xfrm>
            <a:off x="112748" y="1501509"/>
            <a:ext cx="8835183" cy="3139321"/>
          </a:xfrm>
          <a:prstGeom prst="rect">
            <a:avLst/>
          </a:prstGeom>
          <a:solidFill>
            <a:schemeClr val="accent3">
              <a:lumMod val="60000"/>
              <a:lumOff val="40000"/>
            </a:schemeClr>
          </a:solidFill>
        </p:spPr>
        <p:txBody>
          <a:bodyPr wrap="square">
            <a:spAutoFit/>
          </a:bodyPr>
          <a:lstStyle/>
          <a:p>
            <a:pPr algn="r" rtl="1">
              <a:lnSpc>
                <a:spcPct val="150000"/>
              </a:lnSpc>
            </a:pPr>
            <a:r>
              <a:rPr lang="ar-YE" sz="3600" b="1" dirty="0">
                <a:latin typeface="Calibri" panose="020F0502020204030204" pitchFamily="34" charset="0"/>
                <a:ea typeface="Calibri" panose="020F0502020204030204" pitchFamily="34" charset="0"/>
                <a:cs typeface="Arial" panose="020B0604020202020204" pitchFamily="34" charset="0"/>
              </a:rPr>
              <a:t>يشير مفهوم حوكمة تقنية المعلومات إلى:</a:t>
            </a:r>
          </a:p>
          <a:p>
            <a:pPr marL="1028700" lvl="1" indent="-571500" algn="just" rtl="1">
              <a:buFont typeface="Arial" panose="020B0604020202020204" pitchFamily="34" charset="0"/>
              <a:buChar char="•"/>
            </a:pPr>
            <a:r>
              <a:rPr lang="ar-SA" sz="3600" b="1" dirty="0">
                <a:latin typeface="Calibri" panose="020F0502020204030204" pitchFamily="34" charset="0"/>
                <a:ea typeface="Calibri" panose="020F0502020204030204" pitchFamily="34" charset="0"/>
                <a:cs typeface="Arial" panose="020B0604020202020204" pitchFamily="34" charset="0"/>
              </a:rPr>
              <a:t>حوكمة تكنولوجيا المعلومات والامتثال هي عملية تنظيمية تهدف إلى ضمان أن تكنولوجيا المعلومات في المؤسسة تُدار بطريقة تدعم أهداف العمل وتلتزم باللوائح التنظيمية</a:t>
            </a:r>
            <a:endParaRPr lang="ar-YE" sz="3600" b="1" dirty="0">
              <a:latin typeface="Calibri" panose="020F0502020204030204" pitchFamily="34" charset="0"/>
              <a:ea typeface="Calibri" panose="020F0502020204030204" pitchFamily="34" charset="0"/>
              <a:cs typeface="Arial" panose="020B0604020202020204" pitchFamily="34" charset="0"/>
            </a:endParaRPr>
          </a:p>
        </p:txBody>
      </p:sp>
      <p:sp>
        <p:nvSpPr>
          <p:cNvPr id="53" name="자유형: 도형 24">
            <a:extLst>
              <a:ext uri="{FF2B5EF4-FFF2-40B4-BE49-F238E27FC236}">
                <a16:creationId xmlns:a16="http://schemas.microsoft.com/office/drawing/2014/main" id="{4DD3A581-BFFB-BD7A-307F-DCF02ECE19A5}"/>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DF5749C7-FF32-43D3-4E78-D2EF51B751C4}"/>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مفهوم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حوكمة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1539664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0571E-FB1F-6C96-C174-5D56CEE8477A}"/>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815942FE-3334-3A16-2A82-91725DEB2B64}"/>
              </a:ext>
            </a:extLst>
          </p:cNvPr>
          <p:cNvSpPr txBox="1"/>
          <p:nvPr/>
        </p:nvSpPr>
        <p:spPr>
          <a:xfrm>
            <a:off x="450677" y="1244557"/>
            <a:ext cx="8835183" cy="3693319"/>
          </a:xfrm>
          <a:prstGeom prst="rect">
            <a:avLst/>
          </a:prstGeom>
          <a:solidFill>
            <a:schemeClr val="accent3">
              <a:lumMod val="60000"/>
              <a:lumOff val="40000"/>
            </a:schemeClr>
          </a:solidFill>
        </p:spPr>
        <p:txBody>
          <a:bodyPr wrap="square">
            <a:spAutoFit/>
          </a:bodyPr>
          <a:lstStyle/>
          <a:p>
            <a:pPr algn="r" rtl="1">
              <a:lnSpc>
                <a:spcPct val="150000"/>
              </a:lnSpc>
            </a:pPr>
            <a:r>
              <a:rPr lang="ar-YE" sz="3600" b="1" dirty="0">
                <a:latin typeface="Calibri" panose="020F0502020204030204" pitchFamily="34" charset="0"/>
                <a:ea typeface="Calibri" panose="020F0502020204030204" pitchFamily="34" charset="0"/>
                <a:cs typeface="Arial" panose="020B0604020202020204" pitchFamily="34" charset="0"/>
              </a:rPr>
              <a:t>يشير مفهوم حوكمة تقنية المعلومات إلى:</a:t>
            </a:r>
          </a:p>
          <a:p>
            <a:pPr marL="1028700" lvl="1" indent="-571500" algn="just" rtl="1">
              <a:buFont typeface="Arial" panose="020B0604020202020204" pitchFamily="34" charset="0"/>
              <a:buChar char="•"/>
            </a:pPr>
            <a:r>
              <a:rPr lang="ar-SA" sz="3600" b="1" dirty="0">
                <a:latin typeface="Calibri" panose="020F0502020204030204" pitchFamily="34" charset="0"/>
                <a:ea typeface="Calibri" panose="020F0502020204030204" pitchFamily="34" charset="0"/>
                <a:cs typeface="Arial" panose="020B0604020202020204" pitchFamily="34" charset="0"/>
              </a:rPr>
              <a:t>حوكمة تكنولوجيا المعلومات تشير إلى الأطر والسياسات التي تُستخدم لإدارة وتوجيه استخدام تكنولوجيا المعلومات في المؤسسة. الهدف هو تحقيق التوافق بين أهداف تكنولوجيا المعلومات وأهداف العمل، وتحسين الأداء، وتقليل المخاطر</a:t>
            </a:r>
            <a:endParaRPr lang="ar-YE" sz="3600" b="1" dirty="0">
              <a:latin typeface="Calibri" panose="020F0502020204030204" pitchFamily="34" charset="0"/>
              <a:ea typeface="Calibri" panose="020F0502020204030204" pitchFamily="34" charset="0"/>
              <a:cs typeface="Arial" panose="020B0604020202020204" pitchFamily="34" charset="0"/>
            </a:endParaRPr>
          </a:p>
        </p:txBody>
      </p:sp>
      <p:sp>
        <p:nvSpPr>
          <p:cNvPr id="53" name="자유형: 도형 24">
            <a:extLst>
              <a:ext uri="{FF2B5EF4-FFF2-40B4-BE49-F238E27FC236}">
                <a16:creationId xmlns:a16="http://schemas.microsoft.com/office/drawing/2014/main" id="{86283E69-5A5F-8DE7-BF65-DE330234CD8B}"/>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364E3F6F-5512-1300-83C4-8311388D6750}"/>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حوكمة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369051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22F9C-9719-AC22-3EE9-AAF2E074CBFA}"/>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AD7B1B78-6F75-34CD-4FBA-76AE0FAD19EF}"/>
              </a:ext>
            </a:extLst>
          </p:cNvPr>
          <p:cNvSpPr txBox="1"/>
          <p:nvPr/>
        </p:nvSpPr>
        <p:spPr>
          <a:xfrm>
            <a:off x="237353" y="1403278"/>
            <a:ext cx="8835183" cy="3737883"/>
          </a:xfrm>
          <a:prstGeom prst="rect">
            <a:avLst/>
          </a:prstGeom>
          <a:solidFill>
            <a:schemeClr val="accent3">
              <a:lumMod val="60000"/>
              <a:lumOff val="40000"/>
            </a:schemeClr>
          </a:solidFill>
        </p:spPr>
        <p:txBody>
          <a:bodyPr wrap="square">
            <a:spAutoFit/>
          </a:bodyPr>
          <a:lstStyle/>
          <a:p>
            <a:pPr algn="r" rtl="1">
              <a:lnSpc>
                <a:spcPct val="107000"/>
              </a:lnSpc>
              <a:spcAft>
                <a:spcPts val="800"/>
              </a:spcAft>
            </a:pPr>
            <a:r>
              <a:rPr lang="ar-SA" sz="3600" b="1" dirty="0">
                <a:latin typeface="Calibri" panose="020F0502020204030204" pitchFamily="34" charset="0"/>
                <a:ea typeface="Calibri" panose="020F0502020204030204" pitchFamily="34" charset="0"/>
                <a:cs typeface="Arial" panose="020B0604020202020204" pitchFamily="34" charset="0"/>
              </a:rPr>
              <a:t>من أشهر أطر حوكمة تكنولوجيا المعلومات</a:t>
            </a:r>
            <a:r>
              <a:rPr lang="en-US" sz="3600" b="1" dirty="0">
                <a:latin typeface="Calibri" panose="020F0502020204030204" pitchFamily="34" charset="0"/>
                <a:ea typeface="Calibri" panose="020F0502020204030204" pitchFamily="34" charset="0"/>
                <a:cs typeface="Arial" panose="020B0604020202020204" pitchFamily="34" charset="0"/>
              </a:rPr>
              <a:t>:</a:t>
            </a:r>
          </a:p>
          <a:p>
            <a:pPr marL="571500" lvl="3" indent="-571500" algn="r" rtl="1">
              <a:lnSpc>
                <a:spcPct val="107000"/>
              </a:lnSpc>
              <a:spcAft>
                <a:spcPts val="800"/>
              </a:spcAft>
              <a:buSzPts val="1000"/>
              <a:buFont typeface="Wingdings" panose="05000000000000000000" pitchFamily="2" charset="2"/>
              <a:buChar char="q"/>
              <a:tabLst>
                <a:tab pos="457200" algn="l"/>
              </a:tabLst>
            </a:pPr>
            <a:r>
              <a:rPr lang="en-US" sz="3600" b="1" dirty="0">
                <a:latin typeface="Calibri" panose="020F0502020204030204" pitchFamily="34" charset="0"/>
                <a:ea typeface="Calibri" panose="020F0502020204030204" pitchFamily="34" charset="0"/>
                <a:cs typeface="Arial" panose="020B0604020202020204" pitchFamily="34" charset="0"/>
              </a:rPr>
              <a:t>COBIT:  </a:t>
            </a:r>
            <a:r>
              <a:rPr lang="ar-SA" sz="3600" b="1" dirty="0">
                <a:latin typeface="Calibri" panose="020F0502020204030204" pitchFamily="34" charset="0"/>
                <a:ea typeface="Calibri" panose="020F0502020204030204" pitchFamily="34" charset="0"/>
                <a:cs typeface="Arial" panose="020B0604020202020204" pitchFamily="34" charset="0"/>
              </a:rPr>
              <a:t>إطار شامل لإدارة تكنولوجيا المعلومات يركز على التحكم والحوكمة</a:t>
            </a:r>
            <a:r>
              <a:rPr lang="en-US" sz="3600" b="1" dirty="0">
                <a:latin typeface="Calibri" panose="020F0502020204030204" pitchFamily="34" charset="0"/>
                <a:ea typeface="Calibri" panose="020F0502020204030204" pitchFamily="34" charset="0"/>
                <a:cs typeface="Arial" panose="020B0604020202020204" pitchFamily="34" charset="0"/>
              </a:rPr>
              <a:t>.</a:t>
            </a:r>
          </a:p>
          <a:p>
            <a:pPr marL="571500" indent="-571500" algn="l" rtl="1">
              <a:buFont typeface="Wingdings" panose="05000000000000000000" pitchFamily="2" charset="2"/>
              <a:buChar char="q"/>
            </a:pPr>
            <a:r>
              <a:rPr lang="en-US" sz="3600" b="1" dirty="0">
                <a:latin typeface="Calibri" panose="020F0502020204030204" pitchFamily="34" charset="0"/>
                <a:ea typeface="Calibri" panose="020F0502020204030204" pitchFamily="34" charset="0"/>
                <a:cs typeface="Arial" panose="020B0604020202020204" pitchFamily="34" charset="0"/>
              </a:rPr>
              <a:t>ITIL:  </a:t>
            </a:r>
            <a:r>
              <a:rPr lang="ar-SA" sz="3600" b="1" dirty="0">
                <a:latin typeface="Calibri" panose="020F0502020204030204" pitchFamily="34" charset="0"/>
                <a:ea typeface="Calibri" panose="020F0502020204030204" pitchFamily="34" charset="0"/>
                <a:cs typeface="Arial" panose="020B0604020202020204" pitchFamily="34" charset="0"/>
              </a:rPr>
              <a:t>مجموعة من الممارسات لإدارة خدمات تكنولوجيا المعلومات التي تركز على تلبية احتياجات العملاء</a:t>
            </a:r>
            <a:endParaRPr lang="ar-YE" sz="3600" b="1" dirty="0">
              <a:latin typeface="Calibri" panose="020F0502020204030204" pitchFamily="34" charset="0"/>
              <a:ea typeface="Calibri" panose="020F0502020204030204" pitchFamily="34" charset="0"/>
              <a:cs typeface="Arial" panose="020B0604020202020204" pitchFamily="34" charset="0"/>
            </a:endParaRPr>
          </a:p>
        </p:txBody>
      </p:sp>
      <p:sp>
        <p:nvSpPr>
          <p:cNvPr id="53" name="자유형: 도형 24">
            <a:extLst>
              <a:ext uri="{FF2B5EF4-FFF2-40B4-BE49-F238E27FC236}">
                <a16:creationId xmlns:a16="http://schemas.microsoft.com/office/drawing/2014/main" id="{FA2CAE25-A8ED-2754-D8FC-B1847C05D469}"/>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45D1ADC1-8382-82EF-F666-686F554B2886}"/>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أطر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حوكمة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41070342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4B114-78A7-E8F6-6F96-CA9433373538}"/>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B264DDFF-E98D-13CD-93F3-34A581634F9C}"/>
              </a:ext>
            </a:extLst>
          </p:cNvPr>
          <p:cNvSpPr txBox="1"/>
          <p:nvPr/>
        </p:nvSpPr>
        <p:spPr>
          <a:xfrm>
            <a:off x="237353" y="46182"/>
            <a:ext cx="8835183" cy="6765635"/>
          </a:xfrm>
          <a:prstGeom prst="rect">
            <a:avLst/>
          </a:prstGeom>
          <a:solidFill>
            <a:schemeClr val="accent3">
              <a:lumMod val="60000"/>
              <a:lumOff val="40000"/>
            </a:schemeClr>
          </a:solidFill>
        </p:spPr>
        <p:txBody>
          <a:bodyPr wrap="square">
            <a:spAutoFit/>
          </a:bodyPr>
          <a:lstStyle/>
          <a:p>
            <a:pPr algn="r" rtl="1">
              <a:lnSpc>
                <a:spcPct val="107000"/>
              </a:lnSpc>
              <a:spcAft>
                <a:spcPts val="800"/>
              </a:spcAft>
            </a:pPr>
            <a:r>
              <a:rPr lang="ar-SA" sz="3600" b="1" dirty="0">
                <a:latin typeface="Calibri" panose="020F0502020204030204" pitchFamily="34" charset="0"/>
                <a:ea typeface="Calibri" panose="020F0502020204030204" pitchFamily="34" charset="0"/>
                <a:cs typeface="Arial" panose="020B0604020202020204" pitchFamily="34" charset="0"/>
              </a:rPr>
              <a:t>من أشهر أطر حوكمة تكنولوجيا المعلومات</a:t>
            </a:r>
            <a:r>
              <a:rPr lang="en-US" sz="3600" b="1" dirty="0">
                <a:latin typeface="Calibri" panose="020F0502020204030204" pitchFamily="34" charset="0"/>
                <a:ea typeface="Calibri" panose="020F0502020204030204" pitchFamily="34" charset="0"/>
                <a:cs typeface="Arial" panose="020B0604020202020204" pitchFamily="34" charset="0"/>
              </a:rPr>
              <a:t>:</a:t>
            </a:r>
          </a:p>
          <a:p>
            <a:pPr marL="571500" indent="-571500" algn="r" rtl="1">
              <a:lnSpc>
                <a:spcPct val="107000"/>
              </a:lnSpc>
              <a:spcAft>
                <a:spcPts val="800"/>
              </a:spcAft>
              <a:buFont typeface="Arial" panose="020B0604020202020204" pitchFamily="34" charset="0"/>
              <a:buChar char="•"/>
            </a:pPr>
            <a:r>
              <a:rPr lang="en-US" sz="3600" b="1" dirty="0">
                <a:latin typeface="Calibri" panose="020F0502020204030204" pitchFamily="34" charset="0"/>
                <a:ea typeface="Calibri" panose="020F0502020204030204" pitchFamily="34" charset="0"/>
                <a:cs typeface="Arial" panose="020B0604020202020204" pitchFamily="34" charset="0"/>
              </a:rPr>
              <a:t>COBIT</a:t>
            </a:r>
            <a:r>
              <a:rPr lang="ar-SA" sz="3600" b="1" dirty="0">
                <a:latin typeface="Calibri" panose="020F0502020204030204" pitchFamily="34" charset="0"/>
                <a:ea typeface="Calibri" panose="020F0502020204030204" pitchFamily="34" charset="0"/>
                <a:cs typeface="Arial" panose="020B0604020202020204" pitchFamily="34" charset="0"/>
              </a:rPr>
              <a:t>توجد عدة أطر لحوكمة تكنولوجيا المعلومات تساعد المؤسسات على إدارة واستخدام تكنولوجيا المعلومات بفعالية لتحقيق أهدافها الاستراتيجية. إليك بعض الأطر الأكثر شيوعًا</a:t>
            </a:r>
            <a:r>
              <a:rPr lang="en-US" sz="3600" b="1" dirty="0">
                <a:latin typeface="Calibri" panose="020F0502020204030204" pitchFamily="34" charset="0"/>
                <a:ea typeface="Calibri" panose="020F0502020204030204" pitchFamily="34" charset="0"/>
                <a:cs typeface="Arial" panose="020B0604020202020204" pitchFamily="34" charset="0"/>
              </a:rPr>
              <a:t>:</a:t>
            </a:r>
          </a:p>
          <a:p>
            <a:pPr marL="571500" indent="-571500" algn="r" rtl="1">
              <a:lnSpc>
                <a:spcPct val="107000"/>
              </a:lnSpc>
              <a:spcAft>
                <a:spcPts val="800"/>
              </a:spcAft>
              <a:buFont typeface="Arial" panose="020B0604020202020204" pitchFamily="34" charset="0"/>
              <a:buChar char="•"/>
            </a:pPr>
            <a:r>
              <a:rPr lang="en-US" sz="3600" b="1" dirty="0">
                <a:latin typeface="Calibri" panose="020F0502020204030204" pitchFamily="34" charset="0"/>
                <a:ea typeface="Calibri" panose="020F0502020204030204" pitchFamily="34" charset="0"/>
                <a:cs typeface="Arial" panose="020B0604020202020204" pitchFamily="34" charset="0"/>
              </a:rPr>
              <a:t>1. COBIT (Control Objectives for Information and Related Technologies)</a:t>
            </a:r>
          </a:p>
          <a:p>
            <a:pPr marL="571500" indent="-571500" algn="r">
              <a:buFont typeface="Arial" panose="020B0604020202020204" pitchFamily="34" charset="0"/>
              <a:buChar char="•"/>
            </a:pPr>
            <a:r>
              <a:rPr lang="en-US" sz="3600" b="1" dirty="0">
                <a:latin typeface="Calibri" panose="020F0502020204030204" pitchFamily="34" charset="0"/>
                <a:ea typeface="Calibri" panose="020F0502020204030204" pitchFamily="34" charset="0"/>
                <a:cs typeface="Arial" panose="020B0604020202020204" pitchFamily="34" charset="0"/>
              </a:rPr>
              <a:t>COBIT </a:t>
            </a:r>
            <a:r>
              <a:rPr lang="ar-SA" sz="3600" b="1" dirty="0">
                <a:latin typeface="Calibri" panose="020F0502020204030204" pitchFamily="34" charset="0"/>
                <a:ea typeface="Calibri" panose="020F0502020204030204" pitchFamily="34" charset="0"/>
                <a:cs typeface="Arial" panose="020B0604020202020204" pitchFamily="34" charset="0"/>
              </a:rPr>
              <a:t>هو إطار شامل يركز على حوكمة وإدارة تكنولوجيا المعلومات. يوفر أدوات وإرشادات لمواءمة تكنولوجيا المعلومات مع أهداف العمل، وإدارة المخاطر، وضمان الامتثال التنظيمي</a:t>
            </a:r>
            <a:r>
              <a:rPr lang="ar-SA" sz="1800" dirty="0">
                <a:effectLst/>
                <a:latin typeface="Calibri" panose="020F0502020204030204" pitchFamily="34" charset="0"/>
                <a:ea typeface="Calibri" panose="020F0502020204030204" pitchFamily="34" charset="0"/>
                <a:cs typeface="Arial" panose="020B0604020202020204" pitchFamily="34" charset="0"/>
              </a:rPr>
              <a:t>. </a:t>
            </a:r>
            <a:endParaRPr lang="ar-YE" sz="3600" b="1" dirty="0">
              <a:latin typeface="Calibri" panose="020F0502020204030204" pitchFamily="34" charset="0"/>
              <a:ea typeface="Calibri" panose="020F0502020204030204" pitchFamily="34" charset="0"/>
              <a:cs typeface="Arial" panose="020B0604020202020204" pitchFamily="34" charset="0"/>
            </a:endParaRPr>
          </a:p>
        </p:txBody>
      </p:sp>
      <p:sp>
        <p:nvSpPr>
          <p:cNvPr id="53" name="자유형: 도형 24">
            <a:extLst>
              <a:ext uri="{FF2B5EF4-FFF2-40B4-BE49-F238E27FC236}">
                <a16:creationId xmlns:a16="http://schemas.microsoft.com/office/drawing/2014/main" id="{FC33B059-14DF-44D1-0A03-0C9B94A187B7}"/>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4C123FF1-76F0-C0E1-0A3E-B3A6A7E2B373}"/>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أطر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حوكمة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41543887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D6144-4D93-7519-4158-7D51A764144D}"/>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C8870CD6-CF4A-35D2-766B-599C6DF88BD0}"/>
              </a:ext>
            </a:extLst>
          </p:cNvPr>
          <p:cNvSpPr txBox="1"/>
          <p:nvPr/>
        </p:nvSpPr>
        <p:spPr>
          <a:xfrm>
            <a:off x="237353" y="46182"/>
            <a:ext cx="8835183" cy="6932026"/>
          </a:xfrm>
          <a:prstGeom prst="rect">
            <a:avLst/>
          </a:prstGeom>
          <a:solidFill>
            <a:schemeClr val="accent3">
              <a:lumMod val="60000"/>
              <a:lumOff val="40000"/>
            </a:schemeClr>
          </a:solidFill>
        </p:spPr>
        <p:txBody>
          <a:bodyPr wrap="square">
            <a:spAutoFit/>
          </a:bodyPr>
          <a:lstStyle/>
          <a:p>
            <a:pPr marL="571500" indent="-571500" algn="r" rtl="1">
              <a:buFont typeface="Arial" panose="020B0604020202020204" pitchFamily="34" charset="0"/>
              <a:buChar char="•"/>
            </a:pPr>
            <a:r>
              <a:rPr lang="en-US" sz="3600" b="1" dirty="0">
                <a:latin typeface="Calibri" panose="020F0502020204030204" pitchFamily="34" charset="0"/>
                <a:ea typeface="Calibri" panose="020F0502020204030204" pitchFamily="34" charset="0"/>
                <a:cs typeface="Arial" panose="020B0604020202020204" pitchFamily="34" charset="0"/>
              </a:rPr>
              <a:t>COBIT </a:t>
            </a:r>
            <a:endParaRPr lang="ar-YE" sz="3600" b="1" dirty="0">
              <a:latin typeface="Calibri" panose="020F0502020204030204" pitchFamily="34" charset="0"/>
              <a:ea typeface="Calibri" panose="020F0502020204030204" pitchFamily="34" charset="0"/>
              <a:cs typeface="Arial" panose="020B0604020202020204" pitchFamily="34" charset="0"/>
            </a:endParaRPr>
          </a:p>
          <a:p>
            <a:pPr lvl="1" algn="just" rtl="1">
              <a:lnSpc>
                <a:spcPct val="107000"/>
              </a:lnSpc>
              <a:spcAft>
                <a:spcPts val="800"/>
              </a:spcAft>
            </a:pPr>
            <a:r>
              <a:rPr lang="ar-SA" sz="3200" b="1" dirty="0">
                <a:latin typeface="Calibri" panose="020F0502020204030204" pitchFamily="34" charset="0"/>
                <a:ea typeface="Calibri" panose="020F0502020204030204" pitchFamily="34" charset="0"/>
                <a:cs typeface="Arial" panose="020B0604020202020204" pitchFamily="34" charset="0"/>
              </a:rPr>
              <a:t>هو إطار شامل يركز على حوكمة وإدارة تكنولوجيا المعلومات. يوفر أدوات وإرشادات لمواءمة تكنولوجيا المعلومات مع أهداف العمل، وإدارة المخاطر، وضمان الامتثال التنظيمي. يركز</a:t>
            </a:r>
            <a:r>
              <a:rPr lang="en-US" sz="3200" b="1" dirty="0">
                <a:latin typeface="Calibri" panose="020F0502020204030204" pitchFamily="34" charset="0"/>
                <a:ea typeface="Calibri" panose="020F0502020204030204" pitchFamily="34" charset="0"/>
                <a:cs typeface="Arial" panose="020B0604020202020204" pitchFamily="34" charset="0"/>
              </a:rPr>
              <a:t> COBIT </a:t>
            </a:r>
            <a:r>
              <a:rPr lang="ar-SA" sz="3200" b="1" dirty="0">
                <a:latin typeface="Calibri" panose="020F0502020204030204" pitchFamily="34" charset="0"/>
                <a:ea typeface="Calibri" panose="020F0502020204030204" pitchFamily="34" charset="0"/>
                <a:cs typeface="Arial" panose="020B0604020202020204" pitchFamily="34" charset="0"/>
              </a:rPr>
              <a:t>على خمسة مجالات رئيسية</a:t>
            </a:r>
            <a:r>
              <a:rPr lang="en-US" sz="3200" b="1" dirty="0">
                <a:latin typeface="Calibri" panose="020F0502020204030204" pitchFamily="34" charset="0"/>
                <a:ea typeface="Calibri" panose="020F0502020204030204" pitchFamily="34" charset="0"/>
                <a:cs typeface="Arial" panose="020B0604020202020204" pitchFamily="34" charset="0"/>
              </a:rPr>
              <a:t>:</a:t>
            </a:r>
          </a:p>
          <a:p>
            <a:pPr marL="1257300" lvl="2" indent="-342900" algn="r" rtl="1">
              <a:lnSpc>
                <a:spcPct val="107000"/>
              </a:lnSpc>
              <a:spcAft>
                <a:spcPts val="800"/>
              </a:spcAft>
              <a:buSzPts val="1000"/>
              <a:buFont typeface="Symbol" panose="05050102010706020507" pitchFamily="18" charset="2"/>
              <a:buChar char=""/>
              <a:tabLst>
                <a:tab pos="457200" algn="l"/>
              </a:tabLst>
            </a:pPr>
            <a:r>
              <a:rPr lang="ar-SA" sz="2800" b="1" dirty="0">
                <a:latin typeface="Calibri" panose="020F0502020204030204" pitchFamily="34" charset="0"/>
                <a:ea typeface="Calibri" panose="020F0502020204030204" pitchFamily="34" charset="0"/>
                <a:cs typeface="Arial" panose="020B0604020202020204" pitchFamily="34" charset="0"/>
              </a:rPr>
              <a:t>تقديم القيمة</a:t>
            </a:r>
            <a:r>
              <a:rPr lang="en-US" sz="2800" b="1" dirty="0">
                <a:latin typeface="Calibri" panose="020F0502020204030204" pitchFamily="34" charset="0"/>
                <a:ea typeface="Calibri" panose="020F0502020204030204" pitchFamily="34" charset="0"/>
                <a:cs typeface="Arial" panose="020B0604020202020204" pitchFamily="34" charset="0"/>
              </a:rPr>
              <a:t>: </a:t>
            </a:r>
            <a:r>
              <a:rPr lang="ar-SA" sz="2800" b="1" dirty="0">
                <a:latin typeface="Calibri" panose="020F0502020204030204" pitchFamily="34" charset="0"/>
                <a:ea typeface="Calibri" panose="020F0502020204030204" pitchFamily="34" charset="0"/>
                <a:cs typeface="Arial" panose="020B0604020202020204" pitchFamily="34" charset="0"/>
              </a:rPr>
              <a:t>ضمان أن تكنولوجيا المعلومات تقدم قيمة ملموسة للأعمال</a:t>
            </a:r>
            <a:r>
              <a:rPr lang="en-US" sz="2800" b="1" dirty="0">
                <a:latin typeface="Calibri" panose="020F0502020204030204" pitchFamily="34" charset="0"/>
                <a:ea typeface="Calibri" panose="020F0502020204030204" pitchFamily="34" charset="0"/>
                <a:cs typeface="Arial" panose="020B0604020202020204" pitchFamily="34" charset="0"/>
              </a:rPr>
              <a:t>.</a:t>
            </a:r>
          </a:p>
          <a:p>
            <a:pPr marL="1257300" lvl="2" indent="-342900" algn="r" rtl="1">
              <a:lnSpc>
                <a:spcPct val="107000"/>
              </a:lnSpc>
              <a:spcAft>
                <a:spcPts val="800"/>
              </a:spcAft>
              <a:buSzPts val="1000"/>
              <a:buFont typeface="Symbol" panose="05050102010706020507" pitchFamily="18" charset="2"/>
              <a:buChar char=""/>
              <a:tabLst>
                <a:tab pos="457200" algn="l"/>
              </a:tabLst>
            </a:pPr>
            <a:r>
              <a:rPr lang="ar-SA" sz="2800" b="1" dirty="0">
                <a:latin typeface="Calibri" panose="020F0502020204030204" pitchFamily="34" charset="0"/>
                <a:ea typeface="Calibri" panose="020F0502020204030204" pitchFamily="34" charset="0"/>
                <a:cs typeface="Arial" panose="020B0604020202020204" pitchFamily="34" charset="0"/>
              </a:rPr>
              <a:t>المواءمة الاستراتيجية</a:t>
            </a:r>
            <a:r>
              <a:rPr lang="en-US" sz="2800" b="1" dirty="0">
                <a:latin typeface="Calibri" panose="020F0502020204030204" pitchFamily="34" charset="0"/>
                <a:ea typeface="Calibri" panose="020F0502020204030204" pitchFamily="34" charset="0"/>
                <a:cs typeface="Arial" panose="020B0604020202020204" pitchFamily="34" charset="0"/>
              </a:rPr>
              <a:t>: </a:t>
            </a:r>
            <a:r>
              <a:rPr lang="ar-SA" sz="2800" b="1" dirty="0">
                <a:latin typeface="Calibri" panose="020F0502020204030204" pitchFamily="34" charset="0"/>
                <a:ea typeface="Calibri" panose="020F0502020204030204" pitchFamily="34" charset="0"/>
                <a:cs typeface="Arial" panose="020B0604020202020204" pitchFamily="34" charset="0"/>
              </a:rPr>
              <a:t>مواءمة أهداف تكنولوجيا المعلومات مع أهداف العمل</a:t>
            </a:r>
            <a:r>
              <a:rPr lang="en-US" sz="2800" b="1" dirty="0">
                <a:latin typeface="Calibri" panose="020F0502020204030204" pitchFamily="34" charset="0"/>
                <a:ea typeface="Calibri" panose="020F0502020204030204" pitchFamily="34" charset="0"/>
                <a:cs typeface="Arial" panose="020B0604020202020204" pitchFamily="34" charset="0"/>
              </a:rPr>
              <a:t>.</a:t>
            </a:r>
          </a:p>
          <a:p>
            <a:pPr marL="1257300" lvl="2" indent="-342900" algn="r" rtl="1">
              <a:lnSpc>
                <a:spcPct val="107000"/>
              </a:lnSpc>
              <a:spcAft>
                <a:spcPts val="800"/>
              </a:spcAft>
              <a:buSzPts val="1000"/>
              <a:buFont typeface="Symbol" panose="05050102010706020507" pitchFamily="18" charset="2"/>
              <a:buChar char=""/>
              <a:tabLst>
                <a:tab pos="457200" algn="l"/>
              </a:tabLst>
            </a:pPr>
            <a:r>
              <a:rPr lang="ar-SA" sz="2800" b="1" dirty="0">
                <a:latin typeface="Calibri" panose="020F0502020204030204" pitchFamily="34" charset="0"/>
                <a:ea typeface="Calibri" panose="020F0502020204030204" pitchFamily="34" charset="0"/>
                <a:cs typeface="Arial" panose="020B0604020202020204" pitchFamily="34" charset="0"/>
              </a:rPr>
              <a:t>إدارة الموارد</a:t>
            </a:r>
            <a:r>
              <a:rPr lang="en-US" sz="2800" b="1" dirty="0">
                <a:latin typeface="Calibri" panose="020F0502020204030204" pitchFamily="34" charset="0"/>
                <a:ea typeface="Calibri" panose="020F0502020204030204" pitchFamily="34" charset="0"/>
                <a:cs typeface="Arial" panose="020B0604020202020204" pitchFamily="34" charset="0"/>
              </a:rPr>
              <a:t>: </a:t>
            </a:r>
            <a:r>
              <a:rPr lang="ar-SA" sz="2800" b="1" dirty="0">
                <a:latin typeface="Calibri" panose="020F0502020204030204" pitchFamily="34" charset="0"/>
                <a:ea typeface="Calibri" panose="020F0502020204030204" pitchFamily="34" charset="0"/>
                <a:cs typeface="Arial" panose="020B0604020202020204" pitchFamily="34" charset="0"/>
              </a:rPr>
              <a:t>إدارة الموارد التكنولوجية بفعالية</a:t>
            </a:r>
            <a:r>
              <a:rPr lang="en-US" sz="2800" b="1" dirty="0">
                <a:latin typeface="Calibri" panose="020F0502020204030204" pitchFamily="34" charset="0"/>
                <a:ea typeface="Calibri" panose="020F0502020204030204" pitchFamily="34" charset="0"/>
                <a:cs typeface="Arial" panose="020B0604020202020204" pitchFamily="34" charset="0"/>
              </a:rPr>
              <a:t>.</a:t>
            </a:r>
          </a:p>
          <a:p>
            <a:pPr marL="1257300" lvl="2" indent="-342900" algn="r" rtl="1">
              <a:lnSpc>
                <a:spcPct val="107000"/>
              </a:lnSpc>
              <a:spcAft>
                <a:spcPts val="800"/>
              </a:spcAft>
              <a:buSzPts val="1000"/>
              <a:buFont typeface="Symbol" panose="05050102010706020507" pitchFamily="18" charset="2"/>
              <a:buChar char=""/>
              <a:tabLst>
                <a:tab pos="457200" algn="l"/>
              </a:tabLst>
            </a:pPr>
            <a:r>
              <a:rPr lang="ar-SA" sz="2800" b="1" dirty="0">
                <a:latin typeface="Calibri" panose="020F0502020204030204" pitchFamily="34" charset="0"/>
                <a:ea typeface="Calibri" panose="020F0502020204030204" pitchFamily="34" charset="0"/>
                <a:cs typeface="Arial" panose="020B0604020202020204" pitchFamily="34" charset="0"/>
              </a:rPr>
              <a:t>إدارة المخاطر</a:t>
            </a:r>
            <a:r>
              <a:rPr lang="en-US" sz="2800" b="1" dirty="0">
                <a:latin typeface="Calibri" panose="020F0502020204030204" pitchFamily="34" charset="0"/>
                <a:ea typeface="Calibri" panose="020F0502020204030204" pitchFamily="34" charset="0"/>
                <a:cs typeface="Arial" panose="020B0604020202020204" pitchFamily="34" charset="0"/>
              </a:rPr>
              <a:t>: </a:t>
            </a:r>
            <a:r>
              <a:rPr lang="ar-SA" sz="2800" b="1" dirty="0">
                <a:latin typeface="Calibri" panose="020F0502020204030204" pitchFamily="34" charset="0"/>
                <a:ea typeface="Calibri" panose="020F0502020204030204" pitchFamily="34" charset="0"/>
                <a:cs typeface="Arial" panose="020B0604020202020204" pitchFamily="34" charset="0"/>
              </a:rPr>
              <a:t>تحديد وتقييم وإدارة المخاطر المتعلقة بتكنولوجيا المعلومات</a:t>
            </a:r>
            <a:r>
              <a:rPr lang="en-US" sz="2800" b="1" dirty="0">
                <a:latin typeface="Calibri" panose="020F0502020204030204" pitchFamily="34" charset="0"/>
                <a:ea typeface="Calibri" panose="020F0502020204030204" pitchFamily="34" charset="0"/>
                <a:cs typeface="Arial" panose="020B0604020202020204" pitchFamily="34" charset="0"/>
              </a:rPr>
              <a:t>.</a:t>
            </a:r>
          </a:p>
          <a:p>
            <a:pPr marL="1257300" lvl="2" indent="-342900" algn="r" rtl="1">
              <a:lnSpc>
                <a:spcPct val="107000"/>
              </a:lnSpc>
              <a:spcAft>
                <a:spcPts val="800"/>
              </a:spcAft>
              <a:buSzPts val="1000"/>
              <a:buFont typeface="Symbol" panose="05050102010706020507" pitchFamily="18" charset="2"/>
              <a:buChar char=""/>
              <a:tabLst>
                <a:tab pos="457200" algn="l"/>
              </a:tabLst>
            </a:pPr>
            <a:r>
              <a:rPr lang="ar-SA" sz="2800" b="1" dirty="0">
                <a:latin typeface="Calibri" panose="020F0502020204030204" pitchFamily="34" charset="0"/>
                <a:ea typeface="Calibri" panose="020F0502020204030204" pitchFamily="34" charset="0"/>
                <a:cs typeface="Arial" panose="020B0604020202020204" pitchFamily="34" charset="0"/>
              </a:rPr>
              <a:t>قياس الأداء</a:t>
            </a:r>
            <a:r>
              <a:rPr lang="en-US" sz="2800" b="1" dirty="0">
                <a:latin typeface="Calibri" panose="020F0502020204030204" pitchFamily="34" charset="0"/>
                <a:ea typeface="Calibri" panose="020F0502020204030204" pitchFamily="34" charset="0"/>
                <a:cs typeface="Arial" panose="020B0604020202020204" pitchFamily="34" charset="0"/>
              </a:rPr>
              <a:t>: </a:t>
            </a:r>
            <a:r>
              <a:rPr lang="ar-SA" sz="2800" b="1" dirty="0">
                <a:latin typeface="Calibri" panose="020F0502020204030204" pitchFamily="34" charset="0"/>
                <a:ea typeface="Calibri" panose="020F0502020204030204" pitchFamily="34" charset="0"/>
                <a:cs typeface="Arial" panose="020B0604020202020204" pitchFamily="34" charset="0"/>
              </a:rPr>
              <a:t>مراقبة وقياس أداء تكنولوجيا المعلومات</a:t>
            </a:r>
            <a:r>
              <a:rPr lang="en-US" sz="2800" b="1" dirty="0">
                <a:latin typeface="Calibri" panose="020F0502020204030204" pitchFamily="34" charset="0"/>
                <a:ea typeface="Calibri" panose="020F0502020204030204" pitchFamily="34" charset="0"/>
                <a:cs typeface="Arial" panose="020B0604020202020204" pitchFamily="34" charset="0"/>
              </a:rPr>
              <a:t>.</a:t>
            </a:r>
          </a:p>
        </p:txBody>
      </p:sp>
      <p:sp>
        <p:nvSpPr>
          <p:cNvPr id="53" name="자유형: 도형 24">
            <a:extLst>
              <a:ext uri="{FF2B5EF4-FFF2-40B4-BE49-F238E27FC236}">
                <a16:creationId xmlns:a16="http://schemas.microsoft.com/office/drawing/2014/main" id="{0569B883-BBA0-7E8B-9808-58C0FB009D2C}"/>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2755E3E8-1E73-30E9-6114-8C29CE3530AB}"/>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أطر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حوكمة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35200134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79FF7-C95D-2613-5683-FC7ADCB5314B}"/>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5D041568-CD66-7F8D-30E3-B1CD27542277}"/>
              </a:ext>
            </a:extLst>
          </p:cNvPr>
          <p:cNvSpPr txBox="1"/>
          <p:nvPr/>
        </p:nvSpPr>
        <p:spPr>
          <a:xfrm>
            <a:off x="237353" y="46182"/>
            <a:ext cx="8835183" cy="6348789"/>
          </a:xfrm>
          <a:prstGeom prst="rect">
            <a:avLst/>
          </a:prstGeom>
          <a:solidFill>
            <a:schemeClr val="accent3">
              <a:lumMod val="60000"/>
              <a:lumOff val="40000"/>
            </a:schemeClr>
          </a:solidFill>
        </p:spPr>
        <p:txBody>
          <a:bodyPr wrap="square">
            <a:spAutoFit/>
          </a:bodyPr>
          <a:lstStyle/>
          <a:p>
            <a:pPr algn="r" rtl="1">
              <a:lnSpc>
                <a:spcPct val="107000"/>
              </a:lnSpc>
              <a:spcAft>
                <a:spcPts val="800"/>
              </a:spcAft>
            </a:pPr>
            <a:r>
              <a:rPr lang="en-US" sz="4000" b="1" dirty="0">
                <a:solidFill>
                  <a:srgbClr val="FF0000"/>
                </a:solidFill>
                <a:latin typeface="Calibri" panose="020F0502020204030204" pitchFamily="34" charset="0"/>
                <a:ea typeface="Calibri" panose="020F0502020204030204" pitchFamily="34" charset="0"/>
                <a:cs typeface="Arial" panose="020B0604020202020204" pitchFamily="34" charset="0"/>
              </a:rPr>
              <a:t>ITIL</a:t>
            </a:r>
            <a:r>
              <a:rPr lang="en-US" sz="4000" b="1" dirty="0">
                <a:latin typeface="Calibri" panose="020F0502020204030204" pitchFamily="34" charset="0"/>
                <a:ea typeface="Calibri" panose="020F0502020204030204" pitchFamily="34" charset="0"/>
                <a:cs typeface="Arial" panose="020B0604020202020204" pitchFamily="34" charset="0"/>
              </a:rPr>
              <a:t> (Information Technology Infrastructure Library)</a:t>
            </a:r>
          </a:p>
          <a:p>
            <a:pPr lvl="1" algn="r" rtl="1">
              <a:lnSpc>
                <a:spcPct val="107000"/>
              </a:lnSpc>
              <a:spcAft>
                <a:spcPts val="800"/>
              </a:spcAft>
            </a:pPr>
            <a:r>
              <a:rPr lang="en-US" sz="4000" b="1" dirty="0">
                <a:latin typeface="Calibri" panose="020F0502020204030204" pitchFamily="34" charset="0"/>
                <a:ea typeface="Calibri" panose="020F0502020204030204" pitchFamily="34" charset="0"/>
                <a:cs typeface="Arial" panose="020B0604020202020204" pitchFamily="34" charset="0"/>
              </a:rPr>
              <a:t>ITIL</a:t>
            </a:r>
            <a:r>
              <a:rPr lang="en-US" sz="2800" b="1" dirty="0">
                <a:latin typeface="Calibri" panose="020F0502020204030204" pitchFamily="34" charset="0"/>
                <a:ea typeface="Calibri" panose="020F0502020204030204" pitchFamily="34" charset="0"/>
                <a:cs typeface="Arial" panose="020B0604020202020204" pitchFamily="34" charset="0"/>
              </a:rPr>
              <a:t> </a:t>
            </a:r>
            <a:r>
              <a:rPr lang="ar-SA" sz="2800" b="1" dirty="0">
                <a:latin typeface="Calibri" panose="020F0502020204030204" pitchFamily="34" charset="0"/>
                <a:ea typeface="Calibri" panose="020F0502020204030204" pitchFamily="34" charset="0"/>
                <a:cs typeface="Arial" panose="020B0604020202020204" pitchFamily="34" charset="0"/>
              </a:rPr>
              <a:t>هو إطار يركز على إدارة خدمات تكنولوجيا المعلومات. يهدف إلى تحسين كفاءة وفعالية خدمات تكنولوجيا المعلومات من خلال مجموعة من أفضل الممارسات. يشمل</a:t>
            </a:r>
            <a:r>
              <a:rPr lang="en-US" sz="2800" b="1" dirty="0">
                <a:latin typeface="Calibri" panose="020F0502020204030204" pitchFamily="34" charset="0"/>
                <a:ea typeface="Calibri" panose="020F0502020204030204" pitchFamily="34" charset="0"/>
                <a:cs typeface="Arial" panose="020B0604020202020204" pitchFamily="34" charset="0"/>
              </a:rPr>
              <a:t> ITIL </a:t>
            </a:r>
            <a:r>
              <a:rPr lang="ar-SA" sz="2800" b="1" dirty="0">
                <a:latin typeface="Calibri" panose="020F0502020204030204" pitchFamily="34" charset="0"/>
                <a:ea typeface="Calibri" panose="020F0502020204030204" pitchFamily="34" charset="0"/>
                <a:cs typeface="Arial" panose="020B0604020202020204" pitchFamily="34" charset="0"/>
              </a:rPr>
              <a:t>خمسة مراحل رئيسية</a:t>
            </a:r>
            <a:r>
              <a:rPr lang="en-US" sz="2800" b="1" dirty="0">
                <a:latin typeface="Calibri" panose="020F0502020204030204" pitchFamily="34" charset="0"/>
                <a:ea typeface="Calibri" panose="020F0502020204030204" pitchFamily="34" charset="0"/>
                <a:cs typeface="Arial" panose="020B0604020202020204" pitchFamily="34" charset="0"/>
              </a:rPr>
              <a:t>:</a:t>
            </a:r>
          </a:p>
          <a:p>
            <a:pPr marL="800100" lvl="1" indent="-342900" algn="r" rtl="1">
              <a:lnSpc>
                <a:spcPct val="107000"/>
              </a:lnSpc>
              <a:spcAft>
                <a:spcPts val="800"/>
              </a:spcAft>
              <a:buSzPts val="1000"/>
              <a:buFont typeface="Symbol" panose="05050102010706020507" pitchFamily="18" charset="2"/>
              <a:buChar char=""/>
              <a:tabLst>
                <a:tab pos="457200" algn="l"/>
              </a:tabLst>
            </a:pPr>
            <a:r>
              <a:rPr lang="ar-SA" sz="2800" b="1" dirty="0">
                <a:latin typeface="Calibri" panose="020F0502020204030204" pitchFamily="34" charset="0"/>
                <a:ea typeface="Calibri" panose="020F0502020204030204" pitchFamily="34" charset="0"/>
                <a:cs typeface="Arial" panose="020B0604020202020204" pitchFamily="34" charset="0"/>
              </a:rPr>
              <a:t>استراتيجية الخدمة</a:t>
            </a:r>
            <a:r>
              <a:rPr lang="en-US" sz="2800" b="1" dirty="0">
                <a:latin typeface="Calibri" panose="020F0502020204030204" pitchFamily="34" charset="0"/>
                <a:ea typeface="Calibri" panose="020F0502020204030204" pitchFamily="34" charset="0"/>
                <a:cs typeface="Arial" panose="020B0604020202020204" pitchFamily="34" charset="0"/>
              </a:rPr>
              <a:t>: </a:t>
            </a:r>
            <a:r>
              <a:rPr lang="ar-SA" sz="2800" b="1" dirty="0">
                <a:latin typeface="Calibri" panose="020F0502020204030204" pitchFamily="34" charset="0"/>
                <a:ea typeface="Calibri" panose="020F0502020204030204" pitchFamily="34" charset="0"/>
                <a:cs typeface="Arial" panose="020B0604020202020204" pitchFamily="34" charset="0"/>
              </a:rPr>
              <a:t>تحديد استراتيجية تقديم خدمات تكنولوجيا المعلومات</a:t>
            </a:r>
            <a:r>
              <a:rPr lang="en-US" sz="2800" b="1" dirty="0">
                <a:latin typeface="Calibri" panose="020F0502020204030204" pitchFamily="34" charset="0"/>
                <a:ea typeface="Calibri" panose="020F0502020204030204" pitchFamily="34" charset="0"/>
                <a:cs typeface="Arial" panose="020B0604020202020204" pitchFamily="34" charset="0"/>
              </a:rPr>
              <a:t>.</a:t>
            </a:r>
          </a:p>
          <a:p>
            <a:pPr marL="800100" lvl="1" indent="-342900" algn="r" rtl="1">
              <a:lnSpc>
                <a:spcPct val="107000"/>
              </a:lnSpc>
              <a:spcAft>
                <a:spcPts val="800"/>
              </a:spcAft>
              <a:buSzPts val="1000"/>
              <a:buFont typeface="Symbol" panose="05050102010706020507" pitchFamily="18" charset="2"/>
              <a:buChar char=""/>
              <a:tabLst>
                <a:tab pos="457200" algn="l"/>
              </a:tabLst>
            </a:pPr>
            <a:r>
              <a:rPr lang="ar-SA" sz="2800" b="1" dirty="0">
                <a:latin typeface="Calibri" panose="020F0502020204030204" pitchFamily="34" charset="0"/>
                <a:ea typeface="Calibri" panose="020F0502020204030204" pitchFamily="34" charset="0"/>
                <a:cs typeface="Arial" panose="020B0604020202020204" pitchFamily="34" charset="0"/>
              </a:rPr>
              <a:t>تصميم الخدمة</a:t>
            </a:r>
            <a:r>
              <a:rPr lang="en-US" sz="2800" b="1" dirty="0">
                <a:latin typeface="Calibri" panose="020F0502020204030204" pitchFamily="34" charset="0"/>
                <a:ea typeface="Calibri" panose="020F0502020204030204" pitchFamily="34" charset="0"/>
                <a:cs typeface="Arial" panose="020B0604020202020204" pitchFamily="34" charset="0"/>
              </a:rPr>
              <a:t>: </a:t>
            </a:r>
            <a:r>
              <a:rPr lang="ar-SA" sz="2800" b="1" dirty="0">
                <a:latin typeface="Calibri" panose="020F0502020204030204" pitchFamily="34" charset="0"/>
                <a:ea typeface="Calibri" panose="020F0502020204030204" pitchFamily="34" charset="0"/>
                <a:cs typeface="Arial" panose="020B0604020202020204" pitchFamily="34" charset="0"/>
              </a:rPr>
              <a:t>تصميم الخدمات لتلبية احتياجات العملاء</a:t>
            </a:r>
            <a:r>
              <a:rPr lang="en-US" sz="2800" b="1" dirty="0">
                <a:latin typeface="Calibri" panose="020F0502020204030204" pitchFamily="34" charset="0"/>
                <a:ea typeface="Calibri" panose="020F0502020204030204" pitchFamily="34" charset="0"/>
                <a:cs typeface="Arial" panose="020B0604020202020204" pitchFamily="34" charset="0"/>
              </a:rPr>
              <a:t>.</a:t>
            </a:r>
          </a:p>
          <a:p>
            <a:pPr marL="800100" lvl="1" indent="-342900" algn="r" rtl="1">
              <a:lnSpc>
                <a:spcPct val="107000"/>
              </a:lnSpc>
              <a:spcAft>
                <a:spcPts val="800"/>
              </a:spcAft>
              <a:buSzPts val="1000"/>
              <a:buFont typeface="Symbol" panose="05050102010706020507" pitchFamily="18" charset="2"/>
              <a:buChar char=""/>
              <a:tabLst>
                <a:tab pos="457200" algn="l"/>
              </a:tabLst>
            </a:pPr>
            <a:r>
              <a:rPr lang="ar-SA" sz="2800" b="1" dirty="0">
                <a:latin typeface="Calibri" panose="020F0502020204030204" pitchFamily="34" charset="0"/>
                <a:ea typeface="Calibri" panose="020F0502020204030204" pitchFamily="34" charset="0"/>
                <a:cs typeface="Arial" panose="020B0604020202020204" pitchFamily="34" charset="0"/>
              </a:rPr>
              <a:t>انتقال الخدمة</a:t>
            </a:r>
            <a:r>
              <a:rPr lang="en-US" sz="2800" b="1" dirty="0">
                <a:latin typeface="Calibri" panose="020F0502020204030204" pitchFamily="34" charset="0"/>
                <a:ea typeface="Calibri" panose="020F0502020204030204" pitchFamily="34" charset="0"/>
                <a:cs typeface="Arial" panose="020B0604020202020204" pitchFamily="34" charset="0"/>
              </a:rPr>
              <a:t>: </a:t>
            </a:r>
            <a:r>
              <a:rPr lang="ar-SA" sz="2800" b="1" dirty="0">
                <a:latin typeface="Calibri" panose="020F0502020204030204" pitchFamily="34" charset="0"/>
                <a:ea typeface="Calibri" panose="020F0502020204030204" pitchFamily="34" charset="0"/>
                <a:cs typeface="Arial" panose="020B0604020202020204" pitchFamily="34" charset="0"/>
              </a:rPr>
              <a:t>إدارة التغييرات في الخدمات</a:t>
            </a:r>
            <a:r>
              <a:rPr lang="en-US" sz="2800" b="1" dirty="0">
                <a:latin typeface="Calibri" panose="020F0502020204030204" pitchFamily="34" charset="0"/>
                <a:ea typeface="Calibri" panose="020F0502020204030204" pitchFamily="34" charset="0"/>
                <a:cs typeface="Arial" panose="020B0604020202020204" pitchFamily="34" charset="0"/>
              </a:rPr>
              <a:t>.</a:t>
            </a:r>
          </a:p>
          <a:p>
            <a:pPr marL="800100" lvl="1" indent="-342900" algn="r" rtl="1">
              <a:lnSpc>
                <a:spcPct val="107000"/>
              </a:lnSpc>
              <a:spcAft>
                <a:spcPts val="800"/>
              </a:spcAft>
              <a:buSzPts val="1000"/>
              <a:buFont typeface="Symbol" panose="05050102010706020507" pitchFamily="18" charset="2"/>
              <a:buChar char=""/>
              <a:tabLst>
                <a:tab pos="457200" algn="l"/>
              </a:tabLst>
            </a:pPr>
            <a:r>
              <a:rPr lang="ar-SA" sz="2800" b="1" dirty="0">
                <a:latin typeface="Calibri" panose="020F0502020204030204" pitchFamily="34" charset="0"/>
                <a:ea typeface="Calibri" panose="020F0502020204030204" pitchFamily="34" charset="0"/>
                <a:cs typeface="Arial" panose="020B0604020202020204" pitchFamily="34" charset="0"/>
              </a:rPr>
              <a:t>تشغيل الخدمة</a:t>
            </a:r>
            <a:r>
              <a:rPr lang="en-US" sz="2800" b="1" dirty="0">
                <a:latin typeface="Calibri" panose="020F0502020204030204" pitchFamily="34" charset="0"/>
                <a:ea typeface="Calibri" panose="020F0502020204030204" pitchFamily="34" charset="0"/>
                <a:cs typeface="Arial" panose="020B0604020202020204" pitchFamily="34" charset="0"/>
              </a:rPr>
              <a:t>: </a:t>
            </a:r>
            <a:r>
              <a:rPr lang="ar-SA" sz="2800" b="1" dirty="0">
                <a:latin typeface="Calibri" panose="020F0502020204030204" pitchFamily="34" charset="0"/>
                <a:ea typeface="Calibri" panose="020F0502020204030204" pitchFamily="34" charset="0"/>
                <a:cs typeface="Arial" panose="020B0604020202020204" pitchFamily="34" charset="0"/>
              </a:rPr>
              <a:t>إدارة العمليات اليومية لتقديم الخدمات</a:t>
            </a:r>
            <a:r>
              <a:rPr lang="en-US" sz="2800" b="1" dirty="0">
                <a:latin typeface="Calibri" panose="020F0502020204030204" pitchFamily="34" charset="0"/>
                <a:ea typeface="Calibri" panose="020F0502020204030204" pitchFamily="34" charset="0"/>
                <a:cs typeface="Arial" panose="020B0604020202020204" pitchFamily="34" charset="0"/>
              </a:rPr>
              <a:t>.</a:t>
            </a:r>
          </a:p>
          <a:p>
            <a:pPr marL="800100" lvl="1" indent="-342900" algn="r" rtl="1">
              <a:lnSpc>
                <a:spcPct val="107000"/>
              </a:lnSpc>
              <a:spcAft>
                <a:spcPts val="800"/>
              </a:spcAft>
              <a:buSzPts val="1000"/>
              <a:buFont typeface="Symbol" panose="05050102010706020507" pitchFamily="18" charset="2"/>
              <a:buChar char=""/>
              <a:tabLst>
                <a:tab pos="457200" algn="l"/>
              </a:tabLst>
            </a:pPr>
            <a:r>
              <a:rPr lang="ar-SA" sz="2800" b="1" dirty="0">
                <a:latin typeface="Calibri" panose="020F0502020204030204" pitchFamily="34" charset="0"/>
                <a:ea typeface="Calibri" panose="020F0502020204030204" pitchFamily="34" charset="0"/>
                <a:cs typeface="Arial" panose="020B0604020202020204" pitchFamily="34" charset="0"/>
              </a:rPr>
              <a:t>تحسين الخدمة المستمر</a:t>
            </a:r>
            <a:r>
              <a:rPr lang="en-US" sz="2800" b="1" dirty="0">
                <a:latin typeface="Calibri" panose="020F0502020204030204" pitchFamily="34" charset="0"/>
                <a:ea typeface="Calibri" panose="020F0502020204030204" pitchFamily="34" charset="0"/>
                <a:cs typeface="Arial" panose="020B0604020202020204" pitchFamily="34" charset="0"/>
              </a:rPr>
              <a:t>: </a:t>
            </a:r>
            <a:r>
              <a:rPr lang="ar-SA" sz="2800" b="1" dirty="0">
                <a:latin typeface="Calibri" panose="020F0502020204030204" pitchFamily="34" charset="0"/>
                <a:ea typeface="Calibri" panose="020F0502020204030204" pitchFamily="34" charset="0"/>
                <a:cs typeface="Arial" panose="020B0604020202020204" pitchFamily="34" charset="0"/>
              </a:rPr>
              <a:t>تحسين الخدمات بشكل مستمر</a:t>
            </a:r>
            <a:r>
              <a:rPr lang="en-US" sz="1200" kern="100" dirty="0">
                <a:effectLst/>
                <a:latin typeface="Calibri" panose="020F0502020204030204" pitchFamily="34" charset="0"/>
                <a:ea typeface="Calibri" panose="020F0502020204030204" pitchFamily="34" charset="0"/>
                <a:cs typeface="Arial" panose="020B0604020202020204" pitchFamily="34" charset="0"/>
              </a:rPr>
              <a:t>.</a:t>
            </a:r>
          </a:p>
        </p:txBody>
      </p:sp>
      <p:sp>
        <p:nvSpPr>
          <p:cNvPr id="53" name="자유형: 도형 24">
            <a:extLst>
              <a:ext uri="{FF2B5EF4-FFF2-40B4-BE49-F238E27FC236}">
                <a16:creationId xmlns:a16="http://schemas.microsoft.com/office/drawing/2014/main" id="{DF4905FC-0319-E24B-9064-DD4144AA28A3}"/>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CC53A8CC-830A-4E01-500C-09B933D05B97}"/>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أطر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حوكمة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29651244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FA27C-0F52-8BF8-2E07-53E984C50896}"/>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DE75ECCB-7E1E-845B-D7F1-FDE98F8AB8A9}"/>
              </a:ext>
            </a:extLst>
          </p:cNvPr>
          <p:cNvSpPr txBox="1"/>
          <p:nvPr/>
        </p:nvSpPr>
        <p:spPr>
          <a:xfrm>
            <a:off x="298170" y="95876"/>
            <a:ext cx="9780108" cy="6708503"/>
          </a:xfrm>
          <a:prstGeom prst="rect">
            <a:avLst/>
          </a:prstGeom>
          <a:solidFill>
            <a:schemeClr val="accent3">
              <a:lumMod val="60000"/>
              <a:lumOff val="40000"/>
            </a:schemeClr>
          </a:solidFill>
        </p:spPr>
        <p:txBody>
          <a:bodyPr wrap="square">
            <a:spAutoFit/>
          </a:bodyPr>
          <a:lstStyle/>
          <a:p>
            <a:pPr algn="r" rtl="1">
              <a:lnSpc>
                <a:spcPct val="107000"/>
              </a:lnSpc>
              <a:spcAft>
                <a:spcPts val="800"/>
              </a:spcAft>
            </a:pPr>
            <a:r>
              <a:rPr lang="en-US" sz="3600" b="1" kern="100" dirty="0">
                <a:effectLst/>
                <a:latin typeface="Calibri" panose="020F0502020204030204" pitchFamily="34" charset="0"/>
                <a:ea typeface="Calibri" panose="020F0502020204030204" pitchFamily="34" charset="0"/>
                <a:cs typeface="Arial" panose="020B0604020202020204" pitchFamily="34" charset="0"/>
              </a:rPr>
              <a:t> </a:t>
            </a:r>
            <a:endParaRPr lang="en-US" sz="3600" kern="1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7000"/>
              </a:lnSpc>
              <a:spcAft>
                <a:spcPts val="800"/>
              </a:spcAft>
            </a:pPr>
            <a:r>
              <a:rPr lang="en-US" sz="3600" b="1" kern="100" dirty="0">
                <a:effectLst/>
                <a:latin typeface="Calibri" panose="020F0502020204030204" pitchFamily="34" charset="0"/>
                <a:ea typeface="Calibri" panose="020F0502020204030204" pitchFamily="34" charset="0"/>
                <a:cs typeface="Arial" panose="020B0604020202020204" pitchFamily="34" charset="0"/>
              </a:rPr>
              <a:t>ISO/IEC 38500</a:t>
            </a:r>
            <a:r>
              <a:rPr lang="en-US" sz="3600" kern="100" dirty="0">
                <a:effectLst/>
                <a:latin typeface="Calibri" panose="020F0502020204030204" pitchFamily="34" charset="0"/>
                <a:ea typeface="Calibri" panose="020F0502020204030204" pitchFamily="34" charset="0"/>
                <a:cs typeface="Arial" panose="020B0604020202020204" pitchFamily="34" charset="0"/>
              </a:rPr>
              <a:t> </a:t>
            </a:r>
            <a:r>
              <a:rPr lang="ar-SA" sz="3600" kern="100" dirty="0">
                <a:effectLst/>
                <a:latin typeface="Calibri" panose="020F0502020204030204" pitchFamily="34" charset="0"/>
                <a:ea typeface="Calibri" panose="020F0502020204030204" pitchFamily="34" charset="0"/>
                <a:cs typeface="Arial" panose="020B0604020202020204" pitchFamily="34" charset="0"/>
              </a:rPr>
              <a:t>هو معيار دولي يوفر مبادئ توجيهية لحوكمة تكنولوجيا المعلومات. يركز على ستة مبادئ رئيسية</a:t>
            </a:r>
            <a:r>
              <a:rPr lang="en-US" sz="3600" kern="100" dirty="0">
                <a:effectLst/>
                <a:latin typeface="Calibri" panose="020F0502020204030204" pitchFamily="34" charset="0"/>
                <a:ea typeface="Calibri" panose="020F0502020204030204" pitchFamily="34" charset="0"/>
                <a:cs typeface="Arial" panose="020B0604020202020204" pitchFamily="34" charset="0"/>
              </a:rPr>
              <a:t>:</a:t>
            </a:r>
          </a:p>
          <a:p>
            <a:pPr marL="342900" lvl="0" indent="-342900" algn="r" rtl="1">
              <a:lnSpc>
                <a:spcPct val="107000"/>
              </a:lnSpc>
              <a:spcAft>
                <a:spcPts val="800"/>
              </a:spcAft>
              <a:buSzPts val="1000"/>
              <a:buFont typeface="Symbol" panose="05050102010706020507" pitchFamily="18" charset="2"/>
              <a:buChar char=""/>
              <a:tabLst>
                <a:tab pos="457200" algn="l"/>
              </a:tabLst>
            </a:pPr>
            <a:r>
              <a:rPr lang="ar-SA" sz="3600" b="1" kern="100" dirty="0">
                <a:effectLst/>
                <a:latin typeface="Calibri" panose="020F0502020204030204" pitchFamily="34" charset="0"/>
                <a:ea typeface="Calibri" panose="020F0502020204030204" pitchFamily="34" charset="0"/>
                <a:cs typeface="Arial" panose="020B0604020202020204" pitchFamily="34" charset="0"/>
              </a:rPr>
              <a:t>المسؤولية</a:t>
            </a:r>
            <a:r>
              <a:rPr lang="en-US" sz="3600" kern="100" dirty="0">
                <a:effectLst/>
                <a:latin typeface="Calibri" panose="020F0502020204030204" pitchFamily="34" charset="0"/>
                <a:ea typeface="Calibri" panose="020F0502020204030204" pitchFamily="34" charset="0"/>
                <a:cs typeface="Arial" panose="020B0604020202020204" pitchFamily="34" charset="0"/>
              </a:rPr>
              <a:t>: </a:t>
            </a:r>
            <a:r>
              <a:rPr lang="ar-SA" sz="3600" kern="100" dirty="0">
                <a:effectLst/>
                <a:latin typeface="Calibri" panose="020F0502020204030204" pitchFamily="34" charset="0"/>
                <a:ea typeface="Calibri" panose="020F0502020204030204" pitchFamily="34" charset="0"/>
                <a:cs typeface="Arial" panose="020B0604020202020204" pitchFamily="34" charset="0"/>
              </a:rPr>
              <a:t>تحديد المسؤوليات بوضوح</a:t>
            </a:r>
            <a:r>
              <a:rPr lang="en-US" sz="3600" kern="100" dirty="0">
                <a:effectLst/>
                <a:latin typeface="Calibri" panose="020F0502020204030204" pitchFamily="34" charset="0"/>
                <a:ea typeface="Calibri" panose="020F0502020204030204" pitchFamily="34" charset="0"/>
                <a:cs typeface="Arial" panose="020B0604020202020204" pitchFamily="34" charset="0"/>
              </a:rPr>
              <a:t>.</a:t>
            </a:r>
          </a:p>
          <a:p>
            <a:pPr marL="342900" lvl="0" indent="-342900" algn="r" rtl="1">
              <a:lnSpc>
                <a:spcPct val="107000"/>
              </a:lnSpc>
              <a:spcAft>
                <a:spcPts val="800"/>
              </a:spcAft>
              <a:buSzPts val="1000"/>
              <a:buFont typeface="Symbol" panose="05050102010706020507" pitchFamily="18" charset="2"/>
              <a:buChar char=""/>
              <a:tabLst>
                <a:tab pos="457200" algn="l"/>
              </a:tabLst>
            </a:pPr>
            <a:r>
              <a:rPr lang="ar-SA" sz="3600" b="1" kern="100" dirty="0">
                <a:effectLst/>
                <a:latin typeface="Calibri" panose="020F0502020204030204" pitchFamily="34" charset="0"/>
                <a:ea typeface="Calibri" panose="020F0502020204030204" pitchFamily="34" charset="0"/>
                <a:cs typeface="Arial" panose="020B0604020202020204" pitchFamily="34" charset="0"/>
              </a:rPr>
              <a:t>الاستراتيجية</a:t>
            </a:r>
            <a:r>
              <a:rPr lang="en-US" sz="3600" kern="100" dirty="0">
                <a:effectLst/>
                <a:latin typeface="Calibri" panose="020F0502020204030204" pitchFamily="34" charset="0"/>
                <a:ea typeface="Calibri" panose="020F0502020204030204" pitchFamily="34" charset="0"/>
                <a:cs typeface="Arial" panose="020B0604020202020204" pitchFamily="34" charset="0"/>
              </a:rPr>
              <a:t>: </a:t>
            </a:r>
            <a:r>
              <a:rPr lang="ar-SA" sz="3600" kern="100" dirty="0">
                <a:effectLst/>
                <a:latin typeface="Calibri" panose="020F0502020204030204" pitchFamily="34" charset="0"/>
                <a:ea typeface="Calibri" panose="020F0502020204030204" pitchFamily="34" charset="0"/>
                <a:cs typeface="Arial" panose="020B0604020202020204" pitchFamily="34" charset="0"/>
              </a:rPr>
              <a:t>مواءمة تكنولوجيا المعلومات مع استراتيجية العمل</a:t>
            </a:r>
            <a:r>
              <a:rPr lang="en-US" sz="3600" kern="100" dirty="0">
                <a:effectLst/>
                <a:latin typeface="Calibri" panose="020F0502020204030204" pitchFamily="34" charset="0"/>
                <a:ea typeface="Calibri" panose="020F0502020204030204" pitchFamily="34" charset="0"/>
                <a:cs typeface="Arial" panose="020B0604020202020204" pitchFamily="34" charset="0"/>
              </a:rPr>
              <a:t>.</a:t>
            </a:r>
          </a:p>
          <a:p>
            <a:pPr marL="342900" lvl="0" indent="-342900" algn="r" rtl="1">
              <a:lnSpc>
                <a:spcPct val="107000"/>
              </a:lnSpc>
              <a:spcAft>
                <a:spcPts val="800"/>
              </a:spcAft>
              <a:buSzPts val="1000"/>
              <a:buFont typeface="Symbol" panose="05050102010706020507" pitchFamily="18" charset="2"/>
              <a:buChar char=""/>
              <a:tabLst>
                <a:tab pos="457200" algn="l"/>
              </a:tabLst>
            </a:pPr>
            <a:r>
              <a:rPr lang="ar-SA" sz="3600" b="1" kern="100" dirty="0">
                <a:effectLst/>
                <a:latin typeface="Calibri" panose="020F0502020204030204" pitchFamily="34" charset="0"/>
                <a:ea typeface="Calibri" panose="020F0502020204030204" pitchFamily="34" charset="0"/>
                <a:cs typeface="Arial" panose="020B0604020202020204" pitchFamily="34" charset="0"/>
              </a:rPr>
              <a:t>الاستحواذ</a:t>
            </a:r>
            <a:r>
              <a:rPr lang="en-US" sz="3600" kern="100" dirty="0">
                <a:effectLst/>
                <a:latin typeface="Calibri" panose="020F0502020204030204" pitchFamily="34" charset="0"/>
                <a:ea typeface="Calibri" panose="020F0502020204030204" pitchFamily="34" charset="0"/>
                <a:cs typeface="Arial" panose="020B0604020202020204" pitchFamily="34" charset="0"/>
              </a:rPr>
              <a:t>: </a:t>
            </a:r>
            <a:r>
              <a:rPr lang="ar-SA" sz="3600" kern="100" dirty="0">
                <a:effectLst/>
                <a:latin typeface="Calibri" panose="020F0502020204030204" pitchFamily="34" charset="0"/>
                <a:ea typeface="Calibri" panose="020F0502020204030204" pitchFamily="34" charset="0"/>
                <a:cs typeface="Arial" panose="020B0604020202020204" pitchFamily="34" charset="0"/>
              </a:rPr>
              <a:t>إدارة استثمارات تكنولوجيا المعلومات بفعالية</a:t>
            </a:r>
            <a:r>
              <a:rPr lang="en-US" sz="3600" kern="100" dirty="0">
                <a:effectLst/>
                <a:latin typeface="Calibri" panose="020F0502020204030204" pitchFamily="34" charset="0"/>
                <a:ea typeface="Calibri" panose="020F0502020204030204" pitchFamily="34" charset="0"/>
                <a:cs typeface="Arial" panose="020B0604020202020204" pitchFamily="34" charset="0"/>
              </a:rPr>
              <a:t>.</a:t>
            </a:r>
          </a:p>
          <a:p>
            <a:pPr marL="342900" lvl="0" indent="-342900" algn="r" rtl="1">
              <a:lnSpc>
                <a:spcPct val="107000"/>
              </a:lnSpc>
              <a:spcAft>
                <a:spcPts val="800"/>
              </a:spcAft>
              <a:buSzPts val="1000"/>
              <a:buFont typeface="Symbol" panose="05050102010706020507" pitchFamily="18" charset="2"/>
              <a:buChar char=""/>
              <a:tabLst>
                <a:tab pos="457200" algn="l"/>
              </a:tabLst>
            </a:pPr>
            <a:r>
              <a:rPr lang="ar-SA" sz="3600" b="1" kern="100" dirty="0">
                <a:effectLst/>
                <a:latin typeface="Calibri" panose="020F0502020204030204" pitchFamily="34" charset="0"/>
                <a:ea typeface="Calibri" panose="020F0502020204030204" pitchFamily="34" charset="0"/>
                <a:cs typeface="Arial" panose="020B0604020202020204" pitchFamily="34" charset="0"/>
              </a:rPr>
              <a:t>الأداء</a:t>
            </a:r>
            <a:r>
              <a:rPr lang="en-US" sz="3600" kern="100" dirty="0">
                <a:effectLst/>
                <a:latin typeface="Calibri" panose="020F0502020204030204" pitchFamily="34" charset="0"/>
                <a:ea typeface="Calibri" panose="020F0502020204030204" pitchFamily="34" charset="0"/>
                <a:cs typeface="Arial" panose="020B0604020202020204" pitchFamily="34" charset="0"/>
              </a:rPr>
              <a:t>: </a:t>
            </a:r>
            <a:r>
              <a:rPr lang="ar-SA" sz="3600" kern="100" dirty="0">
                <a:effectLst/>
                <a:latin typeface="Calibri" panose="020F0502020204030204" pitchFamily="34" charset="0"/>
                <a:ea typeface="Calibri" panose="020F0502020204030204" pitchFamily="34" charset="0"/>
                <a:cs typeface="Arial" panose="020B0604020202020204" pitchFamily="34" charset="0"/>
              </a:rPr>
              <a:t>مراقبة وقياس أداء تكنولوجيا المعلومات</a:t>
            </a:r>
            <a:r>
              <a:rPr lang="en-US" sz="3600" kern="100" dirty="0">
                <a:effectLst/>
                <a:latin typeface="Calibri" panose="020F0502020204030204" pitchFamily="34" charset="0"/>
                <a:ea typeface="Calibri" panose="020F0502020204030204" pitchFamily="34" charset="0"/>
                <a:cs typeface="Arial" panose="020B0604020202020204" pitchFamily="34" charset="0"/>
              </a:rPr>
              <a:t>.</a:t>
            </a:r>
          </a:p>
          <a:p>
            <a:pPr marL="342900" lvl="0" indent="-342900" algn="r" rtl="1">
              <a:lnSpc>
                <a:spcPct val="107000"/>
              </a:lnSpc>
              <a:spcAft>
                <a:spcPts val="800"/>
              </a:spcAft>
              <a:buSzPts val="1000"/>
              <a:buFont typeface="Symbol" panose="05050102010706020507" pitchFamily="18" charset="2"/>
              <a:buChar char=""/>
              <a:tabLst>
                <a:tab pos="457200" algn="l"/>
              </a:tabLst>
            </a:pPr>
            <a:r>
              <a:rPr lang="ar-SA" sz="3600" b="1" kern="100" dirty="0">
                <a:effectLst/>
                <a:latin typeface="Calibri" panose="020F0502020204030204" pitchFamily="34" charset="0"/>
                <a:ea typeface="Calibri" panose="020F0502020204030204" pitchFamily="34" charset="0"/>
                <a:cs typeface="Arial" panose="020B0604020202020204" pitchFamily="34" charset="0"/>
              </a:rPr>
              <a:t>التوافق</a:t>
            </a:r>
            <a:r>
              <a:rPr lang="en-US" sz="3600" kern="100" dirty="0">
                <a:effectLst/>
                <a:latin typeface="Calibri" panose="020F0502020204030204" pitchFamily="34" charset="0"/>
                <a:ea typeface="Calibri" panose="020F0502020204030204" pitchFamily="34" charset="0"/>
                <a:cs typeface="Arial" panose="020B0604020202020204" pitchFamily="34" charset="0"/>
              </a:rPr>
              <a:t>: </a:t>
            </a:r>
            <a:r>
              <a:rPr lang="ar-SA" sz="3600" kern="100" dirty="0">
                <a:effectLst/>
                <a:latin typeface="Calibri" panose="020F0502020204030204" pitchFamily="34" charset="0"/>
                <a:ea typeface="Calibri" panose="020F0502020204030204" pitchFamily="34" charset="0"/>
                <a:cs typeface="Arial" panose="020B0604020202020204" pitchFamily="34" charset="0"/>
              </a:rPr>
              <a:t>ضمان الامتثال للقوانين واللوائح</a:t>
            </a:r>
            <a:r>
              <a:rPr lang="en-US" sz="3600" kern="100" dirty="0">
                <a:effectLst/>
                <a:latin typeface="Calibri" panose="020F0502020204030204" pitchFamily="34" charset="0"/>
                <a:ea typeface="Calibri" panose="020F0502020204030204" pitchFamily="34" charset="0"/>
                <a:cs typeface="Arial" panose="020B0604020202020204" pitchFamily="34" charset="0"/>
              </a:rPr>
              <a:t>.</a:t>
            </a:r>
          </a:p>
          <a:p>
            <a:pPr marL="342900" lvl="0" indent="-342900" algn="r" rtl="1">
              <a:lnSpc>
                <a:spcPct val="107000"/>
              </a:lnSpc>
              <a:spcAft>
                <a:spcPts val="800"/>
              </a:spcAft>
              <a:buSzPts val="1000"/>
              <a:buFont typeface="Symbol" panose="05050102010706020507" pitchFamily="18" charset="2"/>
              <a:buChar char=""/>
              <a:tabLst>
                <a:tab pos="457200" algn="l"/>
              </a:tabLst>
            </a:pPr>
            <a:r>
              <a:rPr lang="ar-SA" sz="3600" b="1" kern="100" dirty="0">
                <a:effectLst/>
                <a:latin typeface="Calibri" panose="020F0502020204030204" pitchFamily="34" charset="0"/>
                <a:ea typeface="Calibri" panose="020F0502020204030204" pitchFamily="34" charset="0"/>
                <a:cs typeface="Arial" panose="020B0604020202020204" pitchFamily="34" charset="0"/>
              </a:rPr>
              <a:t>السلوك البشري</a:t>
            </a:r>
            <a:r>
              <a:rPr lang="en-US" sz="3600" kern="100" dirty="0">
                <a:effectLst/>
                <a:latin typeface="Calibri" panose="020F0502020204030204" pitchFamily="34" charset="0"/>
                <a:ea typeface="Calibri" panose="020F0502020204030204" pitchFamily="34" charset="0"/>
                <a:cs typeface="Arial" panose="020B0604020202020204" pitchFamily="34" charset="0"/>
              </a:rPr>
              <a:t>: </a:t>
            </a:r>
            <a:r>
              <a:rPr lang="ar-SA" sz="3600" kern="100" dirty="0">
                <a:effectLst/>
                <a:latin typeface="Calibri" panose="020F0502020204030204" pitchFamily="34" charset="0"/>
                <a:ea typeface="Calibri" panose="020F0502020204030204" pitchFamily="34" charset="0"/>
                <a:cs typeface="Arial" panose="020B0604020202020204" pitchFamily="34" charset="0"/>
              </a:rPr>
              <a:t>مراعاة تأثير تكنولوجيا المعلومات على الأفراد</a:t>
            </a:r>
            <a:r>
              <a:rPr lang="en-US" sz="3600" kern="100" dirty="0">
                <a:effectLst/>
                <a:latin typeface="Calibri" panose="020F0502020204030204" pitchFamily="34" charset="0"/>
                <a:ea typeface="Calibri" panose="020F0502020204030204" pitchFamily="34" charset="0"/>
                <a:cs typeface="Arial" panose="020B0604020202020204" pitchFamily="34" charset="0"/>
              </a:rPr>
              <a:t>.</a:t>
            </a:r>
          </a:p>
        </p:txBody>
      </p:sp>
      <p:sp>
        <p:nvSpPr>
          <p:cNvPr id="2" name="자유형: 도형 24">
            <a:extLst>
              <a:ext uri="{FF2B5EF4-FFF2-40B4-BE49-F238E27FC236}">
                <a16:creationId xmlns:a16="http://schemas.microsoft.com/office/drawing/2014/main" id="{8078B8AE-F68B-FB93-EE20-1AD6613EDC03}"/>
              </a:ext>
            </a:extLst>
          </p:cNvPr>
          <p:cNvSpPr/>
          <p:nvPr/>
        </p:nvSpPr>
        <p:spPr>
          <a:xfrm>
            <a:off x="9304808" y="842186"/>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أطر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حوكمة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310515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4A051-4910-0395-F291-44F491A2B01B}"/>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83AFF5A7-5C4D-B2ED-1013-40CAF7C583D1}"/>
              </a:ext>
            </a:extLst>
          </p:cNvPr>
          <p:cNvSpPr txBox="1"/>
          <p:nvPr/>
        </p:nvSpPr>
        <p:spPr>
          <a:xfrm>
            <a:off x="48512" y="135633"/>
            <a:ext cx="9234638" cy="6580263"/>
          </a:xfrm>
          <a:prstGeom prst="rect">
            <a:avLst/>
          </a:prstGeom>
          <a:solidFill>
            <a:schemeClr val="accent3">
              <a:lumMod val="60000"/>
              <a:lumOff val="40000"/>
            </a:schemeClr>
          </a:solidFill>
        </p:spPr>
        <p:txBody>
          <a:bodyPr wrap="square">
            <a:spAutoFit/>
          </a:bodyPr>
          <a:lstStyle/>
          <a:p>
            <a:pPr marL="342900" lvl="0" indent="-342900" algn="r" rtl="1">
              <a:lnSpc>
                <a:spcPct val="107000"/>
              </a:lnSpc>
              <a:spcAft>
                <a:spcPts val="800"/>
              </a:spcAft>
              <a:buSzPts val="1000"/>
              <a:buFont typeface="Symbol" panose="05050102010706020507" pitchFamily="18" charset="2"/>
              <a:buChar char=""/>
              <a:tabLst>
                <a:tab pos="457200" algn="l"/>
              </a:tabLst>
            </a:pPr>
            <a:r>
              <a:rPr lang="en-US" sz="3200" kern="100" dirty="0">
                <a:effectLst/>
                <a:latin typeface="Calibri" panose="020F0502020204030204" pitchFamily="34" charset="0"/>
                <a:ea typeface="Calibri" panose="020F0502020204030204" pitchFamily="34" charset="0"/>
                <a:cs typeface="Arial" panose="020B0604020202020204" pitchFamily="34" charset="0"/>
              </a:rPr>
              <a:t> </a:t>
            </a:r>
          </a:p>
          <a:p>
            <a:pPr algn="r" rtl="1">
              <a:lnSpc>
                <a:spcPct val="107000"/>
              </a:lnSpc>
              <a:spcAft>
                <a:spcPts val="800"/>
              </a:spcAft>
            </a:pPr>
            <a:r>
              <a:rPr lang="en-US" sz="3200" b="1" kern="100" dirty="0">
                <a:effectLst/>
                <a:latin typeface="Calibri" panose="020F0502020204030204" pitchFamily="34" charset="0"/>
                <a:ea typeface="Calibri" panose="020F0502020204030204" pitchFamily="34" charset="0"/>
                <a:cs typeface="Arial" panose="020B0604020202020204" pitchFamily="34" charset="0"/>
              </a:rPr>
              <a:t>4. TOGAF (The Open Group Architecture Framework)</a:t>
            </a:r>
            <a:endParaRPr lang="en-US" sz="3200" kern="1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7000"/>
              </a:lnSpc>
              <a:spcAft>
                <a:spcPts val="800"/>
              </a:spcAft>
            </a:pPr>
            <a:r>
              <a:rPr lang="en-US" sz="3200" b="1" kern="100" dirty="0">
                <a:effectLst/>
                <a:latin typeface="Calibri" panose="020F0502020204030204" pitchFamily="34" charset="0"/>
                <a:ea typeface="Calibri" panose="020F0502020204030204" pitchFamily="34" charset="0"/>
                <a:cs typeface="Arial" panose="020B0604020202020204" pitchFamily="34" charset="0"/>
              </a:rPr>
              <a:t>TOGAF</a:t>
            </a:r>
            <a:r>
              <a:rPr lang="en-US" sz="3200" kern="100" dirty="0">
                <a:effectLst/>
                <a:latin typeface="Calibri" panose="020F0502020204030204" pitchFamily="34" charset="0"/>
                <a:ea typeface="Calibri" panose="020F0502020204030204" pitchFamily="34" charset="0"/>
                <a:cs typeface="Arial" panose="020B0604020202020204" pitchFamily="34" charset="0"/>
              </a:rPr>
              <a:t> </a:t>
            </a:r>
            <a:r>
              <a:rPr lang="ar-SA" sz="3200" kern="100" dirty="0">
                <a:effectLst/>
                <a:latin typeface="Calibri" panose="020F0502020204030204" pitchFamily="34" charset="0"/>
                <a:ea typeface="Calibri" panose="020F0502020204030204" pitchFamily="34" charset="0"/>
                <a:cs typeface="Arial" panose="020B0604020202020204" pitchFamily="34" charset="0"/>
              </a:rPr>
              <a:t>هو إطار لإدارة هندسة المؤسسات. يساعد المؤسسات على تصميم وتنفيذ بنية تكنولوجيا المعلومات التي تدعم أهداف العمل. يركز</a:t>
            </a:r>
            <a:r>
              <a:rPr lang="en-US" sz="3200" kern="100" dirty="0">
                <a:effectLst/>
                <a:latin typeface="Calibri" panose="020F0502020204030204" pitchFamily="34" charset="0"/>
                <a:ea typeface="Calibri" panose="020F0502020204030204" pitchFamily="34" charset="0"/>
                <a:cs typeface="Arial" panose="020B0604020202020204" pitchFamily="34" charset="0"/>
              </a:rPr>
              <a:t> TOGAF </a:t>
            </a:r>
            <a:r>
              <a:rPr lang="ar-SA" sz="3200" kern="100" dirty="0">
                <a:effectLst/>
                <a:latin typeface="Calibri" panose="020F0502020204030204" pitchFamily="34" charset="0"/>
                <a:ea typeface="Calibri" panose="020F0502020204030204" pitchFamily="34" charset="0"/>
                <a:cs typeface="Arial" panose="020B0604020202020204" pitchFamily="34" charset="0"/>
              </a:rPr>
              <a:t>على أربعة مجالات رئيسية</a:t>
            </a:r>
            <a:r>
              <a:rPr lang="en-US" sz="3200" kern="100" dirty="0">
                <a:effectLst/>
                <a:latin typeface="Calibri" panose="020F0502020204030204" pitchFamily="34" charset="0"/>
                <a:ea typeface="Calibri" panose="020F0502020204030204" pitchFamily="34" charset="0"/>
                <a:cs typeface="Arial" panose="020B0604020202020204" pitchFamily="34" charset="0"/>
              </a:rPr>
              <a:t>:</a:t>
            </a:r>
          </a:p>
          <a:p>
            <a:pPr marL="342900" lvl="0" indent="-342900" algn="r" rtl="1">
              <a:lnSpc>
                <a:spcPct val="107000"/>
              </a:lnSpc>
              <a:spcAft>
                <a:spcPts val="800"/>
              </a:spcAft>
              <a:buSzPts val="1000"/>
              <a:buFont typeface="Symbol" panose="05050102010706020507" pitchFamily="18" charset="2"/>
              <a:buChar char=""/>
              <a:tabLst>
                <a:tab pos="457200" algn="l"/>
              </a:tabLst>
            </a:pPr>
            <a:r>
              <a:rPr lang="ar-SA" sz="3200" b="1" kern="100" dirty="0">
                <a:effectLst/>
                <a:latin typeface="Calibri" panose="020F0502020204030204" pitchFamily="34" charset="0"/>
                <a:ea typeface="Calibri" panose="020F0502020204030204" pitchFamily="34" charset="0"/>
                <a:cs typeface="Arial" panose="020B0604020202020204" pitchFamily="34" charset="0"/>
              </a:rPr>
              <a:t>الهندسة التجارية</a:t>
            </a:r>
            <a:r>
              <a:rPr lang="en-US" sz="3200" kern="100" dirty="0">
                <a:effectLst/>
                <a:latin typeface="Calibri" panose="020F0502020204030204" pitchFamily="34" charset="0"/>
                <a:ea typeface="Calibri" panose="020F0502020204030204" pitchFamily="34" charset="0"/>
                <a:cs typeface="Arial" panose="020B0604020202020204" pitchFamily="34" charset="0"/>
              </a:rPr>
              <a:t>: </a:t>
            </a:r>
            <a:r>
              <a:rPr lang="ar-SA" sz="3200" kern="100" dirty="0">
                <a:effectLst/>
                <a:latin typeface="Calibri" panose="020F0502020204030204" pitchFamily="34" charset="0"/>
                <a:ea typeface="Calibri" panose="020F0502020204030204" pitchFamily="34" charset="0"/>
                <a:cs typeface="Arial" panose="020B0604020202020204" pitchFamily="34" charset="0"/>
              </a:rPr>
              <a:t>تصميم العمليات التجارية</a:t>
            </a:r>
            <a:r>
              <a:rPr lang="en-US" sz="3200" kern="100" dirty="0">
                <a:effectLst/>
                <a:latin typeface="Calibri" panose="020F0502020204030204" pitchFamily="34" charset="0"/>
                <a:ea typeface="Calibri" panose="020F0502020204030204" pitchFamily="34" charset="0"/>
                <a:cs typeface="Arial" panose="020B0604020202020204" pitchFamily="34" charset="0"/>
              </a:rPr>
              <a:t>.</a:t>
            </a:r>
          </a:p>
          <a:p>
            <a:pPr marL="342900" lvl="0" indent="-342900" algn="r" rtl="1">
              <a:lnSpc>
                <a:spcPct val="107000"/>
              </a:lnSpc>
              <a:spcAft>
                <a:spcPts val="800"/>
              </a:spcAft>
              <a:buSzPts val="1000"/>
              <a:buFont typeface="Symbol" panose="05050102010706020507" pitchFamily="18" charset="2"/>
              <a:buChar char=""/>
              <a:tabLst>
                <a:tab pos="457200" algn="l"/>
              </a:tabLst>
            </a:pPr>
            <a:r>
              <a:rPr lang="ar-SA" sz="3200" b="1" kern="100" dirty="0">
                <a:effectLst/>
                <a:latin typeface="Calibri" panose="020F0502020204030204" pitchFamily="34" charset="0"/>
                <a:ea typeface="Calibri" panose="020F0502020204030204" pitchFamily="34" charset="0"/>
                <a:cs typeface="Arial" panose="020B0604020202020204" pitchFamily="34" charset="0"/>
              </a:rPr>
              <a:t>الهندسة التطبيقية</a:t>
            </a:r>
            <a:r>
              <a:rPr lang="en-US" sz="3200" kern="100" dirty="0">
                <a:effectLst/>
                <a:latin typeface="Calibri" panose="020F0502020204030204" pitchFamily="34" charset="0"/>
                <a:ea typeface="Calibri" panose="020F0502020204030204" pitchFamily="34" charset="0"/>
                <a:cs typeface="Arial" panose="020B0604020202020204" pitchFamily="34" charset="0"/>
              </a:rPr>
              <a:t>: </a:t>
            </a:r>
            <a:r>
              <a:rPr lang="ar-SA" sz="3200" kern="100" dirty="0">
                <a:effectLst/>
                <a:latin typeface="Calibri" panose="020F0502020204030204" pitchFamily="34" charset="0"/>
                <a:ea typeface="Calibri" panose="020F0502020204030204" pitchFamily="34" charset="0"/>
                <a:cs typeface="Arial" panose="020B0604020202020204" pitchFamily="34" charset="0"/>
              </a:rPr>
              <a:t>تصميم التطبيقات التي تدعم العمليات التجارية</a:t>
            </a:r>
            <a:r>
              <a:rPr lang="en-US" sz="3200" kern="100" dirty="0">
                <a:effectLst/>
                <a:latin typeface="Calibri" panose="020F0502020204030204" pitchFamily="34" charset="0"/>
                <a:ea typeface="Calibri" panose="020F0502020204030204" pitchFamily="34" charset="0"/>
                <a:cs typeface="Arial" panose="020B0604020202020204" pitchFamily="34" charset="0"/>
              </a:rPr>
              <a:t>.</a:t>
            </a:r>
          </a:p>
          <a:p>
            <a:pPr marL="342900" lvl="0" indent="-342900" algn="r" rtl="1">
              <a:lnSpc>
                <a:spcPct val="107000"/>
              </a:lnSpc>
              <a:spcAft>
                <a:spcPts val="800"/>
              </a:spcAft>
              <a:buSzPts val="1000"/>
              <a:buFont typeface="Symbol" panose="05050102010706020507" pitchFamily="18" charset="2"/>
              <a:buChar char=""/>
              <a:tabLst>
                <a:tab pos="457200" algn="l"/>
              </a:tabLst>
            </a:pPr>
            <a:r>
              <a:rPr lang="ar-SA" sz="3200" b="1" kern="100" dirty="0">
                <a:effectLst/>
                <a:latin typeface="Calibri" panose="020F0502020204030204" pitchFamily="34" charset="0"/>
                <a:ea typeface="Calibri" panose="020F0502020204030204" pitchFamily="34" charset="0"/>
                <a:cs typeface="Arial" panose="020B0604020202020204" pitchFamily="34" charset="0"/>
              </a:rPr>
              <a:t>الهندسة التقنية</a:t>
            </a:r>
            <a:r>
              <a:rPr lang="en-US" sz="3200" kern="100" dirty="0">
                <a:effectLst/>
                <a:latin typeface="Calibri" panose="020F0502020204030204" pitchFamily="34" charset="0"/>
                <a:ea typeface="Calibri" panose="020F0502020204030204" pitchFamily="34" charset="0"/>
                <a:cs typeface="Arial" panose="020B0604020202020204" pitchFamily="34" charset="0"/>
              </a:rPr>
              <a:t>: </a:t>
            </a:r>
            <a:r>
              <a:rPr lang="ar-SA" sz="3200" kern="100" dirty="0">
                <a:effectLst/>
                <a:latin typeface="Calibri" panose="020F0502020204030204" pitchFamily="34" charset="0"/>
                <a:ea typeface="Calibri" panose="020F0502020204030204" pitchFamily="34" charset="0"/>
                <a:cs typeface="Arial" panose="020B0604020202020204" pitchFamily="34" charset="0"/>
              </a:rPr>
              <a:t>تصميم البنية التحتية التقنية</a:t>
            </a:r>
            <a:r>
              <a:rPr lang="en-US" sz="3200" kern="100" dirty="0">
                <a:effectLst/>
                <a:latin typeface="Calibri" panose="020F0502020204030204" pitchFamily="34" charset="0"/>
                <a:ea typeface="Calibri" panose="020F0502020204030204" pitchFamily="34" charset="0"/>
                <a:cs typeface="Arial" panose="020B0604020202020204" pitchFamily="34" charset="0"/>
              </a:rPr>
              <a:t>.</a:t>
            </a:r>
          </a:p>
          <a:p>
            <a:pPr marL="342900" lvl="0" indent="-342900" algn="r" rtl="1">
              <a:lnSpc>
                <a:spcPct val="107000"/>
              </a:lnSpc>
              <a:spcAft>
                <a:spcPts val="800"/>
              </a:spcAft>
              <a:buSzPts val="1000"/>
              <a:buFont typeface="Symbol" panose="05050102010706020507" pitchFamily="18" charset="2"/>
              <a:buChar char=""/>
              <a:tabLst>
                <a:tab pos="457200" algn="l"/>
              </a:tabLst>
            </a:pPr>
            <a:r>
              <a:rPr lang="ar-SA" sz="3200" b="1" kern="100" dirty="0">
                <a:effectLst/>
                <a:latin typeface="Calibri" panose="020F0502020204030204" pitchFamily="34" charset="0"/>
                <a:ea typeface="Calibri" panose="020F0502020204030204" pitchFamily="34" charset="0"/>
                <a:cs typeface="Arial" panose="020B0604020202020204" pitchFamily="34" charset="0"/>
              </a:rPr>
              <a:t>الهندسة المعلوماتية</a:t>
            </a:r>
            <a:r>
              <a:rPr lang="en-US" sz="3200" kern="100" dirty="0">
                <a:effectLst/>
                <a:latin typeface="Calibri" panose="020F0502020204030204" pitchFamily="34" charset="0"/>
                <a:ea typeface="Calibri" panose="020F0502020204030204" pitchFamily="34" charset="0"/>
                <a:cs typeface="Arial" panose="020B0604020202020204" pitchFamily="34" charset="0"/>
              </a:rPr>
              <a:t>: </a:t>
            </a:r>
            <a:r>
              <a:rPr lang="ar-SA" sz="3200" kern="100" dirty="0">
                <a:effectLst/>
                <a:latin typeface="Calibri" panose="020F0502020204030204" pitchFamily="34" charset="0"/>
                <a:ea typeface="Calibri" panose="020F0502020204030204" pitchFamily="34" charset="0"/>
                <a:cs typeface="Arial" panose="020B0604020202020204" pitchFamily="34" charset="0"/>
              </a:rPr>
              <a:t>إدارة البيانات والمعلومات</a:t>
            </a:r>
            <a:r>
              <a:rPr lang="en-US" sz="3200" kern="100" dirty="0">
                <a:effectLst/>
                <a:latin typeface="Calibri" panose="020F0502020204030204" pitchFamily="34" charset="0"/>
                <a:ea typeface="Calibri" panose="020F0502020204030204" pitchFamily="34" charset="0"/>
                <a:cs typeface="Arial" panose="020B0604020202020204" pitchFamily="34" charset="0"/>
              </a:rPr>
              <a:t>.</a:t>
            </a:r>
          </a:p>
          <a:p>
            <a:pPr algn="r" rtl="1">
              <a:lnSpc>
                <a:spcPct val="107000"/>
              </a:lnSpc>
              <a:spcAft>
                <a:spcPts val="800"/>
              </a:spcAft>
            </a:pPr>
            <a:r>
              <a:rPr lang="ar-SA" sz="3200" kern="100" dirty="0">
                <a:effectLst/>
                <a:latin typeface="Calibri" panose="020F0502020204030204" pitchFamily="34" charset="0"/>
                <a:ea typeface="Calibri" panose="020F0502020204030204" pitchFamily="34" charset="0"/>
                <a:cs typeface="Arial" panose="020B0604020202020204" pitchFamily="34" charset="0"/>
              </a:rPr>
              <a:t>هذه الأطر تساعد المؤسسات على تحقيق التوازن بين الابتكار والامتثال، وتحسين كفاءة وفعالية تكنولوجيا المعلومات</a:t>
            </a:r>
            <a:r>
              <a:rPr lang="en-US" sz="3200" kern="100" dirty="0">
                <a:effectLst/>
                <a:latin typeface="Calibri" panose="020F0502020204030204" pitchFamily="34" charset="0"/>
                <a:ea typeface="Calibri" panose="020F0502020204030204" pitchFamily="34" charset="0"/>
                <a:cs typeface="Arial" panose="020B0604020202020204" pitchFamily="34" charset="0"/>
              </a:rPr>
              <a:t>.</a:t>
            </a:r>
          </a:p>
        </p:txBody>
      </p:sp>
      <p:sp>
        <p:nvSpPr>
          <p:cNvPr id="53" name="자유형: 도형 24">
            <a:extLst>
              <a:ext uri="{FF2B5EF4-FFF2-40B4-BE49-F238E27FC236}">
                <a16:creationId xmlns:a16="http://schemas.microsoft.com/office/drawing/2014/main" id="{B1561DAA-42A3-EF04-A35A-AE1834BEE8D4}"/>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2C94284B-A6C7-A312-2573-648A0C26EF5E}"/>
              </a:ext>
            </a:extLst>
          </p:cNvPr>
          <p:cNvSpPr/>
          <p:nvPr/>
        </p:nvSpPr>
        <p:spPr>
          <a:xfrm>
            <a:off x="8945217" y="764275"/>
            <a:ext cx="3211526"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أطر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حوكمة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37966412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FD440-7B8F-7837-4DB4-F7E343E3EF40}"/>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0B5D2079-7894-D04B-9DDD-3313E0A15E67}"/>
              </a:ext>
            </a:extLst>
          </p:cNvPr>
          <p:cNvSpPr txBox="1"/>
          <p:nvPr/>
        </p:nvSpPr>
        <p:spPr>
          <a:xfrm>
            <a:off x="520251" y="1014489"/>
            <a:ext cx="8835183" cy="5480475"/>
          </a:xfrm>
          <a:prstGeom prst="rect">
            <a:avLst/>
          </a:prstGeom>
          <a:solidFill>
            <a:schemeClr val="accent3">
              <a:lumMod val="60000"/>
              <a:lumOff val="40000"/>
            </a:schemeClr>
          </a:solidFill>
        </p:spPr>
        <p:txBody>
          <a:bodyPr wrap="square">
            <a:spAutoFit/>
          </a:bodyPr>
          <a:lstStyle/>
          <a:p>
            <a:pPr marL="571500" indent="-571500" algn="r" rtl="1">
              <a:lnSpc>
                <a:spcPct val="107000"/>
              </a:lnSpc>
              <a:spcAft>
                <a:spcPts val="800"/>
              </a:spcAft>
              <a:buFont typeface="Arial" panose="020B0604020202020204" pitchFamily="34" charset="0"/>
              <a:buChar char="•"/>
            </a:pPr>
            <a:r>
              <a:rPr lang="ar-SA" sz="4000" b="1" dirty="0">
                <a:latin typeface="Calibri" panose="020F0502020204030204" pitchFamily="34" charset="0"/>
                <a:ea typeface="Calibri" panose="020F0502020204030204" pitchFamily="34" charset="0"/>
                <a:cs typeface="Arial" panose="020B0604020202020204" pitchFamily="34" charset="0"/>
              </a:rPr>
              <a:t>الامتثال التنظيمي في تكنولوجيا المعلومات يتعلق بالتأكد من أن جميع الأنشطة والإجراءات تتماشى مع القوانين واللوائح ذات الصلة. بعض الأمثلة على اللوائح المهمة</a:t>
            </a:r>
            <a:r>
              <a:rPr lang="en-US" sz="4000" b="1" dirty="0">
                <a:latin typeface="Calibri" panose="020F0502020204030204" pitchFamily="34" charset="0"/>
                <a:ea typeface="Calibri" panose="020F0502020204030204" pitchFamily="34" charset="0"/>
                <a:cs typeface="Arial" panose="020B0604020202020204" pitchFamily="34" charset="0"/>
              </a:rPr>
              <a:t>:</a:t>
            </a:r>
          </a:p>
          <a:p>
            <a:pPr marL="571500" lvl="0" indent="-571500" algn="r" rtl="1">
              <a:lnSpc>
                <a:spcPct val="107000"/>
              </a:lnSpc>
              <a:spcAft>
                <a:spcPts val="800"/>
              </a:spcAft>
              <a:buSzPts val="1000"/>
              <a:buFont typeface="Arial" panose="020B0604020202020204" pitchFamily="34" charset="0"/>
              <a:buChar char="•"/>
              <a:tabLst>
                <a:tab pos="457200" algn="l"/>
              </a:tabLst>
            </a:pPr>
            <a:r>
              <a:rPr lang="en-US" sz="4000" b="1" dirty="0">
                <a:latin typeface="Calibri" panose="020F0502020204030204" pitchFamily="34" charset="0"/>
                <a:ea typeface="Calibri" panose="020F0502020204030204" pitchFamily="34" charset="0"/>
                <a:cs typeface="Arial" panose="020B0604020202020204" pitchFamily="34" charset="0"/>
              </a:rPr>
              <a:t>GDPR:  </a:t>
            </a:r>
            <a:r>
              <a:rPr lang="ar-YE" sz="4000" b="1" dirty="0">
                <a:latin typeface="Calibri" panose="020F0502020204030204" pitchFamily="34" charset="0"/>
                <a:ea typeface="Calibri" panose="020F0502020204030204" pitchFamily="34" charset="0"/>
                <a:cs typeface="Arial" panose="020B0604020202020204" pitchFamily="34" charset="0"/>
              </a:rPr>
              <a:t> </a:t>
            </a:r>
            <a:r>
              <a:rPr lang="ar-SA" sz="4000" b="1" dirty="0">
                <a:latin typeface="Calibri" panose="020F0502020204030204" pitchFamily="34" charset="0"/>
                <a:ea typeface="Calibri" panose="020F0502020204030204" pitchFamily="34" charset="0"/>
                <a:cs typeface="Arial" panose="020B0604020202020204" pitchFamily="34" charset="0"/>
              </a:rPr>
              <a:t>اللائحة العامة لحماية البيانات في الاتحاد الأوروبي</a:t>
            </a:r>
            <a:r>
              <a:rPr lang="en-US" sz="4000" b="1" dirty="0">
                <a:latin typeface="Calibri" panose="020F0502020204030204" pitchFamily="34" charset="0"/>
                <a:ea typeface="Calibri" panose="020F0502020204030204" pitchFamily="34" charset="0"/>
                <a:cs typeface="Arial" panose="020B0604020202020204" pitchFamily="34" charset="0"/>
              </a:rPr>
              <a:t>.</a:t>
            </a:r>
          </a:p>
          <a:p>
            <a:pPr marL="571500" indent="-571500" algn="r" rtl="1">
              <a:lnSpc>
                <a:spcPct val="107000"/>
              </a:lnSpc>
              <a:spcAft>
                <a:spcPts val="800"/>
              </a:spcAft>
              <a:buFont typeface="Arial" panose="020B0604020202020204" pitchFamily="34" charset="0"/>
              <a:buChar char="•"/>
            </a:pPr>
            <a:r>
              <a:rPr lang="en-US" sz="4000" b="1" dirty="0">
                <a:latin typeface="Calibri" panose="020F0502020204030204" pitchFamily="34" charset="0"/>
                <a:ea typeface="Calibri" panose="020F0502020204030204" pitchFamily="34" charset="0"/>
                <a:cs typeface="Arial" panose="020B0604020202020204" pitchFamily="34" charset="0"/>
              </a:rPr>
              <a:t>HIPAA:  </a:t>
            </a:r>
            <a:r>
              <a:rPr lang="ar-SA" sz="4000" b="1" dirty="0">
                <a:latin typeface="Calibri" panose="020F0502020204030204" pitchFamily="34" charset="0"/>
                <a:ea typeface="Calibri" panose="020F0502020204030204" pitchFamily="34" charset="0"/>
                <a:cs typeface="Arial" panose="020B0604020202020204" pitchFamily="34" charset="0"/>
              </a:rPr>
              <a:t>قانون إخضاع التأمين الصحي لقابلية النقل والمساءلة في الولايات المتحدة</a:t>
            </a:r>
            <a:r>
              <a:rPr lang="en-US" sz="1800" dirty="0">
                <a:effectLst/>
                <a:latin typeface="Calibri" panose="020F0502020204030204" pitchFamily="34" charset="0"/>
                <a:ea typeface="Calibri" panose="020F0502020204030204" pitchFamily="34" charset="0"/>
                <a:cs typeface="Arial" panose="020B0604020202020204" pitchFamily="34" charset="0"/>
              </a:rPr>
              <a:t>.</a:t>
            </a:r>
            <a:endParaRPr lang="ar-YE" sz="16600" b="1" dirty="0">
              <a:latin typeface="Calibri" panose="020F0502020204030204" pitchFamily="34" charset="0"/>
              <a:ea typeface="Calibri" panose="020F0502020204030204" pitchFamily="34" charset="0"/>
              <a:cs typeface="Arial" panose="020B0604020202020204" pitchFamily="34" charset="0"/>
            </a:endParaRPr>
          </a:p>
        </p:txBody>
      </p:sp>
      <p:sp>
        <p:nvSpPr>
          <p:cNvPr id="53" name="자유형: 도형 24">
            <a:extLst>
              <a:ext uri="{FF2B5EF4-FFF2-40B4-BE49-F238E27FC236}">
                <a16:creationId xmlns:a16="http://schemas.microsoft.com/office/drawing/2014/main" id="{5540933D-AB05-EA77-0A47-303C39630A1E}"/>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8BA3F9AC-0336-3684-A860-2DD12B6BA412}"/>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الامتثال</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a:t>
            </a:r>
            <a:r>
              <a:rPr lang="ar-YE" sz="4000" b="1" dirty="0" err="1">
                <a:latin typeface="Calibri" panose="020F0502020204030204" pitchFamily="34" charset="0"/>
                <a:ea typeface="Calibri" panose="020F0502020204030204" pitchFamily="34" charset="0"/>
                <a:cs typeface="Arial" panose="020B0604020202020204" pitchFamily="34" charset="0"/>
              </a:rPr>
              <a:t>التنظمي</a:t>
            </a:r>
            <a:r>
              <a:rPr lang="ar-YE" sz="4000" b="1" dirty="0">
                <a:latin typeface="Calibri" panose="020F0502020204030204" pitchFamily="34" charset="0"/>
                <a:ea typeface="Calibri" panose="020F0502020204030204" pitchFamily="34" charset="0"/>
                <a:cs typeface="Arial" panose="020B0604020202020204" pitchFamily="34" charset="0"/>
              </a:rPr>
              <a:t>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لحوكمة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21919323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14B6A-2D4B-E780-1B0C-8EFC23A22AB8}"/>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E017747C-C689-B043-29DC-650A83653DE0}"/>
              </a:ext>
            </a:extLst>
          </p:cNvPr>
          <p:cNvSpPr txBox="1"/>
          <p:nvPr/>
        </p:nvSpPr>
        <p:spPr>
          <a:xfrm>
            <a:off x="520251" y="1014489"/>
            <a:ext cx="8835183" cy="5567293"/>
          </a:xfrm>
          <a:prstGeom prst="rect">
            <a:avLst/>
          </a:prstGeom>
          <a:solidFill>
            <a:schemeClr val="accent3">
              <a:lumMod val="60000"/>
              <a:lumOff val="40000"/>
            </a:schemeClr>
          </a:solidFill>
        </p:spPr>
        <p:txBody>
          <a:bodyPr wrap="square">
            <a:spAutoFit/>
          </a:bodyPr>
          <a:lstStyle/>
          <a:p>
            <a:pPr marL="571500" indent="-571500" algn="r" rtl="1">
              <a:lnSpc>
                <a:spcPct val="107000"/>
              </a:lnSpc>
              <a:spcAft>
                <a:spcPts val="800"/>
              </a:spcAft>
              <a:buFont typeface="Arial" panose="020B0604020202020204" pitchFamily="34" charset="0"/>
              <a:buChar char="•"/>
            </a:pPr>
            <a:r>
              <a:rPr lang="ar-SA" sz="4800" dirty="0">
                <a:effectLst/>
                <a:latin typeface="Calibri" panose="020F0502020204030204" pitchFamily="34" charset="0"/>
                <a:ea typeface="Calibri" panose="020F0502020204030204" pitchFamily="34" charset="0"/>
                <a:cs typeface="Arial" panose="020B0604020202020204" pitchFamily="34" charset="0"/>
              </a:rPr>
              <a:t>الامتثال التنظيمي في تكنولوجيا المعلومات هو عملية ضمان أن جميع الأنشطة والإجراءات المتعلقة بتكنولوجيا المعلومات تتماشى مع القوانين واللوائح ذات الصلة. هذا يشمل الامتثال للمعايير المحلية والدولية التي تهدف إلى حماية البيانات وضمان الخصوصية والأمان</a:t>
            </a:r>
            <a:endParaRPr lang="ar-YE" sz="71400" b="1" dirty="0">
              <a:latin typeface="Calibri" panose="020F0502020204030204" pitchFamily="34" charset="0"/>
              <a:ea typeface="Calibri" panose="020F0502020204030204" pitchFamily="34" charset="0"/>
              <a:cs typeface="Arial" panose="020B0604020202020204" pitchFamily="34" charset="0"/>
            </a:endParaRPr>
          </a:p>
        </p:txBody>
      </p:sp>
      <p:sp>
        <p:nvSpPr>
          <p:cNvPr id="53" name="자유형: 도형 24">
            <a:extLst>
              <a:ext uri="{FF2B5EF4-FFF2-40B4-BE49-F238E27FC236}">
                <a16:creationId xmlns:a16="http://schemas.microsoft.com/office/drawing/2014/main" id="{89523CC5-13A0-2AE9-DF80-CEDE3AFE21EF}"/>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B1829951-4AC1-CC11-6B6B-2A6A3FEC784B}"/>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الامتثال</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a:t>
            </a:r>
            <a:r>
              <a:rPr lang="ar-YE" sz="4000" b="1" dirty="0" err="1">
                <a:latin typeface="Calibri" panose="020F0502020204030204" pitchFamily="34" charset="0"/>
                <a:ea typeface="Calibri" panose="020F0502020204030204" pitchFamily="34" charset="0"/>
                <a:cs typeface="Arial" panose="020B0604020202020204" pitchFamily="34" charset="0"/>
              </a:rPr>
              <a:t>التنظمي</a:t>
            </a:r>
            <a:r>
              <a:rPr lang="ar-YE" sz="4000" b="1" dirty="0">
                <a:latin typeface="Calibri" panose="020F0502020204030204" pitchFamily="34" charset="0"/>
                <a:ea typeface="Calibri" panose="020F0502020204030204" pitchFamily="34" charset="0"/>
                <a:cs typeface="Arial" panose="020B0604020202020204" pitchFamily="34" charset="0"/>
              </a:rPr>
              <a:t>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لحوكمة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10265180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94198-16E4-B940-BB1F-13562E274D4D}"/>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3CC117C1-CDE7-32F6-7C16-62661DF34239}"/>
              </a:ext>
            </a:extLst>
          </p:cNvPr>
          <p:cNvSpPr txBox="1"/>
          <p:nvPr/>
        </p:nvSpPr>
        <p:spPr>
          <a:xfrm>
            <a:off x="-129209" y="129904"/>
            <a:ext cx="10008705" cy="6619248"/>
          </a:xfrm>
          <a:prstGeom prst="rect">
            <a:avLst/>
          </a:prstGeom>
          <a:solidFill>
            <a:schemeClr val="accent3">
              <a:lumMod val="60000"/>
              <a:lumOff val="40000"/>
            </a:schemeClr>
          </a:solidFill>
        </p:spPr>
        <p:txBody>
          <a:bodyPr wrap="square">
            <a:spAutoFit/>
          </a:bodyPr>
          <a:lstStyle/>
          <a:p>
            <a:pPr algn="r" rtl="1">
              <a:lnSpc>
                <a:spcPct val="107000"/>
              </a:lnSpc>
              <a:spcAft>
                <a:spcPts val="800"/>
              </a:spcAft>
            </a:pPr>
            <a:r>
              <a:rPr lang="ar-SA" sz="1800" b="1" kern="100" dirty="0">
                <a:effectLst/>
                <a:latin typeface="Calibri" panose="020F0502020204030204" pitchFamily="34" charset="0"/>
                <a:ea typeface="Calibri" panose="020F0502020204030204" pitchFamily="34" charset="0"/>
                <a:cs typeface="Arial" panose="020B0604020202020204" pitchFamily="34" charset="0"/>
              </a:rPr>
              <a:t>بعض الجوانب الرئيسية للامتثال التنظيمي في تكنولوجيا المعلومات</a:t>
            </a:r>
            <a:r>
              <a:rPr lang="en-US" sz="1800" b="1" kern="100" dirty="0">
                <a:effectLst/>
                <a:latin typeface="Calibri" panose="020F0502020204030204" pitchFamily="34" charset="0"/>
                <a:ea typeface="Calibri" panose="020F0502020204030204" pitchFamily="34" charset="0"/>
                <a:cs typeface="Arial" panose="020B0604020202020204" pitchFamily="34" charset="0"/>
              </a:rPr>
              <a:t>:</a:t>
            </a:r>
          </a:p>
          <a:p>
            <a:pPr algn="r" rtl="1">
              <a:lnSpc>
                <a:spcPct val="107000"/>
              </a:lnSpc>
              <a:spcAft>
                <a:spcPts val="800"/>
              </a:spcAft>
            </a:pPr>
            <a:r>
              <a:rPr lang="en-US" sz="1800" b="1" kern="100" dirty="0">
                <a:effectLst/>
                <a:latin typeface="Calibri" panose="020F0502020204030204" pitchFamily="34" charset="0"/>
                <a:ea typeface="Calibri" panose="020F0502020204030204" pitchFamily="34" charset="0"/>
                <a:cs typeface="Arial" panose="020B0604020202020204" pitchFamily="34" charset="0"/>
              </a:rPr>
              <a:t>1. </a:t>
            </a:r>
            <a:r>
              <a:rPr lang="ar-SA" sz="1800" b="1" kern="100" dirty="0">
                <a:effectLst/>
                <a:latin typeface="Calibri" panose="020F0502020204030204" pitchFamily="34" charset="0"/>
                <a:ea typeface="Calibri" panose="020F0502020204030204" pitchFamily="34" charset="0"/>
                <a:cs typeface="Arial" panose="020B0604020202020204" pitchFamily="34" charset="0"/>
              </a:rPr>
              <a:t>اللوائح والمعايير الرئيسية</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07000"/>
              </a:lnSpc>
              <a:spcAft>
                <a:spcPts val="800"/>
              </a:spcAft>
              <a:buSzPts val="1000"/>
              <a:buFont typeface="Symbol" panose="05050102010706020507" pitchFamily="18" charset="2"/>
              <a:buChar char=""/>
              <a:tabLst>
                <a:tab pos="457200" algn="l"/>
              </a:tabLst>
            </a:pPr>
            <a:r>
              <a:rPr lang="en-US" sz="1800" b="1" kern="100" dirty="0">
                <a:effectLst/>
                <a:latin typeface="Calibri" panose="020F0502020204030204" pitchFamily="34" charset="0"/>
                <a:ea typeface="Calibri" panose="020F0502020204030204" pitchFamily="34" charset="0"/>
                <a:cs typeface="Arial" panose="020B0604020202020204" pitchFamily="34" charset="0"/>
              </a:rPr>
              <a:t>GDPR: </a:t>
            </a:r>
            <a:r>
              <a:rPr lang="ar-SA" sz="1800" b="1" kern="100" dirty="0">
                <a:effectLst/>
                <a:latin typeface="Calibri" panose="020F0502020204030204" pitchFamily="34" charset="0"/>
                <a:ea typeface="Calibri" panose="020F0502020204030204" pitchFamily="34" charset="0"/>
                <a:cs typeface="Arial" panose="020B0604020202020204" pitchFamily="34" charset="0"/>
              </a:rPr>
              <a:t>اللائحة العامة لحماية البيانات في الاتحاد الأوروبي، التي تهدف إلى حماية خصوصية البيانات الشخصية للمواطنين الأوروبيين</a:t>
            </a:r>
            <a:r>
              <a:rPr lang="en-US" sz="1800" b="1" kern="100" dirty="0">
                <a:effectLst/>
                <a:latin typeface="Calibri" panose="020F0502020204030204" pitchFamily="34" charset="0"/>
                <a:ea typeface="Calibri" panose="020F0502020204030204" pitchFamily="34" charset="0"/>
                <a:cs typeface="Arial" panose="020B0604020202020204" pitchFamily="34" charset="0"/>
              </a:rPr>
              <a:t>.</a:t>
            </a:r>
          </a:p>
          <a:p>
            <a:pPr marL="342900" lvl="0" indent="-342900" algn="r" rtl="1">
              <a:lnSpc>
                <a:spcPct val="107000"/>
              </a:lnSpc>
              <a:spcAft>
                <a:spcPts val="800"/>
              </a:spcAft>
              <a:buSzPts val="1000"/>
              <a:buFont typeface="Symbol" panose="05050102010706020507" pitchFamily="18" charset="2"/>
              <a:buChar char=""/>
              <a:tabLst>
                <a:tab pos="457200" algn="l"/>
              </a:tabLst>
            </a:pPr>
            <a:r>
              <a:rPr lang="en-US" sz="1800" b="1" kern="100" dirty="0">
                <a:effectLst/>
                <a:latin typeface="Calibri" panose="020F0502020204030204" pitchFamily="34" charset="0"/>
                <a:ea typeface="Calibri" panose="020F0502020204030204" pitchFamily="34" charset="0"/>
                <a:cs typeface="Arial" panose="020B0604020202020204" pitchFamily="34" charset="0"/>
              </a:rPr>
              <a:t>HIPAA: </a:t>
            </a:r>
            <a:r>
              <a:rPr lang="ar-SA" sz="1800" b="1" kern="100" dirty="0">
                <a:effectLst/>
                <a:latin typeface="Calibri" panose="020F0502020204030204" pitchFamily="34" charset="0"/>
                <a:ea typeface="Calibri" panose="020F0502020204030204" pitchFamily="34" charset="0"/>
                <a:cs typeface="Arial" panose="020B0604020202020204" pitchFamily="34" charset="0"/>
              </a:rPr>
              <a:t>قانون إخضاع التأمين الصحي لقابلية النقل والمساءلة في الولايات المتحدة، الذي يهدف إلى حماية المعلومات الصحية الشخصية</a:t>
            </a:r>
            <a:r>
              <a:rPr lang="en-US" sz="1800" b="1" kern="100" dirty="0">
                <a:effectLst/>
                <a:latin typeface="Calibri" panose="020F0502020204030204" pitchFamily="34" charset="0"/>
                <a:ea typeface="Calibri" panose="020F0502020204030204" pitchFamily="34" charset="0"/>
                <a:cs typeface="Arial" panose="020B0604020202020204" pitchFamily="34" charset="0"/>
              </a:rPr>
              <a:t>.</a:t>
            </a:r>
          </a:p>
          <a:p>
            <a:pPr marL="342900" lvl="0" indent="-342900" algn="r" rtl="1">
              <a:lnSpc>
                <a:spcPct val="107000"/>
              </a:lnSpc>
              <a:spcAft>
                <a:spcPts val="800"/>
              </a:spcAft>
              <a:buSzPts val="1000"/>
              <a:buFont typeface="Symbol" panose="05050102010706020507" pitchFamily="18" charset="2"/>
              <a:buChar char=""/>
              <a:tabLst>
                <a:tab pos="457200" algn="l"/>
              </a:tabLst>
            </a:pPr>
            <a:r>
              <a:rPr lang="en-US" sz="1800" b="1" kern="100" dirty="0">
                <a:effectLst/>
                <a:latin typeface="Calibri" panose="020F0502020204030204" pitchFamily="34" charset="0"/>
                <a:ea typeface="Calibri" panose="020F0502020204030204" pitchFamily="34" charset="0"/>
                <a:cs typeface="Arial" panose="020B0604020202020204" pitchFamily="34" charset="0"/>
              </a:rPr>
              <a:t>SOX: </a:t>
            </a:r>
            <a:r>
              <a:rPr lang="ar-SA" sz="1800" b="1" kern="100" dirty="0">
                <a:effectLst/>
                <a:latin typeface="Calibri" panose="020F0502020204030204" pitchFamily="34" charset="0"/>
                <a:ea typeface="Calibri" panose="020F0502020204030204" pitchFamily="34" charset="0"/>
                <a:cs typeface="Arial" panose="020B0604020202020204" pitchFamily="34" charset="0"/>
              </a:rPr>
              <a:t>قانون </a:t>
            </a:r>
            <a:r>
              <a:rPr lang="ar-SA" sz="1800" b="1" kern="100" dirty="0" err="1">
                <a:effectLst/>
                <a:latin typeface="Calibri" panose="020F0502020204030204" pitchFamily="34" charset="0"/>
                <a:ea typeface="Calibri" panose="020F0502020204030204" pitchFamily="34" charset="0"/>
                <a:cs typeface="Arial" panose="020B0604020202020204" pitchFamily="34" charset="0"/>
              </a:rPr>
              <a:t>ساربانيس</a:t>
            </a:r>
            <a:r>
              <a:rPr lang="ar-SA" sz="1800" b="1" kern="100" dirty="0">
                <a:effectLst/>
                <a:latin typeface="Calibri" panose="020F0502020204030204" pitchFamily="34" charset="0"/>
                <a:ea typeface="Calibri" panose="020F0502020204030204" pitchFamily="34" charset="0"/>
                <a:cs typeface="Arial" panose="020B0604020202020204" pitchFamily="34" charset="0"/>
              </a:rPr>
              <a:t> </a:t>
            </a:r>
            <a:r>
              <a:rPr lang="ar-SA" sz="1800" b="1" kern="100" dirty="0" err="1">
                <a:effectLst/>
                <a:latin typeface="Calibri" panose="020F0502020204030204" pitchFamily="34" charset="0"/>
                <a:ea typeface="Calibri" panose="020F0502020204030204" pitchFamily="34" charset="0"/>
                <a:cs typeface="Arial" panose="020B0604020202020204" pitchFamily="34" charset="0"/>
              </a:rPr>
              <a:t>أوكسلي</a:t>
            </a:r>
            <a:r>
              <a:rPr lang="ar-SA" sz="1800" b="1" kern="100" dirty="0">
                <a:effectLst/>
                <a:latin typeface="Calibri" panose="020F0502020204030204" pitchFamily="34" charset="0"/>
                <a:ea typeface="Calibri" panose="020F0502020204030204" pitchFamily="34" charset="0"/>
                <a:cs typeface="Arial" panose="020B0604020202020204" pitchFamily="34" charset="0"/>
              </a:rPr>
              <a:t>، الذي يهدف إلى حماية المستثمرين من خلال تحسين دقة وموثوقية </a:t>
            </a:r>
            <a:r>
              <a:rPr lang="ar-SA" sz="1800" b="1" kern="100" dirty="0" err="1">
                <a:effectLst/>
                <a:latin typeface="Calibri" panose="020F0502020204030204" pitchFamily="34" charset="0"/>
                <a:ea typeface="Calibri" panose="020F0502020204030204" pitchFamily="34" charset="0"/>
                <a:cs typeface="Arial" panose="020B0604020202020204" pitchFamily="34" charset="0"/>
              </a:rPr>
              <a:t>الإفصاحات</a:t>
            </a:r>
            <a:r>
              <a:rPr lang="ar-SA" sz="1800" b="1" kern="100" dirty="0">
                <a:effectLst/>
                <a:latin typeface="Calibri" panose="020F0502020204030204" pitchFamily="34" charset="0"/>
                <a:ea typeface="Calibri" panose="020F0502020204030204" pitchFamily="34" charset="0"/>
                <a:cs typeface="Arial" panose="020B0604020202020204" pitchFamily="34" charset="0"/>
              </a:rPr>
              <a:t> المالية</a:t>
            </a:r>
            <a:r>
              <a:rPr lang="en-US" sz="1800" b="1" kern="100" dirty="0">
                <a:effectLst/>
                <a:latin typeface="Calibri" panose="020F0502020204030204" pitchFamily="34" charset="0"/>
                <a:ea typeface="Calibri" panose="020F0502020204030204" pitchFamily="34" charset="0"/>
                <a:cs typeface="Arial" panose="020B0604020202020204" pitchFamily="34" charset="0"/>
              </a:rPr>
              <a:t>.</a:t>
            </a:r>
          </a:p>
          <a:p>
            <a:pPr algn="r" rtl="1">
              <a:lnSpc>
                <a:spcPct val="107000"/>
              </a:lnSpc>
              <a:spcAft>
                <a:spcPts val="800"/>
              </a:spcAft>
            </a:pPr>
            <a:r>
              <a:rPr lang="en-US" sz="1800" b="1" kern="100" dirty="0">
                <a:effectLst/>
                <a:latin typeface="Calibri" panose="020F0502020204030204" pitchFamily="34" charset="0"/>
                <a:ea typeface="Calibri" panose="020F0502020204030204" pitchFamily="34" charset="0"/>
                <a:cs typeface="Arial" panose="020B0604020202020204" pitchFamily="34" charset="0"/>
              </a:rPr>
              <a:t>2. </a:t>
            </a:r>
            <a:r>
              <a:rPr lang="ar-SA" sz="1800" b="1" kern="100" dirty="0">
                <a:effectLst/>
                <a:latin typeface="Calibri" panose="020F0502020204030204" pitchFamily="34" charset="0"/>
                <a:ea typeface="Calibri" panose="020F0502020204030204" pitchFamily="34" charset="0"/>
                <a:cs typeface="Arial" panose="020B0604020202020204" pitchFamily="34" charset="0"/>
              </a:rPr>
              <a:t>إدارة المخاطر</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7000"/>
              </a:lnSpc>
              <a:spcAft>
                <a:spcPts val="800"/>
              </a:spcAft>
            </a:pPr>
            <a:r>
              <a:rPr lang="ar-SA" sz="1800" b="1" kern="100" dirty="0">
                <a:effectLst/>
                <a:latin typeface="Calibri" panose="020F0502020204030204" pitchFamily="34" charset="0"/>
                <a:ea typeface="Calibri" panose="020F0502020204030204" pitchFamily="34" charset="0"/>
                <a:cs typeface="Arial" panose="020B0604020202020204" pitchFamily="34" charset="0"/>
              </a:rPr>
              <a:t>إدارة المخاطر تتضمن تحديد وتقييم ومعالجة المخاطر التي قد تؤثر على تكنولوجيا المعلومات في المؤسسة. هذا يشمل المخاطر الأمنية، مخاطر الامتثال، والمخاطر التشغيلية. من خلال إدارة المخاطر بفعالية، يمكن للمؤسسات تقليل احتمالية حدوث انتهاكات للامتثال</a:t>
            </a:r>
            <a:r>
              <a:rPr lang="en-US" sz="1800" b="1" kern="100" dirty="0">
                <a:effectLst/>
                <a:latin typeface="Calibri" panose="020F0502020204030204" pitchFamily="34" charset="0"/>
                <a:ea typeface="Calibri" panose="020F0502020204030204" pitchFamily="34" charset="0"/>
                <a:cs typeface="Arial" panose="020B0604020202020204" pitchFamily="34" charset="0"/>
              </a:rPr>
              <a:t>.</a:t>
            </a:r>
          </a:p>
          <a:p>
            <a:pPr algn="r" rtl="1">
              <a:lnSpc>
                <a:spcPct val="107000"/>
              </a:lnSpc>
              <a:spcAft>
                <a:spcPts val="800"/>
              </a:spcAft>
            </a:pPr>
            <a:r>
              <a:rPr lang="en-US" sz="1800" b="1" kern="100" dirty="0">
                <a:effectLst/>
                <a:latin typeface="Calibri" panose="020F0502020204030204" pitchFamily="34" charset="0"/>
                <a:ea typeface="Calibri" panose="020F0502020204030204" pitchFamily="34" charset="0"/>
                <a:cs typeface="Arial" panose="020B0604020202020204" pitchFamily="34" charset="0"/>
              </a:rPr>
              <a:t>3. </a:t>
            </a:r>
            <a:r>
              <a:rPr lang="ar-SA" sz="1800" b="1" kern="100" dirty="0">
                <a:effectLst/>
                <a:latin typeface="Calibri" panose="020F0502020204030204" pitchFamily="34" charset="0"/>
                <a:ea typeface="Calibri" panose="020F0502020204030204" pitchFamily="34" charset="0"/>
                <a:cs typeface="Arial" panose="020B0604020202020204" pitchFamily="34" charset="0"/>
              </a:rPr>
              <a:t>التكنولوجيا التنظيمية</a:t>
            </a:r>
            <a:r>
              <a:rPr lang="en-US" sz="1800" b="1" kern="100" dirty="0">
                <a:effectLst/>
                <a:latin typeface="Calibri" panose="020F0502020204030204" pitchFamily="34" charset="0"/>
                <a:ea typeface="Calibri" panose="020F0502020204030204" pitchFamily="34" charset="0"/>
                <a:cs typeface="Arial" panose="020B0604020202020204" pitchFamily="34" charset="0"/>
              </a:rPr>
              <a:t> (</a:t>
            </a:r>
            <a:r>
              <a:rPr lang="en-US" sz="1800" b="1" kern="100" dirty="0" err="1">
                <a:effectLst/>
                <a:latin typeface="Calibri" panose="020F0502020204030204" pitchFamily="34" charset="0"/>
                <a:ea typeface="Calibri" panose="020F0502020204030204" pitchFamily="34" charset="0"/>
                <a:cs typeface="Arial" panose="020B0604020202020204" pitchFamily="34" charset="0"/>
              </a:rPr>
              <a:t>RegTech</a:t>
            </a:r>
            <a:r>
              <a:rPr lang="en-US" sz="1800" b="1" kern="100" dirty="0">
                <a:effectLst/>
                <a:latin typeface="Calibri" panose="020F0502020204030204" pitchFamily="34" charset="0"/>
                <a:ea typeface="Calibri" panose="020F0502020204030204" pitchFamily="34" charset="0"/>
                <a:cs typeface="Arial" panose="020B0604020202020204" pitchFamily="34" charset="0"/>
              </a:rPr>
              <a:t>)</a:t>
            </a:r>
          </a:p>
          <a:p>
            <a:pPr algn="r" rtl="1">
              <a:lnSpc>
                <a:spcPct val="107000"/>
              </a:lnSpc>
              <a:spcAft>
                <a:spcPts val="800"/>
              </a:spcAft>
            </a:pPr>
            <a:r>
              <a:rPr lang="ar-SA" sz="1800" b="1" kern="100" dirty="0">
                <a:effectLst/>
                <a:latin typeface="Calibri" panose="020F0502020204030204" pitchFamily="34" charset="0"/>
                <a:ea typeface="Calibri" panose="020F0502020204030204" pitchFamily="34" charset="0"/>
                <a:cs typeface="Arial" panose="020B0604020202020204" pitchFamily="34" charset="0"/>
              </a:rPr>
              <a:t>التكنولوجيا التنظيمية تستخدم تقنيات متقدمة مثل الذكاء الاصطناعي وتحليل البيانات الضخمة </a:t>
            </a:r>
            <a:r>
              <a:rPr lang="ar-SA" sz="1800" b="1" kern="100" dirty="0" err="1">
                <a:effectLst/>
                <a:latin typeface="Calibri" panose="020F0502020204030204" pitchFamily="34" charset="0"/>
                <a:ea typeface="Calibri" panose="020F0502020204030204" pitchFamily="34" charset="0"/>
                <a:cs typeface="Arial" panose="020B0604020202020204" pitchFamily="34" charset="0"/>
              </a:rPr>
              <a:t>والبلوكتشين</a:t>
            </a:r>
            <a:r>
              <a:rPr lang="ar-SA" sz="1800" b="1" kern="100" dirty="0">
                <a:effectLst/>
                <a:latin typeface="Calibri" panose="020F0502020204030204" pitchFamily="34" charset="0"/>
                <a:ea typeface="Calibri" panose="020F0502020204030204" pitchFamily="34" charset="0"/>
                <a:cs typeface="Arial" panose="020B0604020202020204" pitchFamily="34" charset="0"/>
              </a:rPr>
              <a:t> لتبسيط عمليات الامتثال</a:t>
            </a:r>
            <a:r>
              <a:rPr lang="en-US" sz="1800" b="1" kern="100" dirty="0">
                <a:effectLst/>
                <a:latin typeface="Calibri" panose="020F0502020204030204" pitchFamily="34" charset="0"/>
                <a:ea typeface="Calibri" panose="020F0502020204030204" pitchFamily="34" charset="0"/>
                <a:cs typeface="Arial" panose="020B0604020202020204" pitchFamily="34" charset="0"/>
              </a:rPr>
              <a:t>. </a:t>
            </a:r>
            <a:endParaRPr lang="ar-YE" sz="1800" b="1" kern="1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7000"/>
              </a:lnSpc>
              <a:spcAft>
                <a:spcPts val="800"/>
              </a:spcAft>
            </a:pPr>
            <a:r>
              <a:rPr lang="en-US" sz="1800" b="1" kern="100" dirty="0">
                <a:effectLst/>
                <a:latin typeface="Calibri" panose="020F0502020204030204" pitchFamily="34" charset="0"/>
                <a:ea typeface="Calibri" panose="020F0502020204030204" pitchFamily="34" charset="0"/>
                <a:cs typeface="Arial" panose="020B0604020202020204" pitchFamily="34" charset="0"/>
              </a:rPr>
              <a:t>4. </a:t>
            </a:r>
            <a:r>
              <a:rPr lang="ar-SA" sz="1800" b="1" kern="100" dirty="0">
                <a:effectLst/>
                <a:latin typeface="Calibri" panose="020F0502020204030204" pitchFamily="34" charset="0"/>
                <a:ea typeface="Calibri" panose="020F0502020204030204" pitchFamily="34" charset="0"/>
                <a:cs typeface="Arial" panose="020B0604020202020204" pitchFamily="34" charset="0"/>
              </a:rPr>
              <a:t>أطر الحوكمة والمخاطر والامتثال</a:t>
            </a:r>
            <a:r>
              <a:rPr lang="en-US" sz="1800" b="1" kern="100" dirty="0">
                <a:effectLst/>
                <a:latin typeface="Calibri" panose="020F0502020204030204" pitchFamily="34" charset="0"/>
                <a:ea typeface="Calibri" panose="020F0502020204030204" pitchFamily="34" charset="0"/>
                <a:cs typeface="Arial" panose="020B0604020202020204" pitchFamily="34" charset="0"/>
              </a:rPr>
              <a:t> (GRC)</a:t>
            </a:r>
          </a:p>
          <a:p>
            <a:pPr algn="r" rtl="1">
              <a:lnSpc>
                <a:spcPct val="107000"/>
              </a:lnSpc>
              <a:spcAft>
                <a:spcPts val="800"/>
              </a:spcAft>
            </a:pPr>
            <a:r>
              <a:rPr lang="ar-SA" sz="1800" b="1" kern="100" dirty="0">
                <a:effectLst/>
                <a:latin typeface="Calibri" panose="020F0502020204030204" pitchFamily="34" charset="0"/>
                <a:ea typeface="Calibri" panose="020F0502020204030204" pitchFamily="34" charset="0"/>
                <a:cs typeface="Arial" panose="020B0604020202020204" pitchFamily="34" charset="0"/>
              </a:rPr>
              <a:t>أطر</a:t>
            </a:r>
            <a:r>
              <a:rPr lang="en-US" sz="1800" b="1" kern="100" dirty="0">
                <a:effectLst/>
                <a:latin typeface="Calibri" panose="020F0502020204030204" pitchFamily="34" charset="0"/>
                <a:ea typeface="Calibri" panose="020F0502020204030204" pitchFamily="34" charset="0"/>
                <a:cs typeface="Arial" panose="020B0604020202020204" pitchFamily="34" charset="0"/>
              </a:rPr>
              <a:t> GRC </a:t>
            </a:r>
            <a:r>
              <a:rPr lang="ar-SA" sz="1800" b="1" kern="100" dirty="0">
                <a:effectLst/>
                <a:latin typeface="Calibri" panose="020F0502020204030204" pitchFamily="34" charset="0"/>
                <a:ea typeface="Calibri" panose="020F0502020204030204" pitchFamily="34" charset="0"/>
                <a:cs typeface="Arial" panose="020B0604020202020204" pitchFamily="34" charset="0"/>
              </a:rPr>
              <a:t>تساعد المؤسسات على توحيد الحوكمة وإدارة المخاطر والامتثال في نموذج واحد منسق</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7000"/>
              </a:lnSpc>
              <a:spcAft>
                <a:spcPts val="800"/>
              </a:spcAft>
            </a:pPr>
            <a:r>
              <a:rPr lang="en-US" sz="1800" b="1" kern="100" dirty="0">
                <a:effectLst/>
                <a:latin typeface="Calibri" panose="020F0502020204030204" pitchFamily="34" charset="0"/>
                <a:ea typeface="Calibri" panose="020F0502020204030204" pitchFamily="34" charset="0"/>
                <a:cs typeface="Arial" panose="020B0604020202020204" pitchFamily="34" charset="0"/>
              </a:rPr>
              <a:t>5. </a:t>
            </a:r>
            <a:r>
              <a:rPr lang="ar-SA" sz="1800" b="1" kern="100" dirty="0">
                <a:effectLst/>
                <a:latin typeface="Calibri" panose="020F0502020204030204" pitchFamily="34" charset="0"/>
                <a:ea typeface="Calibri" panose="020F0502020204030204" pitchFamily="34" charset="0"/>
                <a:cs typeface="Arial" panose="020B0604020202020204" pitchFamily="34" charset="0"/>
              </a:rPr>
              <a:t>الضوابط العامة لتكنولوجيا المعلومات</a:t>
            </a:r>
            <a:r>
              <a:rPr lang="en-US" sz="1800" b="1" kern="100" dirty="0">
                <a:effectLst/>
                <a:latin typeface="Calibri" panose="020F0502020204030204" pitchFamily="34" charset="0"/>
                <a:ea typeface="Calibri" panose="020F0502020204030204" pitchFamily="34" charset="0"/>
                <a:cs typeface="Arial" panose="020B0604020202020204" pitchFamily="34" charset="0"/>
              </a:rPr>
              <a:t> (ITGC)</a:t>
            </a:r>
          </a:p>
          <a:p>
            <a:pPr algn="r" rtl="1"/>
            <a:r>
              <a:rPr lang="ar-SA" sz="1800" b="1" dirty="0">
                <a:effectLst/>
                <a:latin typeface="Calibri" panose="020F0502020204030204" pitchFamily="34" charset="0"/>
                <a:ea typeface="Calibri" panose="020F0502020204030204" pitchFamily="34" charset="0"/>
                <a:cs typeface="Arial" panose="020B0604020202020204" pitchFamily="34" charset="0"/>
              </a:rPr>
              <a:t>الضوابط العامة لتكنولوجيا المعلومات تشمل السياسات والإجراءات التي تضمن أن عناصر التحكم في تكنولوجيا المعلومات تلبي متطلبات لوائح الصناعة ذات الصلة </a:t>
            </a:r>
            <a:endParaRPr lang="ar-YE" sz="71400" b="1" dirty="0">
              <a:latin typeface="Calibri" panose="020F0502020204030204" pitchFamily="34" charset="0"/>
              <a:ea typeface="Calibri" panose="020F0502020204030204" pitchFamily="34" charset="0"/>
              <a:cs typeface="Arial" panose="020B0604020202020204" pitchFamily="34" charset="0"/>
            </a:endParaRPr>
          </a:p>
        </p:txBody>
      </p:sp>
      <p:sp>
        <p:nvSpPr>
          <p:cNvPr id="2" name="자유형: 도형 24">
            <a:extLst>
              <a:ext uri="{FF2B5EF4-FFF2-40B4-BE49-F238E27FC236}">
                <a16:creationId xmlns:a16="http://schemas.microsoft.com/office/drawing/2014/main" id="{BF78DB23-B144-FDC6-FE07-AC77DDC98AC5}"/>
              </a:ext>
            </a:extLst>
          </p:cNvPr>
          <p:cNvSpPr/>
          <p:nvPr/>
        </p:nvSpPr>
        <p:spPr>
          <a:xfrm>
            <a:off x="9581322" y="764275"/>
            <a:ext cx="2525726"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الامتثال</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a:t>
            </a:r>
            <a:r>
              <a:rPr lang="ar-YE" sz="4000" b="1" dirty="0" err="1">
                <a:latin typeface="Calibri" panose="020F0502020204030204" pitchFamily="34" charset="0"/>
                <a:ea typeface="Calibri" panose="020F0502020204030204" pitchFamily="34" charset="0"/>
                <a:cs typeface="Arial" panose="020B0604020202020204" pitchFamily="34" charset="0"/>
              </a:rPr>
              <a:t>التنظمي</a:t>
            </a:r>
            <a:r>
              <a:rPr lang="ar-YE" sz="4000" b="1" dirty="0">
                <a:latin typeface="Calibri" panose="020F0502020204030204" pitchFamily="34" charset="0"/>
                <a:ea typeface="Calibri" panose="020F0502020204030204" pitchFamily="34" charset="0"/>
                <a:cs typeface="Arial" panose="020B0604020202020204" pitchFamily="34" charset="0"/>
              </a:rPr>
              <a:t>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لحوكمة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40068573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B44E9-6C55-17AA-1030-7BE7513161AC}"/>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5F01255C-7579-E18B-71EF-103B0A79306C}"/>
              </a:ext>
            </a:extLst>
          </p:cNvPr>
          <p:cNvSpPr txBox="1"/>
          <p:nvPr/>
        </p:nvSpPr>
        <p:spPr>
          <a:xfrm>
            <a:off x="213918" y="1012954"/>
            <a:ext cx="8835183" cy="5016758"/>
          </a:xfrm>
          <a:prstGeom prst="rect">
            <a:avLst/>
          </a:prstGeom>
          <a:solidFill>
            <a:schemeClr val="accent3">
              <a:lumMod val="60000"/>
              <a:lumOff val="40000"/>
            </a:schemeClr>
          </a:solidFill>
        </p:spPr>
        <p:txBody>
          <a:bodyPr wrap="square">
            <a:spAutoFit/>
          </a:bodyPr>
          <a:lstStyle/>
          <a:p>
            <a:pPr algn="r" rtl="1">
              <a:lnSpc>
                <a:spcPct val="150000"/>
              </a:lnSpc>
            </a:pPr>
            <a:r>
              <a:rPr lang="ar-YE" sz="4000" b="1" dirty="0">
                <a:latin typeface="Calibri" panose="020F0502020204030204" pitchFamily="34" charset="0"/>
                <a:ea typeface="Calibri" panose="020F0502020204030204" pitchFamily="34" charset="0"/>
                <a:cs typeface="Arial" panose="020B0604020202020204" pitchFamily="34" charset="0"/>
              </a:rPr>
              <a:t>يشير مفهوم المخاطر والاعتبارات الأخلاقية تقنية المعلومات إلى:</a:t>
            </a:r>
          </a:p>
          <a:p>
            <a:pPr marL="1028700" lvl="1" indent="-571500" algn="just" rtl="1">
              <a:buFont typeface="Arial" panose="020B0604020202020204" pitchFamily="34" charset="0"/>
              <a:buChar char="•"/>
            </a:pPr>
            <a:r>
              <a:rPr lang="ar-YE" sz="4000" b="1" dirty="0">
                <a:latin typeface="Calibri" panose="020F0502020204030204" pitchFamily="34" charset="0"/>
                <a:ea typeface="Calibri" panose="020F0502020204030204" pitchFamily="34" charset="0"/>
                <a:cs typeface="Arial" panose="020B0604020202020204" pitchFamily="34" charset="0"/>
              </a:rPr>
              <a:t>مجموعة </a:t>
            </a:r>
            <a:r>
              <a:rPr lang="ar-SA" sz="4000" b="1" dirty="0">
                <a:latin typeface="Calibri" panose="020F0502020204030204" pitchFamily="34" charset="0"/>
                <a:ea typeface="Calibri" panose="020F0502020204030204" pitchFamily="34" charset="0"/>
                <a:cs typeface="Arial" panose="020B0604020202020204" pitchFamily="34" charset="0"/>
              </a:rPr>
              <a:t>إدارة المخاطر تتضمن تحديد وتقييم ومعالجة المخاطر التي قد تؤثر على تكنولوجيا المعلومات في المؤسسة. الاعتبارات الأخلاقية تشمل ضمان استخدام تكنولوجيا المعلومات بطريقة مسؤولة وشفافة</a:t>
            </a:r>
            <a:endParaRPr lang="ar-YE" sz="4000" b="1" dirty="0">
              <a:latin typeface="Calibri" panose="020F0502020204030204" pitchFamily="34" charset="0"/>
              <a:ea typeface="Calibri" panose="020F0502020204030204" pitchFamily="34" charset="0"/>
              <a:cs typeface="Arial" panose="020B0604020202020204" pitchFamily="34" charset="0"/>
            </a:endParaRPr>
          </a:p>
        </p:txBody>
      </p:sp>
      <p:sp>
        <p:nvSpPr>
          <p:cNvPr id="53" name="자유형: 도형 24">
            <a:extLst>
              <a:ext uri="{FF2B5EF4-FFF2-40B4-BE49-F238E27FC236}">
                <a16:creationId xmlns:a16="http://schemas.microsoft.com/office/drawing/2014/main" id="{3F7A1D99-39DC-A64C-FF44-0024D1EED943}"/>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BC73AE9E-EB89-9FB5-CE39-4D8F61BB41CD}"/>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المخاطر والاعتبارات الأخلاقية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لتقنية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المعلومات</a:t>
            </a:r>
          </a:p>
        </p:txBody>
      </p:sp>
    </p:spTree>
    <p:extLst>
      <p:ext uri="{BB962C8B-B14F-4D97-AF65-F5344CB8AC3E}">
        <p14:creationId xmlns:p14="http://schemas.microsoft.com/office/powerpoint/2010/main" val="40571490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DAC22-D8BB-3CE4-133E-E73F01A7AE43}"/>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F98AD047-2E7E-7F3F-DB00-3D290DC3464D}"/>
              </a:ext>
            </a:extLst>
          </p:cNvPr>
          <p:cNvSpPr txBox="1"/>
          <p:nvPr/>
        </p:nvSpPr>
        <p:spPr>
          <a:xfrm>
            <a:off x="836226" y="2654112"/>
            <a:ext cx="7909223" cy="901593"/>
          </a:xfrm>
          <a:prstGeom prst="rect">
            <a:avLst/>
          </a:prstGeom>
          <a:solidFill>
            <a:schemeClr val="accent3">
              <a:lumMod val="60000"/>
              <a:lumOff val="40000"/>
            </a:schemeClr>
          </a:solidFill>
        </p:spPr>
        <p:txBody>
          <a:bodyPr wrap="square">
            <a:spAutoFit/>
          </a:bodyPr>
          <a:lstStyle/>
          <a:p>
            <a:pPr algn="ctr" rtl="1">
              <a:lnSpc>
                <a:spcPct val="150000"/>
              </a:lnSpc>
            </a:pPr>
            <a:r>
              <a:rPr lang="ar-YE" sz="4000" b="1" dirty="0">
                <a:latin typeface="Calibri" panose="020F0502020204030204" pitchFamily="34" charset="0"/>
                <a:ea typeface="Calibri" panose="020F0502020204030204" pitchFamily="34" charset="0"/>
                <a:cs typeface="Arial" panose="020B0604020202020204" pitchFamily="34" charset="0"/>
              </a:rPr>
              <a:t>أنظمة ذكاء الاعمال و الاعمال الالكترونية</a:t>
            </a:r>
          </a:p>
        </p:txBody>
      </p:sp>
      <p:sp>
        <p:nvSpPr>
          <p:cNvPr id="2" name="자유형: 도형 24">
            <a:extLst>
              <a:ext uri="{FF2B5EF4-FFF2-40B4-BE49-F238E27FC236}">
                <a16:creationId xmlns:a16="http://schemas.microsoft.com/office/drawing/2014/main" id="{184F83F4-9EAF-73AD-A9FF-B03AF155F660}"/>
              </a:ext>
            </a:extLst>
          </p:cNvPr>
          <p:cNvSpPr/>
          <p:nvPr/>
        </p:nvSpPr>
        <p:spPr>
          <a:xfrm>
            <a:off x="8651454" y="77796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المحاضرة الخامسة</a:t>
            </a:r>
          </a:p>
        </p:txBody>
      </p:sp>
    </p:spTree>
    <p:extLst>
      <p:ext uri="{BB962C8B-B14F-4D97-AF65-F5344CB8AC3E}">
        <p14:creationId xmlns:p14="http://schemas.microsoft.com/office/powerpoint/2010/main" val="5741324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F2499-8EC1-254B-A3D8-65B3310EFB2D}"/>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624CA305-D4C1-4CAB-C17C-62E2D87AEA9E}"/>
              </a:ext>
            </a:extLst>
          </p:cNvPr>
          <p:cNvSpPr txBox="1"/>
          <p:nvPr/>
        </p:nvSpPr>
        <p:spPr>
          <a:xfrm>
            <a:off x="-29819" y="0"/>
            <a:ext cx="9464765" cy="6369885"/>
          </a:xfrm>
          <a:prstGeom prst="rect">
            <a:avLst/>
          </a:prstGeom>
          <a:solidFill>
            <a:schemeClr val="accent3">
              <a:lumMod val="60000"/>
              <a:lumOff val="40000"/>
            </a:schemeClr>
          </a:solidFill>
        </p:spPr>
        <p:txBody>
          <a:bodyPr wrap="square">
            <a:spAutoFit/>
          </a:bodyPr>
          <a:lstStyle/>
          <a:p>
            <a:pPr algn="r" rtl="1">
              <a:lnSpc>
                <a:spcPct val="150000"/>
              </a:lnSpc>
            </a:pPr>
            <a:r>
              <a:rPr lang="en-US" sz="3200" b="1" dirty="0">
                <a:highlight>
                  <a:srgbClr val="FFFF00"/>
                </a:highlight>
                <a:latin typeface="Calibri" panose="020F0502020204030204" pitchFamily="34" charset="0"/>
                <a:ea typeface="Calibri" panose="020F0502020204030204" pitchFamily="34" charset="0"/>
                <a:cs typeface="Arial" panose="020B0604020202020204" pitchFamily="34" charset="0"/>
              </a:rPr>
              <a:t>Business </a:t>
            </a:r>
            <a:r>
              <a:rPr lang="en-US" sz="3200" b="1" dirty="0" err="1">
                <a:highlight>
                  <a:srgbClr val="FFFF00"/>
                </a:highlight>
                <a:latin typeface="Calibri" panose="020F0502020204030204" pitchFamily="34" charset="0"/>
                <a:ea typeface="Calibri" panose="020F0502020204030204" pitchFamily="34" charset="0"/>
                <a:cs typeface="Arial" panose="020B0604020202020204" pitchFamily="34" charset="0"/>
              </a:rPr>
              <a:t>Intelligenc</a:t>
            </a:r>
            <a:r>
              <a:rPr lang="ar-YE" sz="3200" b="1" dirty="0">
                <a:highlight>
                  <a:srgbClr val="FFFF00"/>
                </a:highlight>
                <a:latin typeface="Calibri" panose="020F0502020204030204" pitchFamily="34" charset="0"/>
                <a:ea typeface="Calibri" panose="020F0502020204030204" pitchFamily="34" charset="0"/>
                <a:cs typeface="Arial" panose="020B0604020202020204" pitchFamily="34" charset="0"/>
              </a:rPr>
              <a:t> ذكاء الاعمال:</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عبارة عن نظريات ومنهجيات وعمليات </a:t>
            </a:r>
            <a:r>
              <a:rPr lang="ar-YE" sz="3200" b="1" dirty="0" err="1">
                <a:latin typeface="Calibri" panose="020F0502020204030204" pitchFamily="34" charset="0"/>
                <a:ea typeface="Calibri" panose="020F0502020204030204" pitchFamily="34" charset="0"/>
                <a:cs typeface="Arial" panose="020B0604020202020204" pitchFamily="34" charset="0"/>
              </a:rPr>
              <a:t>وخصاشئص</a:t>
            </a:r>
            <a:r>
              <a:rPr lang="ar-YE" sz="3200" b="1" dirty="0">
                <a:latin typeface="Calibri" panose="020F0502020204030204" pitchFamily="34" charset="0"/>
                <a:ea typeface="Calibri" panose="020F0502020204030204" pitchFamily="34" charset="0"/>
                <a:cs typeface="Arial" panose="020B0604020202020204" pitchFamily="34" charset="0"/>
              </a:rPr>
              <a:t> وتقنيات تقوم على تحويل البيانات الأولية الى معلومات مفيدة في اتخاذ القرار</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تكنولوجيا ذكاء الاعمال توفر اراء </a:t>
            </a:r>
            <a:r>
              <a:rPr lang="ar-YE" sz="3200" b="1" dirty="0" err="1">
                <a:latin typeface="Calibri" panose="020F0502020204030204" pitchFamily="34" charset="0"/>
                <a:ea typeface="Calibri" panose="020F0502020204030204" pitchFamily="34" charset="0"/>
                <a:cs typeface="Arial" panose="020B0604020202020204" pitchFamily="34" charset="0"/>
              </a:rPr>
              <a:t>تارخية</a:t>
            </a:r>
            <a:r>
              <a:rPr lang="ar-YE" sz="3200" b="1" dirty="0">
                <a:latin typeface="Calibri" panose="020F0502020204030204" pitchFamily="34" charset="0"/>
                <a:ea typeface="Calibri" panose="020F0502020204030204" pitchFamily="34" charset="0"/>
                <a:cs typeface="Arial" panose="020B0604020202020204" pitchFamily="34" charset="0"/>
              </a:rPr>
              <a:t> وحالية وتنبؤية لعمليات الاعمال</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المهام  الأساسية لذكاء الاعمال ابلاغ وتحليلات </a:t>
            </a:r>
            <a:r>
              <a:rPr lang="en-US" sz="3200" b="1" dirty="0">
                <a:latin typeface="Calibri" panose="020F0502020204030204" pitchFamily="34" charset="0"/>
                <a:ea typeface="Calibri" panose="020F0502020204030204" pitchFamily="34" charset="0"/>
                <a:cs typeface="Arial" panose="020B0604020202020204" pitchFamily="34" charset="0"/>
              </a:rPr>
              <a:t>OLAP</a:t>
            </a:r>
            <a:r>
              <a:rPr lang="ar-YE" sz="3200" b="1" dirty="0">
                <a:latin typeface="Calibri" panose="020F0502020204030204" pitchFamily="34" charset="0"/>
                <a:ea typeface="Calibri" panose="020F0502020204030204" pitchFamily="34" charset="0"/>
                <a:cs typeface="Arial" panose="020B0604020202020204" pitchFamily="34" charset="0"/>
              </a:rPr>
              <a:t> واستخراج البيانات وإدارة عمليات الاعمال ومعايير القياس واستخراج نص وتحليلات تنبؤية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تهدف ذكاء الاعمال الى دعم افضل </a:t>
            </a:r>
            <a:r>
              <a:rPr lang="ar-YE" sz="3200" b="1" dirty="0" err="1">
                <a:latin typeface="Calibri" panose="020F0502020204030204" pitchFamily="34" charset="0"/>
                <a:ea typeface="Calibri" panose="020F0502020204030204" pitchFamily="34" charset="0"/>
                <a:cs typeface="Arial" panose="020B0604020202020204" pitchFamily="34" charset="0"/>
              </a:rPr>
              <a:t>لاعمال</a:t>
            </a:r>
            <a:r>
              <a:rPr lang="ar-YE" sz="3200" b="1" dirty="0">
                <a:latin typeface="Calibri" panose="020F0502020204030204" pitchFamily="34" charset="0"/>
                <a:ea typeface="Calibri" panose="020F0502020204030204" pitchFamily="34" charset="0"/>
                <a:cs typeface="Arial" panose="020B0604020202020204" pitchFamily="34" charset="0"/>
              </a:rPr>
              <a:t> صنع القرار ويسمى نظام </a:t>
            </a:r>
            <a:r>
              <a:rPr lang="en-US" sz="3200" b="1" dirty="0">
                <a:latin typeface="Calibri" panose="020F0502020204030204" pitchFamily="34" charset="0"/>
                <a:ea typeface="Calibri" panose="020F0502020204030204" pitchFamily="34" charset="0"/>
                <a:cs typeface="Arial" panose="020B0604020202020204" pitchFamily="34" charset="0"/>
              </a:rPr>
              <a:t>DSS</a:t>
            </a:r>
            <a:endParaRPr lang="ar-YE" sz="3200" b="1" dirty="0">
              <a:latin typeface="Calibri" panose="020F0502020204030204" pitchFamily="34" charset="0"/>
              <a:ea typeface="Calibri" panose="020F0502020204030204" pitchFamily="34" charset="0"/>
              <a:cs typeface="Arial" panose="020B0604020202020204" pitchFamily="34" charset="0"/>
            </a:endParaRPr>
          </a:p>
        </p:txBody>
      </p:sp>
      <p:sp>
        <p:nvSpPr>
          <p:cNvPr id="53" name="자유형: 도형 24">
            <a:extLst>
              <a:ext uri="{FF2B5EF4-FFF2-40B4-BE49-F238E27FC236}">
                <a16:creationId xmlns:a16="http://schemas.microsoft.com/office/drawing/2014/main" id="{E2AFA018-8759-9EF3-CD17-BD76D0597785}"/>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BFDA9E85-7C54-18A0-D508-E7B121EB637E}"/>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أنظمة ذكاء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الاعمال</a:t>
            </a:r>
          </a:p>
        </p:txBody>
      </p:sp>
    </p:spTree>
    <p:extLst>
      <p:ext uri="{BB962C8B-B14F-4D97-AF65-F5344CB8AC3E}">
        <p14:creationId xmlns:p14="http://schemas.microsoft.com/office/powerpoint/2010/main" val="7020286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8D6CC-203F-AA28-818F-FBC6464DB12B}"/>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3B0A6FC3-91D9-9E72-E73F-F6D23302BA57}"/>
              </a:ext>
            </a:extLst>
          </p:cNvPr>
          <p:cNvSpPr txBox="1"/>
          <p:nvPr/>
        </p:nvSpPr>
        <p:spPr>
          <a:xfrm>
            <a:off x="76056" y="702649"/>
            <a:ext cx="9464765" cy="5213415"/>
          </a:xfrm>
          <a:prstGeom prst="rect">
            <a:avLst/>
          </a:prstGeom>
          <a:solidFill>
            <a:schemeClr val="accent3">
              <a:lumMod val="60000"/>
              <a:lumOff val="40000"/>
            </a:schemeClr>
          </a:solidFill>
        </p:spPr>
        <p:txBody>
          <a:bodyPr wrap="square">
            <a:spAutoFit/>
          </a:bodyPr>
          <a:lstStyle/>
          <a:p>
            <a:pPr algn="r" rtl="1">
              <a:lnSpc>
                <a:spcPct val="150000"/>
              </a:lnSpc>
            </a:pPr>
            <a:r>
              <a:rPr lang="ar-YE" sz="3200" b="1" dirty="0">
                <a:highlight>
                  <a:srgbClr val="FFFF00"/>
                </a:highlight>
                <a:latin typeface="Calibri" panose="020F0502020204030204" pitchFamily="34" charset="0"/>
                <a:ea typeface="Calibri" panose="020F0502020204030204" pitchFamily="34" charset="0"/>
                <a:cs typeface="Arial" panose="020B0604020202020204" pitchFamily="34" charset="0"/>
              </a:rPr>
              <a:t>ذكاء الاعمال كعملية :</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تعتبر عملية مستمرة لأي منظمة تجمع بشكل مستمر وتسجل وتحلل بيانات واعمال المنظمة ولفقا </a:t>
            </a:r>
            <a:r>
              <a:rPr lang="ar-YE" sz="3200" b="1" dirty="0" err="1">
                <a:latin typeface="Calibri" panose="020F0502020204030204" pitchFamily="34" charset="0"/>
                <a:ea typeface="Calibri" panose="020F0502020204030204" pitchFamily="34" charset="0"/>
                <a:cs typeface="Arial" panose="020B0604020202020204" pitchFamily="34" charset="0"/>
              </a:rPr>
              <a:t>لاهداف</a:t>
            </a:r>
            <a:r>
              <a:rPr lang="ar-YE" sz="3200" b="1" dirty="0">
                <a:latin typeface="Calibri" panose="020F0502020204030204" pitchFamily="34" charset="0"/>
                <a:ea typeface="Calibri" panose="020F0502020204030204" pitchFamily="34" charset="0"/>
                <a:cs typeface="Arial" panose="020B0604020202020204" pitchFamily="34" charset="0"/>
              </a:rPr>
              <a:t> معينة </a:t>
            </a:r>
            <a:r>
              <a:rPr lang="ar-YE" sz="3200" b="1" dirty="0" err="1">
                <a:latin typeface="Calibri" panose="020F0502020204030204" pitchFamily="34" charset="0"/>
                <a:ea typeface="Calibri" panose="020F0502020204030204" pitchFamily="34" charset="0"/>
                <a:cs typeface="Arial" panose="020B0604020202020204" pitchFamily="34" charset="0"/>
              </a:rPr>
              <a:t>وتسخدم</a:t>
            </a:r>
            <a:r>
              <a:rPr lang="ar-YE" sz="3200" b="1" dirty="0">
                <a:latin typeface="Calibri" panose="020F0502020204030204" pitchFamily="34" charset="0"/>
                <a:ea typeface="Calibri" panose="020F0502020204030204" pitchFamily="34" charset="0"/>
                <a:cs typeface="Arial" panose="020B0604020202020204" pitchFamily="34" charset="0"/>
              </a:rPr>
              <a:t> نتائجها في عملية اتخاذ القرار لتحسين أداء المنظمة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highlight>
                  <a:srgbClr val="FFFF00"/>
                </a:highlight>
                <a:latin typeface="Calibri" panose="020F0502020204030204" pitchFamily="34" charset="0"/>
                <a:ea typeface="Calibri" panose="020F0502020204030204" pitchFamily="34" charset="0"/>
                <a:cs typeface="Arial" panose="020B0604020202020204" pitchFamily="34" charset="0"/>
              </a:rPr>
              <a:t>ذكاء الاعمال كتكنولوجيا:</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highlight>
                  <a:srgbClr val="FFFF00"/>
                </a:highlight>
                <a:latin typeface="Calibri" panose="020F0502020204030204" pitchFamily="34" charset="0"/>
                <a:ea typeface="Calibri" panose="020F0502020204030204" pitchFamily="34" charset="0"/>
                <a:cs typeface="Arial" panose="020B0604020202020204" pitchFamily="34" charset="0"/>
              </a:rPr>
              <a:t>مجموعة من التقنيات في تكنولوجيا المعلومات تعطي ذكاء الاعمال مضمون وشكل ويعكس العمليات الاستراتيجية والثقافة والأدوات والهيكلة والمعايير والتقنيات المتعددة التي تنتتج ذكاء للمنظمة داعمة </a:t>
            </a:r>
            <a:r>
              <a:rPr lang="ar-YE" sz="3200" b="1" dirty="0" err="1">
                <a:highlight>
                  <a:srgbClr val="FFFF00"/>
                </a:highlight>
                <a:latin typeface="Calibri" panose="020F0502020204030204" pitchFamily="34" charset="0"/>
                <a:ea typeface="Calibri" panose="020F0502020204030204" pitchFamily="34" charset="0"/>
                <a:cs typeface="Arial" panose="020B0604020202020204" pitchFamily="34" charset="0"/>
              </a:rPr>
              <a:t>للقرارت</a:t>
            </a:r>
            <a:r>
              <a:rPr lang="ar-YE" sz="3200" b="1" dirty="0">
                <a:highlight>
                  <a:srgbClr val="FFFF00"/>
                </a:highlight>
                <a:latin typeface="Calibri" panose="020F0502020204030204" pitchFamily="34" charset="0"/>
                <a:ea typeface="Calibri" panose="020F0502020204030204" pitchFamily="34" charset="0"/>
                <a:cs typeface="Arial" panose="020B0604020202020204" pitchFamily="34" charset="0"/>
              </a:rPr>
              <a:t> التي تسهم في التميز التنظيمي.</a:t>
            </a:r>
          </a:p>
        </p:txBody>
      </p:sp>
      <p:sp>
        <p:nvSpPr>
          <p:cNvPr id="53" name="자유형: 도형 24">
            <a:extLst>
              <a:ext uri="{FF2B5EF4-FFF2-40B4-BE49-F238E27FC236}">
                <a16:creationId xmlns:a16="http://schemas.microsoft.com/office/drawing/2014/main" id="{10CA1278-41F1-1530-17C2-E8541C7566CC}"/>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672C5F6D-C7CA-51F9-D89F-1CB6FDD4F24B}"/>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ذكاء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الاعمال</a:t>
            </a:r>
            <a:endParaRPr lang="en-US" sz="4000" b="1" dirty="0">
              <a:latin typeface="Calibri" panose="020F0502020204030204" pitchFamily="34" charset="0"/>
              <a:ea typeface="Calibri" panose="020F0502020204030204" pitchFamily="34" charset="0"/>
              <a:cs typeface="Arial" panose="020B0604020202020204" pitchFamily="34" charset="0"/>
            </a:endParaRPr>
          </a:p>
          <a:p>
            <a:pPr algn="ctr" rtl="1"/>
            <a:r>
              <a:rPr lang="ar-YE" sz="4000" b="1" dirty="0">
                <a:latin typeface="Calibri" panose="020F0502020204030204" pitchFamily="34" charset="0"/>
                <a:ea typeface="Calibri" panose="020F0502020204030204" pitchFamily="34" charset="0"/>
                <a:cs typeface="Arial" panose="020B0604020202020204" pitchFamily="34" charset="0"/>
              </a:rPr>
              <a:t>كعملية</a:t>
            </a:r>
          </a:p>
        </p:txBody>
      </p:sp>
    </p:spTree>
    <p:extLst>
      <p:ext uri="{BB962C8B-B14F-4D97-AF65-F5344CB8AC3E}">
        <p14:creationId xmlns:p14="http://schemas.microsoft.com/office/powerpoint/2010/main" val="20727396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DE607-E9D7-CF72-63F7-00E78771FF62}"/>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5FA5659C-01E6-F4DA-C6BC-02597672B326}"/>
              </a:ext>
            </a:extLst>
          </p:cNvPr>
          <p:cNvSpPr txBox="1"/>
          <p:nvPr/>
        </p:nvSpPr>
        <p:spPr>
          <a:xfrm>
            <a:off x="54474" y="577279"/>
            <a:ext cx="9258590" cy="5910401"/>
          </a:xfrm>
          <a:prstGeom prst="rect">
            <a:avLst/>
          </a:prstGeom>
          <a:solidFill>
            <a:schemeClr val="accent3">
              <a:lumMod val="60000"/>
              <a:lumOff val="40000"/>
            </a:schemeClr>
          </a:solidFill>
        </p:spPr>
        <p:txBody>
          <a:bodyPr wrap="square">
            <a:spAutoFit/>
          </a:bodyPr>
          <a:lstStyle/>
          <a:p>
            <a:pPr algn="r" rtl="1">
              <a:lnSpc>
                <a:spcPct val="150000"/>
              </a:lnSpc>
            </a:pPr>
            <a:r>
              <a:rPr lang="ar-YE" sz="3200" b="1" dirty="0">
                <a:highlight>
                  <a:srgbClr val="FFFF00"/>
                </a:highlight>
                <a:latin typeface="Calibri" panose="020F0502020204030204" pitchFamily="34" charset="0"/>
                <a:ea typeface="Calibri" panose="020F0502020204030204" pitchFamily="34" charset="0"/>
                <a:cs typeface="Arial" panose="020B0604020202020204" pitchFamily="34" charset="0"/>
              </a:rPr>
              <a:t>أنظمة ذكاء الاعمال وتخزين البيانات:</a:t>
            </a:r>
          </a:p>
          <a:p>
            <a:pPr marL="457200" indent="-457200" algn="r" rtl="1">
              <a:lnSpc>
                <a:spcPct val="150000"/>
              </a:lnSpc>
              <a:buFont typeface="Arial" panose="020B0604020202020204" pitchFamily="34" charset="0"/>
              <a:buChar char="•"/>
            </a:pPr>
            <a:r>
              <a:rPr lang="ar-YE" sz="3200" b="1" dirty="0">
                <a:highlight>
                  <a:srgbClr val="FFFF00"/>
                </a:highlight>
                <a:latin typeface="Calibri" panose="020F0502020204030204" pitchFamily="34" charset="0"/>
                <a:ea typeface="Calibri" panose="020F0502020204030204" pitchFamily="34" charset="0"/>
                <a:cs typeface="Arial" panose="020B0604020202020204" pitchFamily="34" charset="0"/>
              </a:rPr>
              <a:t>الامر المتفق عليه ان جميع منظمات العالم تواجه تحدي مشترك وحقيقة واحدة هي استخدام البيانات المتوفرة بطريقة مثلى لاتخاذ القرار المناسب</a:t>
            </a:r>
          </a:p>
          <a:p>
            <a:pPr marL="457200" indent="-457200" algn="r" rtl="1">
              <a:lnSpc>
                <a:spcPct val="150000"/>
              </a:lnSpc>
              <a:buFont typeface="Arial" panose="020B0604020202020204" pitchFamily="34" charset="0"/>
              <a:buChar char="•"/>
            </a:pPr>
            <a:r>
              <a:rPr lang="ar-YE" sz="3200" b="1" dirty="0" err="1">
                <a:latin typeface="Calibri" panose="020F0502020204030204" pitchFamily="34" charset="0"/>
                <a:ea typeface="Calibri" panose="020F0502020204030204" pitchFamily="34" charset="0"/>
                <a:cs typeface="Arial" panose="020B0604020202020204" pitchFamily="34" charset="0"/>
              </a:rPr>
              <a:t>تسخدم</a:t>
            </a:r>
            <a:r>
              <a:rPr lang="ar-YE" sz="3200" b="1" dirty="0">
                <a:latin typeface="Calibri" panose="020F0502020204030204" pitchFamily="34" charset="0"/>
                <a:ea typeface="Calibri" panose="020F0502020204030204" pitchFamily="34" charset="0"/>
                <a:cs typeface="Arial" panose="020B0604020202020204" pitchFamily="34" charset="0"/>
              </a:rPr>
              <a:t> تطبيقات ذكاء الاعمال للبيانات التي تم جمعها وتخزينها الا ان مخازن البيانات ليست كلها قابلة للاستخدام في برامج ذكاء الاعمال  ولا كل تطبيقات ذكاء الاعمال تتطلب مخزن بيانات </a:t>
            </a:r>
          </a:p>
          <a:p>
            <a:pPr marL="457200" indent="-457200" algn="r" rtl="1">
              <a:lnSpc>
                <a:spcPct val="150000"/>
              </a:lnSpc>
              <a:buFont typeface="Arial" panose="020B0604020202020204" pitchFamily="34" charset="0"/>
              <a:buChar char="•"/>
            </a:pPr>
            <a:endParaRPr lang="ar-YE" sz="3200" b="1" dirty="0">
              <a:latin typeface="Calibri" panose="020F0502020204030204" pitchFamily="34" charset="0"/>
              <a:ea typeface="Calibri" panose="020F0502020204030204" pitchFamily="34" charset="0"/>
              <a:cs typeface="Arial" panose="020B0604020202020204" pitchFamily="34" charset="0"/>
            </a:endParaRPr>
          </a:p>
        </p:txBody>
      </p:sp>
      <p:sp>
        <p:nvSpPr>
          <p:cNvPr id="2" name="자유형: 도형 24">
            <a:extLst>
              <a:ext uri="{FF2B5EF4-FFF2-40B4-BE49-F238E27FC236}">
                <a16:creationId xmlns:a16="http://schemas.microsoft.com/office/drawing/2014/main" id="{2C46EF17-2A29-6911-2177-BD2264E85801}"/>
              </a:ext>
            </a:extLst>
          </p:cNvPr>
          <p:cNvSpPr/>
          <p:nvPr/>
        </p:nvSpPr>
        <p:spPr>
          <a:xfrm>
            <a:off x="9160662" y="991568"/>
            <a:ext cx="2972673"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أنظمة ذكاء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الاعمال</a:t>
            </a:r>
          </a:p>
        </p:txBody>
      </p:sp>
    </p:spTree>
    <p:extLst>
      <p:ext uri="{BB962C8B-B14F-4D97-AF65-F5344CB8AC3E}">
        <p14:creationId xmlns:p14="http://schemas.microsoft.com/office/powerpoint/2010/main" val="20830115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7DEA1-21D6-C177-90B0-37671AB986AE}"/>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C868823C-62B4-CCFA-1920-8EF0A8C5702B}"/>
              </a:ext>
            </a:extLst>
          </p:cNvPr>
          <p:cNvSpPr txBox="1"/>
          <p:nvPr/>
        </p:nvSpPr>
        <p:spPr>
          <a:xfrm>
            <a:off x="84952" y="577516"/>
            <a:ext cx="9464765" cy="5945538"/>
          </a:xfrm>
          <a:prstGeom prst="rect">
            <a:avLst/>
          </a:prstGeom>
          <a:solidFill>
            <a:schemeClr val="accent3">
              <a:lumMod val="60000"/>
              <a:lumOff val="40000"/>
            </a:schemeClr>
          </a:solidFill>
        </p:spPr>
        <p:txBody>
          <a:bodyPr wrap="square">
            <a:spAutoFit/>
          </a:bodyPr>
          <a:lstStyle/>
          <a:p>
            <a:pPr algn="r" rtl="1">
              <a:lnSpc>
                <a:spcPct val="150000"/>
              </a:lnSpc>
            </a:pPr>
            <a:r>
              <a:rPr lang="ar-YE" sz="3200" b="1" dirty="0">
                <a:highlight>
                  <a:srgbClr val="FFFF00"/>
                </a:highlight>
                <a:latin typeface="Calibri" panose="020F0502020204030204" pitchFamily="34" charset="0"/>
                <a:ea typeface="Calibri" panose="020F0502020204030204" pitchFamily="34" charset="0"/>
                <a:cs typeface="Arial" panose="020B0604020202020204" pitchFamily="34" charset="0"/>
              </a:rPr>
              <a:t>اهم التحديات التي تواجه ذكاء الاعمال:</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تخزين البيانات والمعلومات في ملفات وقواعد بيانات متعددة وغير مترابطة مع بعضها البعض</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عدم ربط البيانات المتعددة المصادر لتوفير رؤية موجدة ومتكاملة عن المنظمة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عدم القدرة على متابعة تنفيذ الاستراتيجيات والخطط المحددة من واقع البيانات والمؤشرات</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ضعف جودة البيانات وصعوبة تحليلها وخصوصا التاريخية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عدم القدرة على استخدام العرض والتصميم المناسب لكل مؤشر واحصائية من خلال الرسومات البيانية وربط قواعد البيانات بها</a:t>
            </a:r>
          </a:p>
        </p:txBody>
      </p:sp>
      <p:sp>
        <p:nvSpPr>
          <p:cNvPr id="53" name="자유형: 도형 24">
            <a:extLst>
              <a:ext uri="{FF2B5EF4-FFF2-40B4-BE49-F238E27FC236}">
                <a16:creationId xmlns:a16="http://schemas.microsoft.com/office/drawing/2014/main" id="{3494517E-F0F1-B9FC-14A7-53E643E9F2F9}"/>
              </a:ext>
            </a:extLst>
          </p:cNvPr>
          <p:cNvSpPr/>
          <p:nvPr/>
        </p:nvSpPr>
        <p:spPr>
          <a:xfrm>
            <a:off x="9021174" y="1850497"/>
            <a:ext cx="2933473" cy="2637264"/>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4">
              <a:lumMod val="50000"/>
            </a:schemeClr>
          </a:solidFill>
          <a:ln w="9525" cap="flat">
            <a:noFill/>
            <a:prstDash val="solid"/>
            <a:miter/>
          </a:ln>
        </p:spPr>
        <p:txBody>
          <a:bodyPr rtlCol="0" anchor="ctr"/>
          <a:lstStyle/>
          <a:p>
            <a:pPr algn="ctr" rtl="1"/>
            <a:r>
              <a:rPr lang="ar-YE" sz="4800" b="1" dirty="0">
                <a:latin typeface="Calibri" panose="020F0502020204030204" pitchFamily="34" charset="0"/>
                <a:ea typeface="Calibri" panose="020F0502020204030204" pitchFamily="34" charset="0"/>
                <a:cs typeface="Arial" panose="020B0604020202020204" pitchFamily="34" charset="0"/>
              </a:rPr>
              <a:t>إدارة</a:t>
            </a:r>
          </a:p>
          <a:p>
            <a:pPr algn="r" rtl="1"/>
            <a:r>
              <a:rPr lang="ar-YE" sz="4800" b="1" dirty="0">
                <a:latin typeface="Calibri" panose="020F0502020204030204" pitchFamily="34" charset="0"/>
                <a:ea typeface="Calibri" panose="020F0502020204030204" pitchFamily="34" charset="0"/>
                <a:cs typeface="Arial" panose="020B0604020202020204" pitchFamily="34" charset="0"/>
              </a:rPr>
              <a:t> المعلومات</a:t>
            </a:r>
          </a:p>
        </p:txBody>
      </p:sp>
      <p:sp>
        <p:nvSpPr>
          <p:cNvPr id="2" name="자유형: 도형 24">
            <a:extLst>
              <a:ext uri="{FF2B5EF4-FFF2-40B4-BE49-F238E27FC236}">
                <a16:creationId xmlns:a16="http://schemas.microsoft.com/office/drawing/2014/main" id="{EFBC027F-D97E-AF91-81CA-2E8908A46C58}"/>
              </a:ext>
            </a:extLst>
          </p:cNvPr>
          <p:cNvSpPr/>
          <p:nvPr/>
        </p:nvSpPr>
        <p:spPr>
          <a:xfrm>
            <a:off x="8748216" y="76427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أنظمة ذكاء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الاعمال</a:t>
            </a:r>
          </a:p>
        </p:txBody>
      </p:sp>
    </p:spTree>
    <p:extLst>
      <p:ext uri="{BB962C8B-B14F-4D97-AF65-F5344CB8AC3E}">
        <p14:creationId xmlns:p14="http://schemas.microsoft.com/office/powerpoint/2010/main" val="10363753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E4DDB-0B5A-9A3E-96A8-AADF9064D6FF}"/>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5872D411-4089-4A23-7FB1-4BD58C8F127F}"/>
              </a:ext>
            </a:extLst>
          </p:cNvPr>
          <p:cNvSpPr txBox="1"/>
          <p:nvPr/>
        </p:nvSpPr>
        <p:spPr>
          <a:xfrm>
            <a:off x="336884" y="163632"/>
            <a:ext cx="8693069" cy="6150723"/>
          </a:xfrm>
          <a:prstGeom prst="rect">
            <a:avLst/>
          </a:prstGeom>
          <a:solidFill>
            <a:schemeClr val="accent3">
              <a:lumMod val="60000"/>
              <a:lumOff val="40000"/>
            </a:schemeClr>
          </a:solidFill>
        </p:spPr>
        <p:txBody>
          <a:bodyPr wrap="square">
            <a:spAutoFit/>
          </a:bodyPr>
          <a:lstStyle/>
          <a:p>
            <a:pPr algn="r" rtl="1">
              <a:lnSpc>
                <a:spcPct val="150000"/>
              </a:lnSpc>
            </a:pPr>
            <a:r>
              <a:rPr lang="ar-YE" sz="3200" b="1" dirty="0">
                <a:highlight>
                  <a:srgbClr val="FFFF00"/>
                </a:highlight>
                <a:latin typeface="Calibri" panose="020F0502020204030204" pitchFamily="34" charset="0"/>
                <a:ea typeface="Calibri" panose="020F0502020204030204" pitchFamily="34" charset="0"/>
                <a:cs typeface="Arial" panose="020B0604020202020204" pitchFamily="34" charset="0"/>
              </a:rPr>
              <a:t>الثورة الرقمية وذكاء الاعمال:</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err="1">
                <a:latin typeface="Calibri" panose="020F0502020204030204" pitchFamily="34" charset="0"/>
                <a:ea typeface="Calibri" panose="020F0502020204030204" pitchFamily="34" charset="0"/>
                <a:cs typeface="Arial" panose="020B0604020202020204" pitchFamily="34" charset="0"/>
              </a:rPr>
              <a:t>الرقمنة</a:t>
            </a:r>
            <a:r>
              <a:rPr lang="ar-YE" sz="3200" b="1" dirty="0">
                <a:latin typeface="Calibri" panose="020F0502020204030204" pitchFamily="34" charset="0"/>
                <a:ea typeface="Calibri" panose="020F0502020204030204" pitchFamily="34" charset="0"/>
                <a:cs typeface="Arial" panose="020B0604020202020204" pitchFamily="34" charset="0"/>
              </a:rPr>
              <a:t> هي عملية تحويل كافة السلع والخدمات والتعامل معها الى شكل رقمي يسهل تداوله عبر النت (بين طرفي اصبعين)</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ابرز مظاهر وعلامات الثورة الرقمية :</a:t>
            </a:r>
          </a:p>
          <a:p>
            <a:pPr marL="742950" lvl="0" indent="-742950" algn="r" rtl="1">
              <a:lnSpc>
                <a:spcPct val="107000"/>
              </a:lnSpc>
              <a:spcAft>
                <a:spcPts val="800"/>
              </a:spcAft>
              <a:buSzPts val="1000"/>
              <a:buFont typeface="+mj-lt"/>
              <a:buAutoNum type="arabicPeriod"/>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العولمة</a:t>
            </a:r>
          </a:p>
          <a:p>
            <a:pPr marL="742950" lvl="0" indent="-742950" algn="r" rtl="1">
              <a:lnSpc>
                <a:spcPct val="107000"/>
              </a:lnSpc>
              <a:spcAft>
                <a:spcPts val="800"/>
              </a:spcAft>
              <a:buSzPts val="1000"/>
              <a:buFont typeface="+mj-lt"/>
              <a:buAutoNum type="arabicPeriod"/>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السرعة</a:t>
            </a:r>
          </a:p>
          <a:p>
            <a:pPr marL="742950" lvl="0" indent="-742950" algn="r" rtl="1">
              <a:lnSpc>
                <a:spcPct val="107000"/>
              </a:lnSpc>
              <a:spcAft>
                <a:spcPts val="800"/>
              </a:spcAft>
              <a:buSzPts val="1000"/>
              <a:buFont typeface="+mj-lt"/>
              <a:buAutoNum type="arabicPeriod"/>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التقارب </a:t>
            </a:r>
          </a:p>
          <a:p>
            <a:pPr marL="742950" lvl="0" indent="-742950" algn="r" rtl="1">
              <a:lnSpc>
                <a:spcPct val="107000"/>
              </a:lnSpc>
              <a:spcAft>
                <a:spcPts val="800"/>
              </a:spcAft>
              <a:buSzPts val="1000"/>
              <a:buFont typeface="+mj-lt"/>
              <a:buAutoNum type="arabicPeriod"/>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الاختراعات</a:t>
            </a:r>
          </a:p>
          <a:p>
            <a:pPr marL="742950" lvl="0" indent="-742950" algn="r" rtl="1">
              <a:lnSpc>
                <a:spcPct val="107000"/>
              </a:lnSpc>
              <a:spcAft>
                <a:spcPts val="800"/>
              </a:spcAft>
              <a:buSzPts val="1000"/>
              <a:buFont typeface="+mj-lt"/>
              <a:buAutoNum type="arabicPeriod"/>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نماذج واليات عمل تكنولوجية جديدة</a:t>
            </a:r>
          </a:p>
        </p:txBody>
      </p:sp>
      <p:sp>
        <p:nvSpPr>
          <p:cNvPr id="2" name="자유형: 도형 24">
            <a:extLst>
              <a:ext uri="{FF2B5EF4-FFF2-40B4-BE49-F238E27FC236}">
                <a16:creationId xmlns:a16="http://schemas.microsoft.com/office/drawing/2014/main" id="{9B5CB988-4725-006A-81EF-00B4A621A4A3}"/>
              </a:ext>
            </a:extLst>
          </p:cNvPr>
          <p:cNvSpPr/>
          <p:nvPr/>
        </p:nvSpPr>
        <p:spPr>
          <a:xfrm>
            <a:off x="8748216" y="1223342"/>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الثورة الرقمية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وإدارة الاعمال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الالكترونية</a:t>
            </a:r>
          </a:p>
        </p:txBody>
      </p:sp>
    </p:spTree>
    <p:extLst>
      <p:ext uri="{BB962C8B-B14F-4D97-AF65-F5344CB8AC3E}">
        <p14:creationId xmlns:p14="http://schemas.microsoft.com/office/powerpoint/2010/main" val="22516539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D1621-FF9C-23DA-1E1B-9EE7C3E34827}"/>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B116F95B-4C6F-2F3E-8ADA-46F23ED0FE0F}"/>
              </a:ext>
            </a:extLst>
          </p:cNvPr>
          <p:cNvSpPr txBox="1"/>
          <p:nvPr/>
        </p:nvSpPr>
        <p:spPr>
          <a:xfrm>
            <a:off x="84952" y="1349231"/>
            <a:ext cx="8693069" cy="4159537"/>
          </a:xfrm>
          <a:prstGeom prst="rect">
            <a:avLst/>
          </a:prstGeom>
          <a:solidFill>
            <a:schemeClr val="accent3">
              <a:lumMod val="60000"/>
              <a:lumOff val="40000"/>
            </a:schemeClr>
          </a:solidFill>
        </p:spPr>
        <p:txBody>
          <a:bodyPr wrap="square">
            <a:spAutoFit/>
          </a:bodyPr>
          <a:lstStyle/>
          <a:p>
            <a:pPr algn="r" rtl="1">
              <a:lnSpc>
                <a:spcPct val="150000"/>
              </a:lnSpc>
            </a:pPr>
            <a:r>
              <a:rPr lang="ar-YE" sz="3200" b="1" dirty="0">
                <a:highlight>
                  <a:srgbClr val="FFFF00"/>
                </a:highlight>
                <a:latin typeface="Calibri" panose="020F0502020204030204" pitchFamily="34" charset="0"/>
                <a:ea typeface="Calibri" panose="020F0502020204030204" pitchFamily="34" charset="0"/>
                <a:cs typeface="Arial" panose="020B0604020202020204" pitchFamily="34" charset="0"/>
              </a:rPr>
              <a:t>الاقتصاد الرقمي:</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اقتصاد قائمة على التكنولوجيا الرقمية والتي تتضمن الحواسيب والبرامج والشبكات الحاسوبية والمرتبطة بتكنولوجيا المعلومات الحديثة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يسمى اقتصاد النت او الاقتصاد الجديد او اقتصاد الاعمال والتجارة الالكترونية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اقتصاديات تقنيات الاعمال الذكية</a:t>
            </a:r>
          </a:p>
        </p:txBody>
      </p:sp>
      <p:sp>
        <p:nvSpPr>
          <p:cNvPr id="2" name="자유형: 도형 24">
            <a:extLst>
              <a:ext uri="{FF2B5EF4-FFF2-40B4-BE49-F238E27FC236}">
                <a16:creationId xmlns:a16="http://schemas.microsoft.com/office/drawing/2014/main" id="{DEFFC6D9-FF71-656F-33D6-8B30D6BE1677}"/>
              </a:ext>
            </a:extLst>
          </p:cNvPr>
          <p:cNvSpPr/>
          <p:nvPr/>
        </p:nvSpPr>
        <p:spPr>
          <a:xfrm>
            <a:off x="8748216" y="1223342"/>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الثورة الرقمية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وإدارة الاعمال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الالكترونية</a:t>
            </a:r>
          </a:p>
        </p:txBody>
      </p:sp>
    </p:spTree>
    <p:extLst>
      <p:ext uri="{BB962C8B-B14F-4D97-AF65-F5344CB8AC3E}">
        <p14:creationId xmlns:p14="http://schemas.microsoft.com/office/powerpoint/2010/main" val="10992062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42D5B-9EC7-FA67-312F-D71C12522542}"/>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1CAD9AF0-2F01-230F-9AFE-6904FDA8EA69}"/>
              </a:ext>
            </a:extLst>
          </p:cNvPr>
          <p:cNvSpPr txBox="1"/>
          <p:nvPr/>
        </p:nvSpPr>
        <p:spPr>
          <a:xfrm>
            <a:off x="317634" y="1733985"/>
            <a:ext cx="8693069" cy="3632598"/>
          </a:xfrm>
          <a:prstGeom prst="rect">
            <a:avLst/>
          </a:prstGeom>
          <a:solidFill>
            <a:schemeClr val="accent3">
              <a:lumMod val="60000"/>
              <a:lumOff val="40000"/>
            </a:schemeClr>
          </a:solidFill>
        </p:spPr>
        <p:txBody>
          <a:bodyPr wrap="square">
            <a:spAutoFit/>
          </a:bodyPr>
          <a:lstStyle/>
          <a:p>
            <a:pPr algn="r" rtl="1">
              <a:lnSpc>
                <a:spcPct val="150000"/>
              </a:lnSpc>
            </a:pPr>
            <a:r>
              <a:rPr lang="ar-YE" sz="3200" b="1" dirty="0">
                <a:highlight>
                  <a:srgbClr val="FFFF00"/>
                </a:highlight>
                <a:latin typeface="Calibri" panose="020F0502020204030204" pitchFamily="34" charset="0"/>
                <a:ea typeface="Calibri" panose="020F0502020204030204" pitchFamily="34" charset="0"/>
                <a:cs typeface="Arial" panose="020B0604020202020204" pitchFamily="34" charset="0"/>
              </a:rPr>
              <a:t>التجارة الالكترونية: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عمليات البيع والشراء وتبادل السلع من خلال الانترنت ولها عمليات مالية </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التجارة الالكترونية تمثل جانب المبيعات في تقنيات الاعمال الالكترونية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من امثلتها تجارة </a:t>
            </a:r>
            <a:r>
              <a:rPr lang="ar-YE" sz="3200" b="1" dirty="0" err="1">
                <a:latin typeface="Calibri" panose="020F0502020204030204" pitchFamily="34" charset="0"/>
                <a:ea typeface="Calibri" panose="020F0502020204030204" pitchFamily="34" charset="0"/>
                <a:cs typeface="Arial" panose="020B0604020202020204" pitchFamily="34" charset="0"/>
              </a:rPr>
              <a:t>التاجزئة</a:t>
            </a:r>
            <a:r>
              <a:rPr lang="ar-YE" sz="3200" b="1" dirty="0">
                <a:latin typeface="Calibri" panose="020F0502020204030204" pitchFamily="34" charset="0"/>
                <a:ea typeface="Calibri" panose="020F0502020204030204" pitchFamily="34" charset="0"/>
                <a:cs typeface="Arial" panose="020B0604020202020204" pitchFamily="34" charset="0"/>
              </a:rPr>
              <a:t> والمزادات الالكترونية</a:t>
            </a:r>
          </a:p>
        </p:txBody>
      </p:sp>
      <p:sp>
        <p:nvSpPr>
          <p:cNvPr id="2" name="자유형: 도형 24">
            <a:extLst>
              <a:ext uri="{FF2B5EF4-FFF2-40B4-BE49-F238E27FC236}">
                <a16:creationId xmlns:a16="http://schemas.microsoft.com/office/drawing/2014/main" id="{352DEBEE-C7C0-1885-3D9E-7C7E74172A65}"/>
              </a:ext>
            </a:extLst>
          </p:cNvPr>
          <p:cNvSpPr/>
          <p:nvPr/>
        </p:nvSpPr>
        <p:spPr>
          <a:xfrm>
            <a:off x="8748216" y="1223342"/>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التجارة و الاعمال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الالكترونية</a:t>
            </a:r>
          </a:p>
        </p:txBody>
      </p:sp>
    </p:spTree>
    <p:extLst>
      <p:ext uri="{BB962C8B-B14F-4D97-AF65-F5344CB8AC3E}">
        <p14:creationId xmlns:p14="http://schemas.microsoft.com/office/powerpoint/2010/main" val="18159739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1AF8E-8564-654B-8C65-40C2C5A8E555}"/>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9DFF9409-2F0A-9D6A-7F29-1D7A89AFDCD8}"/>
              </a:ext>
            </a:extLst>
          </p:cNvPr>
          <p:cNvSpPr txBox="1"/>
          <p:nvPr/>
        </p:nvSpPr>
        <p:spPr>
          <a:xfrm>
            <a:off x="279133" y="770996"/>
            <a:ext cx="8693069" cy="5316007"/>
          </a:xfrm>
          <a:prstGeom prst="rect">
            <a:avLst/>
          </a:prstGeom>
          <a:solidFill>
            <a:schemeClr val="accent3">
              <a:lumMod val="60000"/>
              <a:lumOff val="40000"/>
            </a:schemeClr>
          </a:solidFill>
        </p:spPr>
        <p:txBody>
          <a:bodyPr wrap="square">
            <a:spAutoFit/>
          </a:bodyPr>
          <a:lstStyle/>
          <a:p>
            <a:pPr algn="r" rtl="1">
              <a:lnSpc>
                <a:spcPct val="150000"/>
              </a:lnSpc>
            </a:pPr>
            <a:r>
              <a:rPr lang="ar-YE" sz="3200" b="1" dirty="0">
                <a:highlight>
                  <a:srgbClr val="FFFF00"/>
                </a:highlight>
                <a:latin typeface="Calibri" panose="020F0502020204030204" pitchFamily="34" charset="0"/>
                <a:ea typeface="Calibri" panose="020F0502020204030204" pitchFamily="34" charset="0"/>
                <a:cs typeface="Arial" panose="020B0604020202020204" pitchFamily="34" charset="0"/>
              </a:rPr>
              <a:t>الاعمال الالكترونية: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هي أوسع من التجارة الالكترونية بحيث تشمل كافة نشاطات واعمال المنظمات ولا تقتصر على عمليات البيع والشراء فقط</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تمتد للتعامل مع العملاء ومشاركتهم بيانات ومعلومات المنظمة ومشاركة المنظمة لمعلوماتها وادارتها</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إدارة العلاقة مع الزبائن والموارد البشرية والأطراف الاخرى</a:t>
            </a:r>
          </a:p>
          <a:p>
            <a:pPr marL="742950" lvl="0" indent="-742950" algn="r" rtl="1">
              <a:lnSpc>
                <a:spcPct val="107000"/>
              </a:lnSpc>
              <a:spcAft>
                <a:spcPts val="800"/>
              </a:spcAft>
              <a:buSzPts val="1000"/>
              <a:buFont typeface="Wingdings" panose="05000000000000000000" pitchFamily="2" charset="2"/>
              <a:buChar char="v"/>
              <a:tabLst>
                <a:tab pos="457200" algn="l"/>
              </a:tabLst>
            </a:pPr>
            <a:endParaRPr lang="ar-YE" sz="3200" b="1" dirty="0">
              <a:latin typeface="Calibri" panose="020F0502020204030204" pitchFamily="34" charset="0"/>
              <a:ea typeface="Calibri" panose="020F0502020204030204" pitchFamily="34" charset="0"/>
              <a:cs typeface="Arial" panose="020B0604020202020204" pitchFamily="34" charset="0"/>
            </a:endParaRPr>
          </a:p>
        </p:txBody>
      </p:sp>
      <p:sp>
        <p:nvSpPr>
          <p:cNvPr id="2" name="자유형: 도형 24">
            <a:extLst>
              <a:ext uri="{FF2B5EF4-FFF2-40B4-BE49-F238E27FC236}">
                <a16:creationId xmlns:a16="http://schemas.microsoft.com/office/drawing/2014/main" id="{67C17457-55E0-FE54-B7BB-E66C08133D1C}"/>
              </a:ext>
            </a:extLst>
          </p:cNvPr>
          <p:cNvSpPr/>
          <p:nvPr/>
        </p:nvSpPr>
        <p:spPr>
          <a:xfrm>
            <a:off x="8748216" y="1223342"/>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en-US" sz="4000" b="1" dirty="0">
                <a:latin typeface="Calibri" panose="020F0502020204030204" pitchFamily="34" charset="0"/>
                <a:ea typeface="Calibri" panose="020F0502020204030204" pitchFamily="34" charset="0"/>
                <a:cs typeface="Arial" panose="020B0604020202020204" pitchFamily="34" charset="0"/>
              </a:rPr>
              <a:t>E-Bus[ness</a:t>
            </a:r>
            <a:endParaRPr lang="ar-YE" sz="4000" b="1"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4409096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9564B-FDD3-82CF-EF0D-261600987FEC}"/>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C972DFC4-A5A5-6E6D-8CC9-BAD5C60D6ED4}"/>
              </a:ext>
            </a:extLst>
          </p:cNvPr>
          <p:cNvSpPr txBox="1"/>
          <p:nvPr/>
        </p:nvSpPr>
        <p:spPr>
          <a:xfrm>
            <a:off x="55147" y="868035"/>
            <a:ext cx="8693069" cy="5009192"/>
          </a:xfrm>
          <a:prstGeom prst="rect">
            <a:avLst/>
          </a:prstGeom>
          <a:solidFill>
            <a:schemeClr val="accent3">
              <a:lumMod val="60000"/>
              <a:lumOff val="40000"/>
            </a:schemeClr>
          </a:solidFill>
        </p:spPr>
        <p:txBody>
          <a:bodyPr wrap="square">
            <a:spAutoFit/>
          </a:bodyPr>
          <a:lstStyle/>
          <a:p>
            <a:pPr algn="r" rtl="1">
              <a:lnSpc>
                <a:spcPct val="150000"/>
              </a:lnSpc>
            </a:pPr>
            <a:r>
              <a:rPr lang="ar-YE" sz="3200" b="1" dirty="0">
                <a:highlight>
                  <a:srgbClr val="FFFF00"/>
                </a:highlight>
                <a:latin typeface="Calibri" panose="020F0502020204030204" pitchFamily="34" charset="0"/>
                <a:ea typeface="Calibri" panose="020F0502020204030204" pitchFamily="34" charset="0"/>
                <a:cs typeface="Arial" panose="020B0604020202020204" pitchFamily="34" charset="0"/>
              </a:rPr>
              <a:t>تصنيف الاعمال الالكترونية: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تقسيم الاعمال الالكتروني الى عدة اقسام بناء على الطرفين المتفاعلين في العمل الى  :</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en-US" sz="3200" b="1" dirty="0">
                <a:latin typeface="Calibri" panose="020F0502020204030204" pitchFamily="34" charset="0"/>
                <a:ea typeface="Calibri" panose="020F0502020204030204" pitchFamily="34" charset="0"/>
                <a:cs typeface="Arial" panose="020B0604020202020204" pitchFamily="34" charset="0"/>
              </a:rPr>
              <a:t>B2B</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en-US" sz="3200" b="1" dirty="0">
                <a:latin typeface="Calibri" panose="020F0502020204030204" pitchFamily="34" charset="0"/>
                <a:ea typeface="Calibri" panose="020F0502020204030204" pitchFamily="34" charset="0"/>
                <a:cs typeface="Arial" panose="020B0604020202020204" pitchFamily="34" charset="0"/>
              </a:rPr>
              <a:t>B2C</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en-US" sz="3200" b="1" dirty="0">
                <a:latin typeface="Calibri" panose="020F0502020204030204" pitchFamily="34" charset="0"/>
                <a:ea typeface="Calibri" panose="020F0502020204030204" pitchFamily="34" charset="0"/>
                <a:cs typeface="Arial" panose="020B0604020202020204" pitchFamily="34" charset="0"/>
              </a:rPr>
              <a:t>B2E</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en-US" sz="3200" b="1" dirty="0">
                <a:latin typeface="Calibri" panose="020F0502020204030204" pitchFamily="34" charset="0"/>
                <a:ea typeface="Calibri" panose="020F0502020204030204" pitchFamily="34" charset="0"/>
                <a:cs typeface="Arial" panose="020B0604020202020204" pitchFamily="34" charset="0"/>
              </a:rPr>
              <a:t>B2G</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اقسام أخرى( </a:t>
            </a:r>
            <a:r>
              <a:rPr lang="en-US" sz="3200" b="1" dirty="0">
                <a:latin typeface="Calibri" panose="020F0502020204030204" pitchFamily="34" charset="0"/>
                <a:ea typeface="Calibri" panose="020F0502020204030204" pitchFamily="34" charset="0"/>
                <a:cs typeface="Arial" panose="020B0604020202020204" pitchFamily="34" charset="0"/>
              </a:rPr>
              <a:t>C2B – C2C - </a:t>
            </a:r>
            <a:r>
              <a:rPr lang="ar-YE" sz="3200" b="1" dirty="0">
                <a:latin typeface="Calibri" panose="020F0502020204030204" pitchFamily="34" charset="0"/>
                <a:ea typeface="Calibri" panose="020F0502020204030204" pitchFamily="34" charset="0"/>
                <a:cs typeface="Arial" panose="020B0604020202020204" pitchFamily="34" charset="0"/>
              </a:rPr>
              <a:t>)</a:t>
            </a:r>
            <a:endParaRPr lang="en-US" sz="3200" b="1" dirty="0">
              <a:latin typeface="Calibri" panose="020F0502020204030204" pitchFamily="34" charset="0"/>
              <a:ea typeface="Calibri" panose="020F0502020204030204" pitchFamily="34" charset="0"/>
              <a:cs typeface="Arial" panose="020B0604020202020204" pitchFamily="34" charset="0"/>
            </a:endParaRPr>
          </a:p>
        </p:txBody>
      </p:sp>
      <p:sp>
        <p:nvSpPr>
          <p:cNvPr id="2" name="자유형: 도형 24">
            <a:extLst>
              <a:ext uri="{FF2B5EF4-FFF2-40B4-BE49-F238E27FC236}">
                <a16:creationId xmlns:a16="http://schemas.microsoft.com/office/drawing/2014/main" id="{FD0C1780-F4C9-B0E6-4777-9CC169E580C6}"/>
              </a:ext>
            </a:extLst>
          </p:cNvPr>
          <p:cNvSpPr/>
          <p:nvPr/>
        </p:nvSpPr>
        <p:spPr>
          <a:xfrm>
            <a:off x="8748216" y="1223342"/>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تصنيف الاعمال الالكتروني</a:t>
            </a:r>
          </a:p>
        </p:txBody>
      </p:sp>
    </p:spTree>
    <p:extLst>
      <p:ext uri="{BB962C8B-B14F-4D97-AF65-F5344CB8AC3E}">
        <p14:creationId xmlns:p14="http://schemas.microsoft.com/office/powerpoint/2010/main" val="35290283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6A9DD-0B22-23A0-613C-017E14659083}"/>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B1104564-1663-9C17-BE52-2191DB1B590F}"/>
              </a:ext>
            </a:extLst>
          </p:cNvPr>
          <p:cNvSpPr txBox="1"/>
          <p:nvPr/>
        </p:nvSpPr>
        <p:spPr>
          <a:xfrm>
            <a:off x="55147" y="868035"/>
            <a:ext cx="8693069" cy="4379660"/>
          </a:xfrm>
          <a:prstGeom prst="rect">
            <a:avLst/>
          </a:prstGeom>
          <a:solidFill>
            <a:schemeClr val="accent3">
              <a:lumMod val="60000"/>
              <a:lumOff val="40000"/>
            </a:schemeClr>
          </a:solidFill>
        </p:spPr>
        <p:txBody>
          <a:bodyPr wrap="square">
            <a:spAutoFit/>
          </a:bodyPr>
          <a:lstStyle/>
          <a:p>
            <a:pPr algn="r" rtl="1">
              <a:lnSpc>
                <a:spcPct val="150000"/>
              </a:lnSpc>
            </a:pPr>
            <a:r>
              <a:rPr lang="ar-YE" sz="3200" b="1" dirty="0">
                <a:highlight>
                  <a:srgbClr val="FFFF00"/>
                </a:highlight>
                <a:latin typeface="Calibri" panose="020F0502020204030204" pitchFamily="34" charset="0"/>
                <a:ea typeface="Calibri" panose="020F0502020204030204" pitchFamily="34" charset="0"/>
                <a:cs typeface="Arial" panose="020B0604020202020204" pitchFamily="34" charset="0"/>
              </a:rPr>
              <a:t>تطبيقات الاعمال الالكترونية: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تتوفر تطبيقات عديدة لمجال الاعمال الالكترونية ووفق المجال الذي تعمل فيه المنظمة ومنها:</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en-US" sz="3200" b="1" dirty="0">
                <a:latin typeface="Calibri" panose="020F0502020204030204" pitchFamily="34" charset="0"/>
                <a:ea typeface="Calibri" panose="020F0502020204030204" pitchFamily="34" charset="0"/>
                <a:cs typeface="Arial" panose="020B0604020202020204" pitchFamily="34" charset="0"/>
              </a:rPr>
              <a:t>E-Learning</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en-US" sz="3200" b="1" dirty="0">
                <a:latin typeface="Calibri" panose="020F0502020204030204" pitchFamily="34" charset="0"/>
                <a:ea typeface="Calibri" panose="020F0502020204030204" pitchFamily="34" charset="0"/>
                <a:cs typeface="Arial" panose="020B0604020202020204" pitchFamily="34" charset="0"/>
              </a:rPr>
              <a:t>E- Government</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en-US" sz="3200" b="1" dirty="0">
                <a:latin typeface="Calibri" panose="020F0502020204030204" pitchFamily="34" charset="0"/>
                <a:ea typeface="Calibri" panose="020F0502020204030204" pitchFamily="34" charset="0"/>
                <a:cs typeface="Arial" panose="020B0604020202020204" pitchFamily="34" charset="0"/>
              </a:rPr>
              <a:t>E- Marketing</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en-US" sz="3200" b="1" dirty="0">
                <a:latin typeface="Calibri" panose="020F0502020204030204" pitchFamily="34" charset="0"/>
                <a:ea typeface="Calibri" panose="020F0502020204030204" pitchFamily="34" charset="0"/>
                <a:cs typeface="Arial" panose="020B0604020202020204" pitchFamily="34" charset="0"/>
              </a:rPr>
              <a:t>E- Banking</a:t>
            </a:r>
          </a:p>
        </p:txBody>
      </p:sp>
      <p:sp>
        <p:nvSpPr>
          <p:cNvPr id="2" name="자유형: 도형 24">
            <a:extLst>
              <a:ext uri="{FF2B5EF4-FFF2-40B4-BE49-F238E27FC236}">
                <a16:creationId xmlns:a16="http://schemas.microsoft.com/office/drawing/2014/main" id="{7994CB68-1FCD-364D-0B91-BFFC0CB1C6FA}"/>
              </a:ext>
            </a:extLst>
          </p:cNvPr>
          <p:cNvSpPr/>
          <p:nvPr/>
        </p:nvSpPr>
        <p:spPr>
          <a:xfrm>
            <a:off x="8748216" y="1223342"/>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تطبيقات الاعمال الالكتروني</a:t>
            </a:r>
          </a:p>
        </p:txBody>
      </p:sp>
    </p:spTree>
    <p:extLst>
      <p:ext uri="{BB962C8B-B14F-4D97-AF65-F5344CB8AC3E}">
        <p14:creationId xmlns:p14="http://schemas.microsoft.com/office/powerpoint/2010/main" val="18828067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E9F71-D67D-E797-3B5E-374ACEB40DAF}"/>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CF25225B-29CC-EE51-A80E-AC8C6F4C0266}"/>
              </a:ext>
            </a:extLst>
          </p:cNvPr>
          <p:cNvSpPr txBox="1"/>
          <p:nvPr/>
        </p:nvSpPr>
        <p:spPr>
          <a:xfrm>
            <a:off x="55147" y="1497567"/>
            <a:ext cx="8693069" cy="3837782"/>
          </a:xfrm>
          <a:prstGeom prst="rect">
            <a:avLst/>
          </a:prstGeom>
          <a:solidFill>
            <a:schemeClr val="accent3">
              <a:lumMod val="60000"/>
              <a:lumOff val="40000"/>
            </a:schemeClr>
          </a:solidFill>
        </p:spPr>
        <p:txBody>
          <a:bodyPr wrap="square">
            <a:spAutoFit/>
          </a:bodyPr>
          <a:lstStyle/>
          <a:p>
            <a:pPr algn="r" rtl="1">
              <a:lnSpc>
                <a:spcPct val="150000"/>
              </a:lnSpc>
            </a:pPr>
            <a:r>
              <a:rPr lang="ar-YE" sz="3200" b="1" dirty="0">
                <a:highlight>
                  <a:srgbClr val="FFFF00"/>
                </a:highlight>
                <a:latin typeface="Calibri" panose="020F0502020204030204" pitchFamily="34" charset="0"/>
                <a:ea typeface="Calibri" panose="020F0502020204030204" pitchFamily="34" charset="0"/>
                <a:cs typeface="Arial" panose="020B0604020202020204" pitchFamily="34" charset="0"/>
              </a:rPr>
              <a:t>اهمية الاعمال الالكترونية: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زيادة العوائد والارباح.</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تقليل التكاليف</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تقليل النفقات</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زيادة كفاءة العمليات</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التوسع ودخول اسواق جديدة</a:t>
            </a:r>
          </a:p>
        </p:txBody>
      </p:sp>
      <p:sp>
        <p:nvSpPr>
          <p:cNvPr id="2" name="자유형: 도형 24">
            <a:extLst>
              <a:ext uri="{FF2B5EF4-FFF2-40B4-BE49-F238E27FC236}">
                <a16:creationId xmlns:a16="http://schemas.microsoft.com/office/drawing/2014/main" id="{98126BFB-D7C2-0E31-6F7D-D3DCC3CB2E1C}"/>
              </a:ext>
            </a:extLst>
          </p:cNvPr>
          <p:cNvSpPr/>
          <p:nvPr/>
        </p:nvSpPr>
        <p:spPr>
          <a:xfrm>
            <a:off x="8748216" y="1223342"/>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اهمية الاعمال الالكترونية</a:t>
            </a:r>
          </a:p>
        </p:txBody>
      </p:sp>
    </p:spTree>
    <p:extLst>
      <p:ext uri="{BB962C8B-B14F-4D97-AF65-F5344CB8AC3E}">
        <p14:creationId xmlns:p14="http://schemas.microsoft.com/office/powerpoint/2010/main" val="33205042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89656-8D1A-8C63-40DE-D64D9C33AB40}"/>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47266A77-9642-AAAD-12AD-E1AB8BD02F5B}"/>
              </a:ext>
            </a:extLst>
          </p:cNvPr>
          <p:cNvSpPr txBox="1"/>
          <p:nvPr/>
        </p:nvSpPr>
        <p:spPr>
          <a:xfrm>
            <a:off x="35039" y="2042690"/>
            <a:ext cx="8693069" cy="3208251"/>
          </a:xfrm>
          <a:prstGeom prst="rect">
            <a:avLst/>
          </a:prstGeom>
          <a:solidFill>
            <a:schemeClr val="accent2">
              <a:lumMod val="75000"/>
            </a:schemeClr>
          </a:solidFill>
        </p:spPr>
        <p:txBody>
          <a:bodyPr wrap="square">
            <a:spAutoFit/>
          </a:bodyPr>
          <a:lstStyle/>
          <a:p>
            <a:pPr algn="r" rtl="1">
              <a:lnSpc>
                <a:spcPct val="150000"/>
              </a:lnSpc>
            </a:pPr>
            <a:r>
              <a:rPr lang="ar-YE" sz="3200" b="1" dirty="0">
                <a:highlight>
                  <a:srgbClr val="00FFFF"/>
                </a:highlight>
                <a:latin typeface="Calibri" panose="020F0502020204030204" pitchFamily="34" charset="0"/>
                <a:ea typeface="Calibri" panose="020F0502020204030204" pitchFamily="34" charset="0"/>
                <a:cs typeface="Arial" panose="020B0604020202020204" pitchFamily="34" charset="0"/>
              </a:rPr>
              <a:t>بيئة الاعمال الالكترونية: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بيئة الاعمال الإلكترونية هي بيئة الشبكات وهي ثلاث أنواع:</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شبكة الانترنت</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شبكة الانترانت</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شبكة الاكسترانت</a:t>
            </a:r>
          </a:p>
        </p:txBody>
      </p:sp>
      <p:sp>
        <p:nvSpPr>
          <p:cNvPr id="2" name="자유형: 도형 24">
            <a:extLst>
              <a:ext uri="{FF2B5EF4-FFF2-40B4-BE49-F238E27FC236}">
                <a16:creationId xmlns:a16="http://schemas.microsoft.com/office/drawing/2014/main" id="{B815F802-1167-3B7A-1D2B-C103B399CF69}"/>
              </a:ext>
            </a:extLst>
          </p:cNvPr>
          <p:cNvSpPr/>
          <p:nvPr/>
        </p:nvSpPr>
        <p:spPr>
          <a:xfrm>
            <a:off x="8748216" y="1223342"/>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2">
              <a:lumMod val="60000"/>
              <a:lumOff val="40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بيئة الاعمال الالكترونية</a:t>
            </a:r>
          </a:p>
        </p:txBody>
      </p:sp>
    </p:spTree>
    <p:extLst>
      <p:ext uri="{BB962C8B-B14F-4D97-AF65-F5344CB8AC3E}">
        <p14:creationId xmlns:p14="http://schemas.microsoft.com/office/powerpoint/2010/main" val="35197681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73EEE-3A79-1E5C-D911-A5D4B2D28B9B}"/>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C06F7ECC-BF45-7194-6676-6D06C5B2E147}"/>
              </a:ext>
            </a:extLst>
          </p:cNvPr>
          <p:cNvSpPr txBox="1"/>
          <p:nvPr/>
        </p:nvSpPr>
        <p:spPr>
          <a:xfrm>
            <a:off x="84952" y="302342"/>
            <a:ext cx="8693069" cy="6253315"/>
          </a:xfrm>
          <a:prstGeom prst="rect">
            <a:avLst/>
          </a:prstGeom>
          <a:solidFill>
            <a:schemeClr val="accent2">
              <a:lumMod val="75000"/>
            </a:schemeClr>
          </a:solidFill>
        </p:spPr>
        <p:txBody>
          <a:bodyPr wrap="square">
            <a:spAutoFit/>
          </a:bodyPr>
          <a:lstStyle/>
          <a:p>
            <a:pPr algn="r" rtl="1">
              <a:lnSpc>
                <a:spcPct val="150000"/>
              </a:lnSpc>
            </a:pPr>
            <a:r>
              <a:rPr lang="ar-YE" sz="3200" b="1" dirty="0">
                <a:highlight>
                  <a:srgbClr val="00FFFF"/>
                </a:highlight>
                <a:latin typeface="Calibri" panose="020F0502020204030204" pitchFamily="34" charset="0"/>
                <a:ea typeface="Calibri" panose="020F0502020204030204" pitchFamily="34" charset="0"/>
                <a:cs typeface="Arial" panose="020B0604020202020204" pitchFamily="34" charset="0"/>
              </a:rPr>
              <a:t>العلوم المشتركة مع الاعمال الالكترونية: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هناك علوم تشترك مع الاعمال الالكترونية و لا يمكن انجاز العمل الالكتروني الا بها ومن هذه المجالات العلوم التالية: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علوم الحاسوب</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التسويق</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سلوك المستهلك</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الاقتصاد</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الإدارة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أنظمة المعلومات</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قوانين العمل</a:t>
            </a:r>
          </a:p>
        </p:txBody>
      </p:sp>
      <p:sp>
        <p:nvSpPr>
          <p:cNvPr id="2" name="자유형: 도형 24">
            <a:extLst>
              <a:ext uri="{FF2B5EF4-FFF2-40B4-BE49-F238E27FC236}">
                <a16:creationId xmlns:a16="http://schemas.microsoft.com/office/drawing/2014/main" id="{4428B034-CBA9-03FC-3718-ABD153E80DDC}"/>
              </a:ext>
            </a:extLst>
          </p:cNvPr>
          <p:cNvSpPr/>
          <p:nvPr/>
        </p:nvSpPr>
        <p:spPr>
          <a:xfrm>
            <a:off x="8748216" y="1223342"/>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2">
              <a:lumMod val="60000"/>
              <a:lumOff val="40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العلوم المشتركة مع الاعمال الالكترونية</a:t>
            </a:r>
          </a:p>
        </p:txBody>
      </p:sp>
    </p:spTree>
    <p:extLst>
      <p:ext uri="{BB962C8B-B14F-4D97-AF65-F5344CB8AC3E}">
        <p14:creationId xmlns:p14="http://schemas.microsoft.com/office/powerpoint/2010/main" val="18678465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0DFAB-ED21-3C61-3EB1-1AC5F9DE062E}"/>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60C3D4FB-87E1-DAA1-5E77-71F26BB3D446}"/>
              </a:ext>
            </a:extLst>
          </p:cNvPr>
          <p:cNvSpPr txBox="1"/>
          <p:nvPr/>
        </p:nvSpPr>
        <p:spPr>
          <a:xfrm>
            <a:off x="149339" y="474416"/>
            <a:ext cx="9161715" cy="5945538"/>
          </a:xfrm>
          <a:prstGeom prst="rect">
            <a:avLst/>
          </a:prstGeom>
          <a:solidFill>
            <a:schemeClr val="accent2">
              <a:lumMod val="75000"/>
            </a:schemeClr>
          </a:solidFill>
        </p:spPr>
        <p:txBody>
          <a:bodyPr wrap="square">
            <a:spAutoFit/>
          </a:bodyPr>
          <a:lstStyle/>
          <a:p>
            <a:pPr algn="r" rtl="1">
              <a:lnSpc>
                <a:spcPct val="150000"/>
              </a:lnSpc>
            </a:pPr>
            <a:r>
              <a:rPr lang="ar-YE" sz="3200" b="1" dirty="0">
                <a:highlight>
                  <a:srgbClr val="00FFFF"/>
                </a:highlight>
                <a:latin typeface="Calibri" panose="020F0502020204030204" pitchFamily="34" charset="0"/>
                <a:ea typeface="Calibri" panose="020F0502020204030204" pitchFamily="34" charset="0"/>
                <a:cs typeface="Arial" panose="020B0604020202020204" pitchFamily="34" charset="0"/>
              </a:rPr>
              <a:t>فوائد الاعمال الالكترونية: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كان العمل الالكتروني سابقا ميزة تنافسية واصبح اليوم ضرورة للبقاء حيث يوفر العديد من المميزات والفوائد للشركات منها:</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تحسين العلاقة بالعملاء وزيادة التخصص لكل ما يحتاجه العميل</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تسريع زمن العمل وبشكل مباشر بين الطرفين في نفس الوقت وعلى مدار 24 ساعة </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تحديث مباشر ومستمر للبيانات والمعلومات بين الطرفين الشركة والمستهلك</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التصنيع وفق الطلب وحسب حاجة السوق وفي الوقت المناسب وللعميل المناسب</a:t>
            </a:r>
          </a:p>
        </p:txBody>
      </p:sp>
      <p:sp>
        <p:nvSpPr>
          <p:cNvPr id="2" name="자유형: 도형 24">
            <a:extLst>
              <a:ext uri="{FF2B5EF4-FFF2-40B4-BE49-F238E27FC236}">
                <a16:creationId xmlns:a16="http://schemas.microsoft.com/office/drawing/2014/main" id="{0113D618-DB33-79E4-C893-EF685FA031F3}"/>
              </a:ext>
            </a:extLst>
          </p:cNvPr>
          <p:cNvSpPr/>
          <p:nvPr/>
        </p:nvSpPr>
        <p:spPr>
          <a:xfrm>
            <a:off x="8818553" y="1223342"/>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2">
              <a:lumMod val="60000"/>
              <a:lumOff val="40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فوائد الاعمال الالكترونية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للشركات</a:t>
            </a:r>
          </a:p>
        </p:txBody>
      </p:sp>
    </p:spTree>
    <p:extLst>
      <p:ext uri="{BB962C8B-B14F-4D97-AF65-F5344CB8AC3E}">
        <p14:creationId xmlns:p14="http://schemas.microsoft.com/office/powerpoint/2010/main" val="4772258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24201-EBD0-2E16-3687-235EC40BC9F5}"/>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157B0390-8B25-9305-19C2-373F3ABD4017}"/>
              </a:ext>
            </a:extLst>
          </p:cNvPr>
          <p:cNvSpPr txBox="1"/>
          <p:nvPr/>
        </p:nvSpPr>
        <p:spPr>
          <a:xfrm>
            <a:off x="105377" y="69970"/>
            <a:ext cx="9548577" cy="6784678"/>
          </a:xfrm>
          <a:prstGeom prst="rect">
            <a:avLst/>
          </a:prstGeom>
          <a:solidFill>
            <a:schemeClr val="accent2">
              <a:lumMod val="75000"/>
            </a:schemeClr>
          </a:solidFill>
        </p:spPr>
        <p:txBody>
          <a:bodyPr wrap="square">
            <a:spAutoFit/>
          </a:bodyPr>
          <a:lstStyle/>
          <a:p>
            <a:pPr algn="r" rtl="1">
              <a:lnSpc>
                <a:spcPct val="150000"/>
              </a:lnSpc>
            </a:pPr>
            <a:r>
              <a:rPr lang="ar-YE" sz="3200" b="1" dirty="0">
                <a:highlight>
                  <a:srgbClr val="00FFFF"/>
                </a:highlight>
                <a:latin typeface="Calibri" panose="020F0502020204030204" pitchFamily="34" charset="0"/>
                <a:ea typeface="Calibri" panose="020F0502020204030204" pitchFamily="34" charset="0"/>
                <a:cs typeface="Arial" panose="020B0604020202020204" pitchFamily="34" charset="0"/>
              </a:rPr>
              <a:t>فوائد الاعمال الالكترونية </a:t>
            </a:r>
            <a:r>
              <a:rPr lang="ar-YE" sz="3200" b="1" dirty="0" err="1">
                <a:highlight>
                  <a:srgbClr val="00FFFF"/>
                </a:highlight>
                <a:latin typeface="Calibri" panose="020F0502020204030204" pitchFamily="34" charset="0"/>
                <a:ea typeface="Calibri" panose="020F0502020204030204" pitchFamily="34" charset="0"/>
                <a:cs typeface="Arial" panose="020B0604020202020204" pitchFamily="34" charset="0"/>
              </a:rPr>
              <a:t>للافراد</a:t>
            </a:r>
            <a:r>
              <a:rPr lang="ar-YE" sz="3200" b="1" dirty="0">
                <a:highlight>
                  <a:srgbClr val="00FFFF"/>
                </a:highlight>
                <a:latin typeface="Calibri" panose="020F0502020204030204" pitchFamily="34" charset="0"/>
                <a:ea typeface="Calibri" panose="020F0502020204030204" pitchFamily="34" charset="0"/>
                <a:cs typeface="Arial" panose="020B0604020202020204" pitchFamily="34" charset="0"/>
              </a:rPr>
              <a:t>:</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يوفر العمل الالكتروني العديد من الفوائد </a:t>
            </a:r>
            <a:r>
              <a:rPr lang="ar-YE" sz="3200" b="1" dirty="0" err="1">
                <a:latin typeface="Calibri" panose="020F0502020204030204" pitchFamily="34" charset="0"/>
                <a:ea typeface="Calibri" panose="020F0502020204030204" pitchFamily="34" charset="0"/>
                <a:cs typeface="Arial" panose="020B0604020202020204" pitchFamily="34" charset="0"/>
              </a:rPr>
              <a:t>للافراد</a:t>
            </a:r>
            <a:r>
              <a:rPr lang="ar-YE" sz="3200" b="1" dirty="0">
                <a:latin typeface="Calibri" panose="020F0502020204030204" pitchFamily="34" charset="0"/>
                <a:ea typeface="Calibri" panose="020F0502020204030204" pitchFamily="34" charset="0"/>
                <a:cs typeface="Arial" panose="020B0604020202020204" pitchFamily="34" charset="0"/>
              </a:rPr>
              <a:t> المستخدمين للشبكة سواء كانوا زبائن او مواطنين او طلاب او أيا كان غرضهم ونوعهم واستخدامهم للشبكة في انجاز أعمالهم ومن تلك الفوائد:</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2800" b="1" dirty="0">
                <a:latin typeface="Calibri" panose="020F0502020204030204" pitchFamily="34" charset="0"/>
                <a:ea typeface="Calibri" panose="020F0502020204030204" pitchFamily="34" charset="0"/>
                <a:cs typeface="Arial" panose="020B0604020202020204" pitchFamily="34" charset="0"/>
              </a:rPr>
              <a:t>الحصول على العديد من الخيارات المختلفة لطلب المنتجات والخدمات ونوعيتها واشكالها وتصميماتها وخصوصياتها</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2800" b="1" dirty="0">
                <a:latin typeface="Calibri" panose="020F0502020204030204" pitchFamily="34" charset="0"/>
                <a:ea typeface="Calibri" panose="020F0502020204030204" pitchFamily="34" charset="0"/>
                <a:cs typeface="Arial" panose="020B0604020202020204" pitchFamily="34" charset="0"/>
              </a:rPr>
              <a:t>الحصول على المنتجات باقل الأسعار</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2800" b="1" dirty="0">
                <a:latin typeface="Calibri" panose="020F0502020204030204" pitchFamily="34" charset="0"/>
                <a:ea typeface="Calibri" panose="020F0502020204030204" pitchFamily="34" charset="0"/>
                <a:cs typeface="Arial" panose="020B0604020202020204" pitchFamily="34" charset="0"/>
              </a:rPr>
              <a:t>الوصول الفعلي والسريع والمباشر للسلع والخدمات والمعلومات</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2800" b="1" dirty="0">
                <a:latin typeface="Calibri" panose="020F0502020204030204" pitchFamily="34" charset="0"/>
                <a:ea typeface="Calibri" panose="020F0502020204030204" pitchFamily="34" charset="0"/>
                <a:cs typeface="Arial" panose="020B0604020202020204" pitchFamily="34" charset="0"/>
              </a:rPr>
              <a:t>تفاعل الكتروني وشحن مباشر وتتبع الكتروني</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2800" b="1" dirty="0">
                <a:latin typeface="Calibri" panose="020F0502020204030204" pitchFamily="34" charset="0"/>
                <a:ea typeface="Calibri" panose="020F0502020204030204" pitchFamily="34" charset="0"/>
                <a:cs typeface="Arial" panose="020B0604020202020204" pitchFamily="34" charset="0"/>
              </a:rPr>
              <a:t>العمل طوال الوقت 24/7</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2800" b="1" dirty="0">
                <a:latin typeface="Calibri" panose="020F0502020204030204" pitchFamily="34" charset="0"/>
                <a:ea typeface="Calibri" panose="020F0502020204030204" pitchFamily="34" charset="0"/>
                <a:cs typeface="Arial" panose="020B0604020202020204" pitchFamily="34" charset="0"/>
              </a:rPr>
              <a:t>العديد من الفرص والمنافسة التي تحسن من المنتجات</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2800" b="1" dirty="0">
                <a:latin typeface="Calibri" panose="020F0502020204030204" pitchFamily="34" charset="0"/>
                <a:ea typeface="Calibri" panose="020F0502020204030204" pitchFamily="34" charset="0"/>
                <a:cs typeface="Arial" panose="020B0604020202020204" pitchFamily="34" charset="0"/>
              </a:rPr>
              <a:t>زيادة فرص العمل دون الحاجة للانتقال والذي يحسن مستوى المعيشة</a:t>
            </a:r>
          </a:p>
        </p:txBody>
      </p:sp>
      <p:sp>
        <p:nvSpPr>
          <p:cNvPr id="2" name="자유형: 도형 24">
            <a:extLst>
              <a:ext uri="{FF2B5EF4-FFF2-40B4-BE49-F238E27FC236}">
                <a16:creationId xmlns:a16="http://schemas.microsoft.com/office/drawing/2014/main" id="{51354D67-31DB-135D-8D03-CA5C02767F72}"/>
              </a:ext>
            </a:extLst>
          </p:cNvPr>
          <p:cNvSpPr/>
          <p:nvPr/>
        </p:nvSpPr>
        <p:spPr>
          <a:xfrm>
            <a:off x="9179169" y="1223342"/>
            <a:ext cx="2998216"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2">
              <a:lumMod val="60000"/>
              <a:lumOff val="40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فوائد الاعمال الالكترونية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للأفراد</a:t>
            </a:r>
          </a:p>
        </p:txBody>
      </p:sp>
    </p:spTree>
    <p:extLst>
      <p:ext uri="{BB962C8B-B14F-4D97-AF65-F5344CB8AC3E}">
        <p14:creationId xmlns:p14="http://schemas.microsoft.com/office/powerpoint/2010/main" val="24481187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86040-C33C-32C5-8AC6-3AD08A92213A}"/>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A8671E90-4283-B670-AFEB-EB81C7872749}"/>
              </a:ext>
            </a:extLst>
          </p:cNvPr>
          <p:cNvSpPr txBox="1"/>
          <p:nvPr/>
        </p:nvSpPr>
        <p:spPr>
          <a:xfrm>
            <a:off x="105377" y="69970"/>
            <a:ext cx="9311185" cy="6472477"/>
          </a:xfrm>
          <a:prstGeom prst="rect">
            <a:avLst/>
          </a:prstGeom>
          <a:solidFill>
            <a:schemeClr val="accent2">
              <a:lumMod val="75000"/>
            </a:schemeClr>
          </a:solidFill>
        </p:spPr>
        <p:txBody>
          <a:bodyPr wrap="square">
            <a:spAutoFit/>
          </a:bodyPr>
          <a:lstStyle/>
          <a:p>
            <a:pPr algn="r" rtl="1">
              <a:lnSpc>
                <a:spcPct val="150000"/>
              </a:lnSpc>
            </a:pPr>
            <a:r>
              <a:rPr lang="ar-YE" sz="3200" b="1" dirty="0">
                <a:highlight>
                  <a:srgbClr val="00FFFF"/>
                </a:highlight>
                <a:latin typeface="Calibri" panose="020F0502020204030204" pitchFamily="34" charset="0"/>
                <a:ea typeface="Calibri" panose="020F0502020204030204" pitchFamily="34" charset="0"/>
                <a:cs typeface="Arial" panose="020B0604020202020204" pitchFamily="34" charset="0"/>
              </a:rPr>
              <a:t>معوقات الاعمال الالكترونية :</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هناك العديد من المعوقات التي تقف عائقا وتمثل تحديا تجاه العمل الالكتروني منها:</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المعوقات التقنية(الامن والموثوقية- البرمجيات- محدودية وارتفاع تكاليفها)</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المعوقات الغير تقنية (انخفاض ثقة المستهلك- اختلاف القوانين التي تحكم الاعمال الالكترونية- تفضيل العملاء للتواصل المباشر والمعاينة المادية للسلع وتجربته – وقوع الكثير من الخداع والاحتيال عبر الشبكة العنكبوتية لعمليات الاعمال الالكترونية)</a:t>
            </a:r>
          </a:p>
          <a:p>
            <a:pPr marL="742950" lvl="0" indent="-742950" algn="r" rtl="1">
              <a:lnSpc>
                <a:spcPct val="107000"/>
              </a:lnSpc>
              <a:spcAft>
                <a:spcPts val="800"/>
              </a:spcAft>
              <a:buSzPts val="1000"/>
              <a:buFont typeface="Wingdings" panose="05000000000000000000" pitchFamily="2" charset="2"/>
              <a:buChar char="v"/>
              <a:tabLst>
                <a:tab pos="457200" algn="l"/>
              </a:tabLst>
            </a:pPr>
            <a:endParaRPr lang="ar-YE" sz="3200" b="1" dirty="0">
              <a:latin typeface="Calibri" panose="020F0502020204030204" pitchFamily="34" charset="0"/>
              <a:ea typeface="Calibri" panose="020F0502020204030204" pitchFamily="34" charset="0"/>
              <a:cs typeface="Arial" panose="020B0604020202020204" pitchFamily="34" charset="0"/>
            </a:endParaRPr>
          </a:p>
          <a:p>
            <a:pPr marL="742950" lvl="0" indent="-742950" algn="r" rtl="1">
              <a:lnSpc>
                <a:spcPct val="107000"/>
              </a:lnSpc>
              <a:spcAft>
                <a:spcPts val="800"/>
              </a:spcAft>
              <a:buSzPts val="1000"/>
              <a:buFont typeface="Wingdings" panose="05000000000000000000" pitchFamily="2" charset="2"/>
              <a:buChar char="v"/>
              <a:tabLst>
                <a:tab pos="457200" algn="l"/>
              </a:tabLst>
            </a:pPr>
            <a:endParaRPr lang="ar-YE" sz="3200" b="1" dirty="0">
              <a:latin typeface="Calibri" panose="020F0502020204030204" pitchFamily="34" charset="0"/>
              <a:ea typeface="Calibri" panose="020F0502020204030204" pitchFamily="34" charset="0"/>
              <a:cs typeface="Arial" panose="020B0604020202020204" pitchFamily="34" charset="0"/>
            </a:endParaRPr>
          </a:p>
        </p:txBody>
      </p:sp>
      <p:sp>
        <p:nvSpPr>
          <p:cNvPr id="2" name="자유형: 도형 24">
            <a:extLst>
              <a:ext uri="{FF2B5EF4-FFF2-40B4-BE49-F238E27FC236}">
                <a16:creationId xmlns:a16="http://schemas.microsoft.com/office/drawing/2014/main" id="{62592F40-7B37-0AE0-AF15-B80A41BB1170}"/>
              </a:ext>
            </a:extLst>
          </p:cNvPr>
          <p:cNvSpPr/>
          <p:nvPr/>
        </p:nvSpPr>
        <p:spPr>
          <a:xfrm>
            <a:off x="8739554" y="1223342"/>
            <a:ext cx="3437831"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2">
              <a:lumMod val="60000"/>
              <a:lumOff val="40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معوقات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الاعمال</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الالكترونية</a:t>
            </a:r>
          </a:p>
          <a:p>
            <a:pPr algn="ctr" rtl="1"/>
            <a:endParaRPr lang="ar-YE" sz="4000" b="1"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8461569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913F6-0EFD-AF39-0625-D38AF37D9B50}"/>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4E53892E-ECB6-998A-8E23-9849E5B78F5C}"/>
              </a:ext>
            </a:extLst>
          </p:cNvPr>
          <p:cNvSpPr txBox="1"/>
          <p:nvPr/>
        </p:nvSpPr>
        <p:spPr>
          <a:xfrm>
            <a:off x="87792" y="404934"/>
            <a:ext cx="9548577" cy="6048131"/>
          </a:xfrm>
          <a:prstGeom prst="rect">
            <a:avLst/>
          </a:prstGeom>
          <a:solidFill>
            <a:schemeClr val="accent2">
              <a:lumMod val="75000"/>
            </a:schemeClr>
          </a:solidFill>
        </p:spPr>
        <p:txBody>
          <a:bodyPr wrap="square">
            <a:spAutoFit/>
          </a:bodyPr>
          <a:lstStyle/>
          <a:p>
            <a:pPr algn="r" rtl="1">
              <a:lnSpc>
                <a:spcPct val="150000"/>
              </a:lnSpc>
            </a:pPr>
            <a:r>
              <a:rPr lang="ar-YE" sz="3200" b="1" dirty="0">
                <a:highlight>
                  <a:srgbClr val="00FFFF"/>
                </a:highlight>
                <a:latin typeface="Calibri" panose="020F0502020204030204" pitchFamily="34" charset="0"/>
                <a:ea typeface="Calibri" panose="020F0502020204030204" pitchFamily="34" charset="0"/>
                <a:cs typeface="Arial" panose="020B0604020202020204" pitchFamily="34" charset="0"/>
              </a:rPr>
              <a:t>التحديات التي تواجه الاعمال الالكترونية :</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تتمثل اهم التحديات التي تواجه الاعمال الالكترونية: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الوصول الى الفهم الصحيح لكيفية تعامل العميل مع الشبكة وفهم احتياجاته وتوقعاته بدقة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يناء توقعات حقيقية لتطور الاتصالات والتكنولوجيا بحي يمكن وضع خطة العمل على أساسها</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فهم وتوقع العوائد الحقيقية للعمل الالكتروني</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وضع تصور عملي للتكامل بين العمل في النت وخارج النت</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فهم الية العمل والتنافس عبر النت وتوظيفها في زيادة فاعلية العمل</a:t>
            </a:r>
          </a:p>
        </p:txBody>
      </p:sp>
      <p:sp>
        <p:nvSpPr>
          <p:cNvPr id="2" name="자유형: 도형 24">
            <a:extLst>
              <a:ext uri="{FF2B5EF4-FFF2-40B4-BE49-F238E27FC236}">
                <a16:creationId xmlns:a16="http://schemas.microsoft.com/office/drawing/2014/main" id="{9FF38713-4E53-2B59-B5D8-A9E1EF794A8C}"/>
              </a:ext>
            </a:extLst>
          </p:cNvPr>
          <p:cNvSpPr/>
          <p:nvPr/>
        </p:nvSpPr>
        <p:spPr>
          <a:xfrm>
            <a:off x="9179169" y="1223342"/>
            <a:ext cx="2998216"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2">
              <a:lumMod val="60000"/>
              <a:lumOff val="40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التحديات التي تواجه الاعمال الالكترونية</a:t>
            </a:r>
          </a:p>
        </p:txBody>
      </p:sp>
    </p:spTree>
    <p:extLst>
      <p:ext uri="{BB962C8B-B14F-4D97-AF65-F5344CB8AC3E}">
        <p14:creationId xmlns:p14="http://schemas.microsoft.com/office/powerpoint/2010/main" val="19963691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DD27F-8AA5-B914-A73D-A3E3E5CFBD10}"/>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B4646B8E-0465-3DFF-A77D-782A9D55C143}"/>
              </a:ext>
            </a:extLst>
          </p:cNvPr>
          <p:cNvSpPr txBox="1"/>
          <p:nvPr/>
        </p:nvSpPr>
        <p:spPr>
          <a:xfrm>
            <a:off x="131754" y="1045688"/>
            <a:ext cx="9548577" cy="5009192"/>
          </a:xfrm>
          <a:prstGeom prst="rect">
            <a:avLst/>
          </a:prstGeom>
          <a:solidFill>
            <a:schemeClr val="accent2">
              <a:lumMod val="75000"/>
            </a:schemeClr>
          </a:solidFill>
        </p:spPr>
        <p:txBody>
          <a:bodyPr wrap="square">
            <a:spAutoFit/>
          </a:bodyPr>
          <a:lstStyle/>
          <a:p>
            <a:pPr algn="r" rtl="1">
              <a:lnSpc>
                <a:spcPct val="150000"/>
              </a:lnSpc>
            </a:pPr>
            <a:r>
              <a:rPr lang="ar-YE" sz="3200" b="1" dirty="0">
                <a:highlight>
                  <a:srgbClr val="00FFFF"/>
                </a:highlight>
                <a:latin typeface="Calibri" panose="020F0502020204030204" pitchFamily="34" charset="0"/>
                <a:ea typeface="Calibri" panose="020F0502020204030204" pitchFamily="34" charset="0"/>
                <a:cs typeface="Arial" panose="020B0604020202020204" pitchFamily="34" charset="0"/>
              </a:rPr>
              <a:t>شركات ومواقع الاعمال الالكترونية الناجحة :</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هناك العديد من الشركات والمواقع التي تعمل من خلال النت وحققت نجاحات ملموسة ومشهودة ومنها:</a:t>
            </a:r>
          </a:p>
          <a:p>
            <a:pPr marL="742950" lvl="0" indent="-742950" algn="l">
              <a:lnSpc>
                <a:spcPct val="107000"/>
              </a:lnSpc>
              <a:spcAft>
                <a:spcPts val="800"/>
              </a:spcAft>
              <a:buSzPts val="1000"/>
              <a:buFont typeface="Wingdings" panose="05000000000000000000" pitchFamily="2" charset="2"/>
              <a:buChar char="v"/>
              <a:tabLst>
                <a:tab pos="457200" algn="l"/>
              </a:tabLst>
            </a:pPr>
            <a:r>
              <a:rPr lang="en-US" sz="3200" b="1" dirty="0">
                <a:latin typeface="Calibri" panose="020F0502020204030204" pitchFamily="34" charset="0"/>
                <a:ea typeface="Calibri" panose="020F0502020204030204" pitchFamily="34" charset="0"/>
                <a:cs typeface="Arial" panose="020B0604020202020204" pitchFamily="34" charset="0"/>
                <a:hlinkClick r:id="rId2"/>
              </a:rPr>
              <a:t>www.ebay.com</a:t>
            </a:r>
            <a:endParaRPr lang="en-US" sz="3200" b="1" dirty="0">
              <a:latin typeface="Calibri" panose="020F0502020204030204" pitchFamily="34" charset="0"/>
              <a:ea typeface="Calibri" panose="020F0502020204030204" pitchFamily="34" charset="0"/>
              <a:cs typeface="Arial" panose="020B0604020202020204" pitchFamily="34" charset="0"/>
            </a:endParaRPr>
          </a:p>
          <a:p>
            <a:pPr marL="742950" lvl="0" indent="-742950" algn="l">
              <a:lnSpc>
                <a:spcPct val="107000"/>
              </a:lnSpc>
              <a:spcAft>
                <a:spcPts val="800"/>
              </a:spcAft>
              <a:buSzPts val="1000"/>
              <a:buFont typeface="Wingdings" panose="05000000000000000000" pitchFamily="2" charset="2"/>
              <a:buChar char="v"/>
              <a:tabLst>
                <a:tab pos="457200" algn="l"/>
              </a:tabLst>
            </a:pPr>
            <a:r>
              <a:rPr lang="en-US" sz="3200" b="1" dirty="0">
                <a:latin typeface="Calibri" panose="020F0502020204030204" pitchFamily="34" charset="0"/>
                <a:ea typeface="Calibri" panose="020F0502020204030204" pitchFamily="34" charset="0"/>
                <a:cs typeface="Arial" panose="020B0604020202020204" pitchFamily="34" charset="0"/>
                <a:hlinkClick r:id="rId3"/>
              </a:rPr>
              <a:t>www.google.com</a:t>
            </a:r>
            <a:endParaRPr lang="en-US" sz="3200" b="1" dirty="0">
              <a:latin typeface="Calibri" panose="020F0502020204030204" pitchFamily="34" charset="0"/>
              <a:ea typeface="Calibri" panose="020F0502020204030204" pitchFamily="34" charset="0"/>
              <a:cs typeface="Arial" panose="020B0604020202020204" pitchFamily="34" charset="0"/>
            </a:endParaRPr>
          </a:p>
          <a:p>
            <a:pPr marL="742950" lvl="0" indent="-742950" algn="l">
              <a:lnSpc>
                <a:spcPct val="107000"/>
              </a:lnSpc>
              <a:spcAft>
                <a:spcPts val="800"/>
              </a:spcAft>
              <a:buSzPts val="1000"/>
              <a:buFont typeface="Wingdings" panose="05000000000000000000" pitchFamily="2" charset="2"/>
              <a:buChar char="v"/>
              <a:tabLst>
                <a:tab pos="457200" algn="l"/>
              </a:tabLst>
            </a:pPr>
            <a:r>
              <a:rPr lang="en-US" sz="3200" b="1" dirty="0">
                <a:latin typeface="Calibri" panose="020F0502020204030204" pitchFamily="34" charset="0"/>
                <a:ea typeface="Calibri" panose="020F0502020204030204" pitchFamily="34" charset="0"/>
                <a:cs typeface="Arial" panose="020B0604020202020204" pitchFamily="34" charset="0"/>
                <a:hlinkClick r:id="rId4"/>
              </a:rPr>
              <a:t>www.cisco.com</a:t>
            </a:r>
            <a:endParaRPr lang="en-US" sz="3200" b="1" dirty="0">
              <a:latin typeface="Calibri" panose="020F0502020204030204" pitchFamily="34" charset="0"/>
              <a:ea typeface="Calibri" panose="020F0502020204030204" pitchFamily="34" charset="0"/>
              <a:cs typeface="Arial" panose="020B0604020202020204" pitchFamily="34" charset="0"/>
            </a:endParaRPr>
          </a:p>
          <a:p>
            <a:pPr marL="742950" lvl="0" indent="-742950" algn="l">
              <a:lnSpc>
                <a:spcPct val="107000"/>
              </a:lnSpc>
              <a:spcAft>
                <a:spcPts val="800"/>
              </a:spcAft>
              <a:buSzPts val="1000"/>
              <a:buFont typeface="Wingdings" panose="05000000000000000000" pitchFamily="2" charset="2"/>
              <a:buChar char="v"/>
              <a:tabLst>
                <a:tab pos="457200" algn="l"/>
              </a:tabLst>
            </a:pPr>
            <a:r>
              <a:rPr lang="en-US" sz="3200" b="1" dirty="0">
                <a:latin typeface="Calibri" panose="020F0502020204030204" pitchFamily="34" charset="0"/>
                <a:ea typeface="Calibri" panose="020F0502020204030204" pitchFamily="34" charset="0"/>
                <a:cs typeface="Arial" panose="020B0604020202020204" pitchFamily="34" charset="0"/>
                <a:hlinkClick r:id="rId5"/>
              </a:rPr>
              <a:t>www.intel.com</a:t>
            </a:r>
            <a:endParaRPr lang="en-US" sz="3200" b="1" dirty="0">
              <a:latin typeface="Calibri" panose="020F0502020204030204" pitchFamily="34" charset="0"/>
              <a:ea typeface="Calibri" panose="020F0502020204030204" pitchFamily="34" charset="0"/>
              <a:cs typeface="Arial" panose="020B0604020202020204" pitchFamily="34" charset="0"/>
            </a:endParaRPr>
          </a:p>
          <a:p>
            <a:pPr marL="742950" lvl="0" indent="-742950" algn="l">
              <a:lnSpc>
                <a:spcPct val="107000"/>
              </a:lnSpc>
              <a:spcAft>
                <a:spcPts val="800"/>
              </a:spcAft>
              <a:buSzPts val="1000"/>
              <a:buFont typeface="Wingdings" panose="05000000000000000000" pitchFamily="2" charset="2"/>
              <a:buChar char="v"/>
              <a:tabLst>
                <a:tab pos="457200" algn="l"/>
              </a:tabLst>
            </a:pPr>
            <a:r>
              <a:rPr lang="en-US" sz="3200" b="1" dirty="0">
                <a:latin typeface="Calibri" panose="020F0502020204030204" pitchFamily="34" charset="0"/>
                <a:ea typeface="Calibri" panose="020F0502020204030204" pitchFamily="34" charset="0"/>
                <a:cs typeface="Arial" panose="020B0604020202020204" pitchFamily="34" charset="0"/>
                <a:hlinkClick r:id="rId6"/>
              </a:rPr>
              <a:t>www.ibm.com</a:t>
            </a:r>
            <a:endParaRPr lang="en-US" sz="3200" b="1" dirty="0">
              <a:latin typeface="Calibri" panose="020F0502020204030204" pitchFamily="34" charset="0"/>
              <a:ea typeface="Calibri" panose="020F0502020204030204" pitchFamily="34" charset="0"/>
              <a:cs typeface="Arial" panose="020B0604020202020204" pitchFamily="34" charset="0"/>
            </a:endParaRPr>
          </a:p>
        </p:txBody>
      </p:sp>
      <p:sp>
        <p:nvSpPr>
          <p:cNvPr id="2" name="자유형: 도형 24">
            <a:extLst>
              <a:ext uri="{FF2B5EF4-FFF2-40B4-BE49-F238E27FC236}">
                <a16:creationId xmlns:a16="http://schemas.microsoft.com/office/drawing/2014/main" id="{C8DE1A95-7FF8-F86B-1DC2-C92C2F9D203B}"/>
              </a:ext>
            </a:extLst>
          </p:cNvPr>
          <p:cNvSpPr/>
          <p:nvPr/>
        </p:nvSpPr>
        <p:spPr>
          <a:xfrm>
            <a:off x="9179169" y="1223342"/>
            <a:ext cx="2998216"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2">
              <a:lumMod val="60000"/>
              <a:lumOff val="40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شركات</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ومواقع الاعمال الالكترونية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الناجحة</a:t>
            </a:r>
          </a:p>
        </p:txBody>
      </p:sp>
    </p:spTree>
    <p:extLst>
      <p:ext uri="{BB962C8B-B14F-4D97-AF65-F5344CB8AC3E}">
        <p14:creationId xmlns:p14="http://schemas.microsoft.com/office/powerpoint/2010/main" val="24971981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E25DB-9867-B3E1-5F6E-B583FBDD8CD2}"/>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A9E31F88-540F-035F-3656-9F71C84379B0}"/>
              </a:ext>
            </a:extLst>
          </p:cNvPr>
          <p:cNvSpPr txBox="1"/>
          <p:nvPr/>
        </p:nvSpPr>
        <p:spPr>
          <a:xfrm>
            <a:off x="131754" y="711577"/>
            <a:ext cx="9548577" cy="5348644"/>
          </a:xfrm>
          <a:prstGeom prst="rect">
            <a:avLst/>
          </a:prstGeom>
          <a:solidFill>
            <a:schemeClr val="accent2">
              <a:lumMod val="75000"/>
            </a:schemeClr>
          </a:solidFill>
        </p:spPr>
        <p:txBody>
          <a:bodyPr wrap="square">
            <a:spAutoFit/>
          </a:bodyPr>
          <a:lstStyle/>
          <a:p>
            <a:pPr algn="r" rtl="1">
              <a:lnSpc>
                <a:spcPct val="150000"/>
              </a:lnSpc>
            </a:pPr>
            <a:r>
              <a:rPr lang="ar-YE" sz="4000" b="1" dirty="0">
                <a:highlight>
                  <a:srgbClr val="00FFFF"/>
                </a:highlight>
                <a:latin typeface="Calibri" panose="020F0502020204030204" pitchFamily="34" charset="0"/>
                <a:ea typeface="Calibri" panose="020F0502020204030204" pitchFamily="34" charset="0"/>
                <a:cs typeface="Arial" panose="020B0604020202020204" pitchFamily="34" charset="0"/>
              </a:rPr>
              <a:t>شركات ومواقع الاعمال الالكترونية الفاشلة :</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4000" b="1" dirty="0">
                <a:latin typeface="Calibri" panose="020F0502020204030204" pitchFamily="34" charset="0"/>
                <a:ea typeface="Calibri" panose="020F0502020204030204" pitchFamily="34" charset="0"/>
                <a:cs typeface="Arial" panose="020B0604020202020204" pitchFamily="34" charset="0"/>
              </a:rPr>
              <a:t>هناك العديد من الشركات والمواقع التي تعمل من خلال النت وفشلت فيها ومنها:</a:t>
            </a:r>
          </a:p>
          <a:p>
            <a:pPr marL="742950" lvl="0" indent="-742950" algn="l">
              <a:lnSpc>
                <a:spcPct val="107000"/>
              </a:lnSpc>
              <a:spcAft>
                <a:spcPts val="800"/>
              </a:spcAft>
              <a:buSzPts val="1000"/>
              <a:buFont typeface="Wingdings" panose="05000000000000000000" pitchFamily="2" charset="2"/>
              <a:buChar char="v"/>
              <a:tabLst>
                <a:tab pos="457200" algn="l"/>
              </a:tabLst>
            </a:pPr>
            <a:r>
              <a:rPr lang="en-US" sz="4000" b="1" dirty="0">
                <a:latin typeface="Calibri" panose="020F0502020204030204" pitchFamily="34" charset="0"/>
                <a:ea typeface="Calibri" panose="020F0502020204030204" pitchFamily="34" charset="0"/>
                <a:cs typeface="Arial" panose="020B0604020202020204" pitchFamily="34" charset="0"/>
                <a:hlinkClick r:id="rId2"/>
              </a:rPr>
              <a:t>www.etovs.com</a:t>
            </a:r>
            <a:endParaRPr lang="en-US" sz="4000" b="1" dirty="0">
              <a:latin typeface="Calibri" panose="020F0502020204030204" pitchFamily="34" charset="0"/>
              <a:ea typeface="Calibri" panose="020F0502020204030204" pitchFamily="34" charset="0"/>
              <a:cs typeface="Arial" panose="020B0604020202020204" pitchFamily="34" charset="0"/>
            </a:endParaRPr>
          </a:p>
          <a:p>
            <a:pPr marL="742950" lvl="0" indent="-742950" algn="l">
              <a:lnSpc>
                <a:spcPct val="107000"/>
              </a:lnSpc>
              <a:spcAft>
                <a:spcPts val="800"/>
              </a:spcAft>
              <a:buSzPts val="1000"/>
              <a:buFont typeface="Wingdings" panose="05000000000000000000" pitchFamily="2" charset="2"/>
              <a:buChar char="v"/>
              <a:tabLst>
                <a:tab pos="457200" algn="l"/>
              </a:tabLst>
            </a:pPr>
            <a:r>
              <a:rPr lang="en-US" sz="4000" b="1" dirty="0">
                <a:latin typeface="Calibri" panose="020F0502020204030204" pitchFamily="34" charset="0"/>
                <a:ea typeface="Calibri" panose="020F0502020204030204" pitchFamily="34" charset="0"/>
                <a:cs typeface="Arial" panose="020B0604020202020204" pitchFamily="34" charset="0"/>
                <a:hlinkClick r:id="rId3"/>
              </a:rPr>
              <a:t>www.chemdex.com</a:t>
            </a:r>
            <a:endParaRPr lang="en-US" sz="4000" b="1" dirty="0">
              <a:latin typeface="Calibri" panose="020F0502020204030204" pitchFamily="34" charset="0"/>
              <a:ea typeface="Calibri" panose="020F0502020204030204" pitchFamily="34" charset="0"/>
              <a:cs typeface="Arial" panose="020B0604020202020204" pitchFamily="34" charset="0"/>
            </a:endParaRPr>
          </a:p>
          <a:p>
            <a:pPr marL="742950" lvl="0" indent="-742950" algn="l">
              <a:lnSpc>
                <a:spcPct val="107000"/>
              </a:lnSpc>
              <a:spcAft>
                <a:spcPts val="800"/>
              </a:spcAft>
              <a:buSzPts val="1000"/>
              <a:buFont typeface="Wingdings" panose="05000000000000000000" pitchFamily="2" charset="2"/>
              <a:buChar char="v"/>
              <a:tabLst>
                <a:tab pos="457200" algn="l"/>
              </a:tabLst>
            </a:pPr>
            <a:r>
              <a:rPr lang="en-US" sz="4000" b="1" dirty="0">
                <a:latin typeface="Calibri" panose="020F0502020204030204" pitchFamily="34" charset="0"/>
                <a:ea typeface="Calibri" panose="020F0502020204030204" pitchFamily="34" charset="0"/>
                <a:cs typeface="Arial" panose="020B0604020202020204" pitchFamily="34" charset="0"/>
                <a:hlinkClick r:id="rId4"/>
              </a:rPr>
              <a:t>www.verticalnet.com</a:t>
            </a:r>
            <a:endParaRPr lang="en-US" sz="4000" b="1" dirty="0">
              <a:latin typeface="Calibri" panose="020F0502020204030204" pitchFamily="34" charset="0"/>
              <a:ea typeface="Calibri" panose="020F0502020204030204" pitchFamily="34" charset="0"/>
              <a:cs typeface="Arial" panose="020B0604020202020204" pitchFamily="34" charset="0"/>
            </a:endParaRPr>
          </a:p>
          <a:p>
            <a:pPr marL="742950" lvl="0" indent="-742950" algn="l">
              <a:lnSpc>
                <a:spcPct val="107000"/>
              </a:lnSpc>
              <a:spcAft>
                <a:spcPts val="800"/>
              </a:spcAft>
              <a:buSzPts val="1000"/>
              <a:buFont typeface="Wingdings" panose="05000000000000000000" pitchFamily="2" charset="2"/>
              <a:buChar char="v"/>
              <a:tabLst>
                <a:tab pos="457200" algn="l"/>
              </a:tabLst>
            </a:pPr>
            <a:r>
              <a:rPr lang="en-US" sz="4000" b="1" dirty="0">
                <a:latin typeface="Calibri" panose="020F0502020204030204" pitchFamily="34" charset="0"/>
                <a:ea typeface="Calibri" panose="020F0502020204030204" pitchFamily="34" charset="0"/>
                <a:cs typeface="Arial" panose="020B0604020202020204" pitchFamily="34" charset="0"/>
                <a:hlinkClick r:id="rId5"/>
              </a:rPr>
              <a:t>www.drugstore.com</a:t>
            </a:r>
            <a:endParaRPr lang="en-US" sz="4000" b="1" dirty="0">
              <a:latin typeface="Calibri" panose="020F0502020204030204" pitchFamily="34" charset="0"/>
              <a:ea typeface="Calibri" panose="020F0502020204030204" pitchFamily="34" charset="0"/>
              <a:cs typeface="Arial" panose="020B0604020202020204" pitchFamily="34" charset="0"/>
            </a:endParaRPr>
          </a:p>
        </p:txBody>
      </p:sp>
      <p:sp>
        <p:nvSpPr>
          <p:cNvPr id="2" name="자유형: 도형 24">
            <a:extLst>
              <a:ext uri="{FF2B5EF4-FFF2-40B4-BE49-F238E27FC236}">
                <a16:creationId xmlns:a16="http://schemas.microsoft.com/office/drawing/2014/main" id="{B5593B95-84ED-E176-9250-98A70825064D}"/>
              </a:ext>
            </a:extLst>
          </p:cNvPr>
          <p:cNvSpPr/>
          <p:nvPr/>
        </p:nvSpPr>
        <p:spPr>
          <a:xfrm>
            <a:off x="9179169" y="1223342"/>
            <a:ext cx="2998216"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2">
              <a:lumMod val="60000"/>
              <a:lumOff val="40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شركات</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ومواقع الاعمال الالكترونية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فاشلة</a:t>
            </a:r>
          </a:p>
        </p:txBody>
      </p:sp>
    </p:spTree>
    <p:extLst>
      <p:ext uri="{BB962C8B-B14F-4D97-AF65-F5344CB8AC3E}">
        <p14:creationId xmlns:p14="http://schemas.microsoft.com/office/powerpoint/2010/main" val="20158250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81587-AE7F-FFFC-FB8F-8CE615DC2D0A}"/>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D3A883A3-B56F-D6BC-3398-BAD8BE6575F3}"/>
              </a:ext>
            </a:extLst>
          </p:cNvPr>
          <p:cNvSpPr txBox="1"/>
          <p:nvPr/>
        </p:nvSpPr>
        <p:spPr>
          <a:xfrm>
            <a:off x="131754" y="430225"/>
            <a:ext cx="9548577" cy="6007286"/>
          </a:xfrm>
          <a:prstGeom prst="rect">
            <a:avLst/>
          </a:prstGeom>
          <a:solidFill>
            <a:schemeClr val="accent2">
              <a:lumMod val="75000"/>
            </a:schemeClr>
          </a:solidFill>
        </p:spPr>
        <p:txBody>
          <a:bodyPr wrap="square">
            <a:spAutoFit/>
          </a:bodyPr>
          <a:lstStyle/>
          <a:p>
            <a:pPr algn="r" rtl="1">
              <a:lnSpc>
                <a:spcPct val="150000"/>
              </a:lnSpc>
            </a:pPr>
            <a:r>
              <a:rPr lang="ar-YE" sz="4000" b="1" dirty="0">
                <a:highlight>
                  <a:srgbClr val="00FFFF"/>
                </a:highlight>
                <a:latin typeface="Calibri" panose="020F0502020204030204" pitchFamily="34" charset="0"/>
                <a:ea typeface="Calibri" panose="020F0502020204030204" pitchFamily="34" charset="0"/>
                <a:cs typeface="Arial" panose="020B0604020202020204" pitchFamily="34" charset="0"/>
              </a:rPr>
              <a:t>أخطاء شركات ومواقع الاعمال الالكترونية :</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4000" b="1" dirty="0">
                <a:latin typeface="Calibri" panose="020F0502020204030204" pitchFamily="34" charset="0"/>
                <a:ea typeface="Calibri" panose="020F0502020204030204" pitchFamily="34" charset="0"/>
                <a:cs typeface="Arial" panose="020B0604020202020204" pitchFamily="34" charset="0"/>
              </a:rPr>
              <a:t>ابرز أسباب الفشل هو عدم فهم اليات العمل الإلكتروني وارتكاب جملة من الأخطاء منها:</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4000" b="1" dirty="0">
                <a:latin typeface="Calibri" panose="020F0502020204030204" pitchFamily="34" charset="0"/>
                <a:ea typeface="Calibri" panose="020F0502020204030204" pitchFamily="34" charset="0"/>
                <a:cs typeface="Arial" panose="020B0604020202020204" pitchFamily="34" charset="0"/>
              </a:rPr>
              <a:t>وضع تصورات وخطط خيالية لتحقيق عوائد وارباح خرافية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4000" b="1" dirty="0">
                <a:latin typeface="Calibri" panose="020F0502020204030204" pitchFamily="34" charset="0"/>
                <a:ea typeface="Calibri" panose="020F0502020204030204" pitchFamily="34" charset="0"/>
                <a:cs typeface="Arial" panose="020B0604020202020204" pitchFamily="34" charset="0"/>
              </a:rPr>
              <a:t>اتباع سياسات تسويقية باقل الاسعار- حرق الأسعار- </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4000" b="1" dirty="0">
                <a:latin typeface="Calibri" panose="020F0502020204030204" pitchFamily="34" charset="0"/>
                <a:ea typeface="Calibri" panose="020F0502020204030204" pitchFamily="34" charset="0"/>
                <a:cs typeface="Arial" panose="020B0604020202020204" pitchFamily="34" charset="0"/>
              </a:rPr>
              <a:t>استخدام أموال التطوير في البناء</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4000" b="1" dirty="0">
                <a:latin typeface="Calibri" panose="020F0502020204030204" pitchFamily="34" charset="0"/>
                <a:ea typeface="Calibri" panose="020F0502020204030204" pitchFamily="34" charset="0"/>
                <a:cs typeface="Arial" panose="020B0604020202020204" pitchFamily="34" charset="0"/>
              </a:rPr>
              <a:t>عدم فهم ونمذجة العمل في الشبكة وعبر النت</a:t>
            </a:r>
            <a:endParaRPr lang="en-US" sz="4000" b="1" dirty="0">
              <a:latin typeface="Calibri" panose="020F0502020204030204" pitchFamily="34" charset="0"/>
              <a:ea typeface="Calibri" panose="020F0502020204030204" pitchFamily="34" charset="0"/>
              <a:cs typeface="Arial" panose="020B0604020202020204" pitchFamily="34" charset="0"/>
            </a:endParaRPr>
          </a:p>
        </p:txBody>
      </p:sp>
      <p:sp>
        <p:nvSpPr>
          <p:cNvPr id="2" name="자유형: 도형 24">
            <a:extLst>
              <a:ext uri="{FF2B5EF4-FFF2-40B4-BE49-F238E27FC236}">
                <a16:creationId xmlns:a16="http://schemas.microsoft.com/office/drawing/2014/main" id="{0B25713C-BB79-93AA-29E6-7BCEF8AED92C}"/>
              </a:ext>
            </a:extLst>
          </p:cNvPr>
          <p:cNvSpPr/>
          <p:nvPr/>
        </p:nvSpPr>
        <p:spPr>
          <a:xfrm>
            <a:off x="9179169" y="1223342"/>
            <a:ext cx="2998216"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2">
              <a:lumMod val="60000"/>
              <a:lumOff val="40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أخطاء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شركات</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ومواقع الاعمال الالكترونية</a:t>
            </a:r>
          </a:p>
          <a:p>
            <a:pPr algn="ctr" rtl="1"/>
            <a:endParaRPr lang="ar-YE" sz="4000" b="1"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069258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2EBD2-5F36-364A-1E2B-918B766CF165}"/>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C10151D3-3DC5-F8EA-663C-E83C5377F8E1}"/>
              </a:ext>
            </a:extLst>
          </p:cNvPr>
          <p:cNvSpPr txBox="1"/>
          <p:nvPr/>
        </p:nvSpPr>
        <p:spPr>
          <a:xfrm>
            <a:off x="105377" y="1464616"/>
            <a:ext cx="9548577" cy="3928768"/>
          </a:xfrm>
          <a:prstGeom prst="rect">
            <a:avLst/>
          </a:prstGeom>
          <a:solidFill>
            <a:schemeClr val="accent2">
              <a:lumMod val="75000"/>
            </a:schemeClr>
          </a:solidFill>
        </p:spPr>
        <p:txBody>
          <a:bodyPr wrap="square">
            <a:spAutoFit/>
          </a:bodyPr>
          <a:lstStyle/>
          <a:p>
            <a:pPr algn="r" rtl="1">
              <a:lnSpc>
                <a:spcPct val="150000"/>
              </a:lnSpc>
            </a:pPr>
            <a:r>
              <a:rPr lang="ar-YE" sz="4000" b="1" dirty="0">
                <a:highlight>
                  <a:srgbClr val="00FFFF"/>
                </a:highlight>
                <a:latin typeface="Calibri" panose="020F0502020204030204" pitchFamily="34" charset="0"/>
                <a:ea typeface="Calibri" panose="020F0502020204030204" pitchFamily="34" charset="0"/>
                <a:cs typeface="Arial" panose="020B0604020202020204" pitchFamily="34" charset="0"/>
              </a:rPr>
              <a:t>أخطاء شركات ومواقع الاعمال الالكترونية :</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4000" b="1" dirty="0">
                <a:latin typeface="Calibri" panose="020F0502020204030204" pitchFamily="34" charset="0"/>
                <a:ea typeface="Calibri" panose="020F0502020204030204" pitchFamily="34" charset="0"/>
                <a:cs typeface="Arial" panose="020B0604020202020204" pitchFamily="34" charset="0"/>
              </a:rPr>
              <a:t>أخطاء المحللين وواضعي الخطط للشركات</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4000" b="1" dirty="0">
                <a:latin typeface="Calibri" panose="020F0502020204030204" pitchFamily="34" charset="0"/>
                <a:ea typeface="Calibri" panose="020F0502020204030204" pitchFamily="34" charset="0"/>
                <a:cs typeface="Arial" panose="020B0604020202020204" pitchFamily="34" charset="0"/>
              </a:rPr>
              <a:t>الافراط في الاحلام والتفاؤل بالعائد الكبير</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4000" b="1" dirty="0">
                <a:latin typeface="Calibri" panose="020F0502020204030204" pitchFamily="34" charset="0"/>
                <a:ea typeface="Calibri" panose="020F0502020204030204" pitchFamily="34" charset="0"/>
                <a:cs typeface="Arial" panose="020B0604020202020204" pitchFamily="34" charset="0"/>
              </a:rPr>
              <a:t>أخطاء المستثمرين والممولين ومنها تعجل النتائج</a:t>
            </a:r>
          </a:p>
          <a:p>
            <a:pPr marL="742950" lvl="0" indent="-742950" algn="r" rtl="1">
              <a:lnSpc>
                <a:spcPct val="107000"/>
              </a:lnSpc>
              <a:spcAft>
                <a:spcPts val="800"/>
              </a:spcAft>
              <a:buSzPts val="1000"/>
              <a:buFont typeface="Wingdings" panose="05000000000000000000" pitchFamily="2" charset="2"/>
              <a:buChar char="v"/>
              <a:tabLst>
                <a:tab pos="457200" algn="l"/>
              </a:tabLst>
            </a:pPr>
            <a:endParaRPr lang="en-US" sz="4000" b="1" dirty="0">
              <a:latin typeface="Calibri" panose="020F0502020204030204" pitchFamily="34" charset="0"/>
              <a:ea typeface="Calibri" panose="020F0502020204030204" pitchFamily="34" charset="0"/>
              <a:cs typeface="Arial" panose="020B0604020202020204" pitchFamily="34" charset="0"/>
            </a:endParaRPr>
          </a:p>
        </p:txBody>
      </p:sp>
      <p:sp>
        <p:nvSpPr>
          <p:cNvPr id="2" name="자유형: 도형 24">
            <a:extLst>
              <a:ext uri="{FF2B5EF4-FFF2-40B4-BE49-F238E27FC236}">
                <a16:creationId xmlns:a16="http://schemas.microsoft.com/office/drawing/2014/main" id="{C88A139B-5B85-2D86-410C-6B6462B35E70}"/>
              </a:ext>
            </a:extLst>
          </p:cNvPr>
          <p:cNvSpPr/>
          <p:nvPr/>
        </p:nvSpPr>
        <p:spPr>
          <a:xfrm>
            <a:off x="9179169" y="1223342"/>
            <a:ext cx="2998216"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2">
              <a:lumMod val="60000"/>
              <a:lumOff val="40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أخطاء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شركات</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ومواقع الاعمال الالكترونية</a:t>
            </a:r>
          </a:p>
          <a:p>
            <a:pPr algn="ctr" rtl="1"/>
            <a:endParaRPr lang="ar-YE" sz="4000" b="1"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9966483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7AE05-1353-E89A-F89D-7C166A621248}"/>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922F240F-9C9F-82C7-EB58-26F9A8F97BB4}"/>
              </a:ext>
            </a:extLst>
          </p:cNvPr>
          <p:cNvSpPr txBox="1"/>
          <p:nvPr/>
        </p:nvSpPr>
        <p:spPr>
          <a:xfrm>
            <a:off x="79000" y="1223342"/>
            <a:ext cx="9548577" cy="4952894"/>
          </a:xfrm>
          <a:prstGeom prst="rect">
            <a:avLst/>
          </a:prstGeom>
          <a:solidFill>
            <a:schemeClr val="accent2">
              <a:lumMod val="75000"/>
            </a:schemeClr>
          </a:solidFill>
        </p:spPr>
        <p:txBody>
          <a:bodyPr wrap="square">
            <a:spAutoFit/>
          </a:bodyPr>
          <a:lstStyle/>
          <a:p>
            <a:pPr algn="r" rtl="1">
              <a:lnSpc>
                <a:spcPct val="150000"/>
              </a:lnSpc>
            </a:pPr>
            <a:r>
              <a:rPr lang="ar-YE" sz="4000" b="1" dirty="0">
                <a:highlight>
                  <a:srgbClr val="00FFFF"/>
                </a:highlight>
                <a:latin typeface="Calibri" panose="020F0502020204030204" pitchFamily="34" charset="0"/>
                <a:ea typeface="Calibri" panose="020F0502020204030204" pitchFamily="34" charset="0"/>
                <a:cs typeface="Arial" panose="020B0604020202020204" pitchFamily="34" charset="0"/>
              </a:rPr>
              <a:t>الدروس المستفادة من أخطاء شركات الاعمال الالكترونية </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600" b="1" dirty="0">
                <a:latin typeface="Calibri" panose="020F0502020204030204" pitchFamily="34" charset="0"/>
                <a:ea typeface="Calibri" panose="020F0502020204030204" pitchFamily="34" charset="0"/>
                <a:cs typeface="Arial" panose="020B0604020202020204" pitchFamily="34" charset="0"/>
              </a:rPr>
              <a:t>عدم وضوح خطة العمل والتقليد الاعمى مع تغير الظروف</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600" b="1" dirty="0">
                <a:latin typeface="Calibri" panose="020F0502020204030204" pitchFamily="34" charset="0"/>
                <a:ea typeface="Calibri" panose="020F0502020204030204" pitchFamily="34" charset="0"/>
                <a:cs typeface="Arial" panose="020B0604020202020204" pitchFamily="34" charset="0"/>
              </a:rPr>
              <a:t>عدم الاعتماد على سياسة اقل الأسعار وانما اعلى جودة </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600" b="1" dirty="0">
                <a:latin typeface="Calibri" panose="020F0502020204030204" pitchFamily="34" charset="0"/>
                <a:ea typeface="Calibri" panose="020F0502020204030204" pitchFamily="34" charset="0"/>
                <a:cs typeface="Arial" panose="020B0604020202020204" pitchFamily="34" charset="0"/>
              </a:rPr>
              <a:t>مراعاة العوامل الاقتصادية المعروفة على ارض الواقع </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600" b="1" dirty="0">
                <a:latin typeface="Calibri" panose="020F0502020204030204" pitchFamily="34" charset="0"/>
                <a:ea typeface="Calibri" panose="020F0502020204030204" pitchFamily="34" charset="0"/>
                <a:cs typeface="Arial" panose="020B0604020202020204" pitchFamily="34" charset="0"/>
              </a:rPr>
              <a:t>الظهور في النت لا يعني النجاح لان هناك عوامل أخرى</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600" b="1" dirty="0">
                <a:latin typeface="Calibri" panose="020F0502020204030204" pitchFamily="34" charset="0"/>
                <a:ea typeface="Calibri" panose="020F0502020204030204" pitchFamily="34" charset="0"/>
                <a:cs typeface="Arial" panose="020B0604020202020204" pitchFamily="34" charset="0"/>
              </a:rPr>
              <a:t>العمل الإلكتروني غير في طبيعة الاعمال والناس بشكل كبير مما أدى الى مقاومة التغيير</a:t>
            </a:r>
            <a:endParaRPr lang="en-US" sz="3600" b="1" dirty="0">
              <a:latin typeface="Calibri" panose="020F0502020204030204" pitchFamily="34" charset="0"/>
              <a:ea typeface="Calibri" panose="020F0502020204030204" pitchFamily="34" charset="0"/>
              <a:cs typeface="Arial" panose="020B0604020202020204" pitchFamily="34" charset="0"/>
            </a:endParaRPr>
          </a:p>
        </p:txBody>
      </p:sp>
      <p:sp>
        <p:nvSpPr>
          <p:cNvPr id="2" name="자유형: 도형 24">
            <a:extLst>
              <a:ext uri="{FF2B5EF4-FFF2-40B4-BE49-F238E27FC236}">
                <a16:creationId xmlns:a16="http://schemas.microsoft.com/office/drawing/2014/main" id="{15E16845-4607-E353-9EED-EBB18C59E269}"/>
              </a:ext>
            </a:extLst>
          </p:cNvPr>
          <p:cNvSpPr/>
          <p:nvPr/>
        </p:nvSpPr>
        <p:spPr>
          <a:xfrm>
            <a:off x="9179169" y="1223342"/>
            <a:ext cx="2998216"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2">
              <a:lumMod val="60000"/>
              <a:lumOff val="40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أخطاء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شركات</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 ومواقع الاعمال الالكترونية</a:t>
            </a:r>
          </a:p>
          <a:p>
            <a:pPr algn="ctr" rtl="1"/>
            <a:endParaRPr lang="ar-YE" sz="4000" b="1"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7050942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0546B-451E-B787-FE9B-F8912D25B4D1}"/>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1D12FC68-45F2-68BB-F1B4-5C2B9B7E3F73}"/>
              </a:ext>
            </a:extLst>
          </p:cNvPr>
          <p:cNvSpPr txBox="1"/>
          <p:nvPr/>
        </p:nvSpPr>
        <p:spPr>
          <a:xfrm>
            <a:off x="184510" y="130469"/>
            <a:ext cx="9548577" cy="6597062"/>
          </a:xfrm>
          <a:prstGeom prst="rect">
            <a:avLst/>
          </a:prstGeom>
          <a:solidFill>
            <a:srgbClr val="0070C0"/>
          </a:solidFill>
        </p:spPr>
        <p:txBody>
          <a:bodyPr wrap="square">
            <a:spAutoFit/>
          </a:bodyPr>
          <a:lstStyle/>
          <a:p>
            <a:pPr algn="r" rtl="1">
              <a:lnSpc>
                <a:spcPct val="150000"/>
              </a:lnSpc>
            </a:pPr>
            <a:r>
              <a:rPr lang="ar-YE" sz="2800" b="1" dirty="0">
                <a:highlight>
                  <a:srgbClr val="00FFFF"/>
                </a:highlight>
                <a:latin typeface="Calibri" panose="020F0502020204030204" pitchFamily="34" charset="0"/>
                <a:ea typeface="Calibri" panose="020F0502020204030204" pitchFamily="34" charset="0"/>
                <a:cs typeface="Arial" panose="020B0604020202020204" pitchFamily="34" charset="0"/>
              </a:rPr>
              <a:t>الاختلافات الرئيسية بين نموذج العمل التقليدي ونموذج العمل الالكتروني</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تختلف نماذج الاعمال الالكترونية عن الاعمال التقليدية  التالية: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بناء الخطط والاستراتيجيات بالاعتماد على التكنولوجيا والبرمجة</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العمل بدون حواجز زمنية ومكانية </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توظيف قدرات التكنولوجيا في صفحات الويب عبر واجهات المستخدم عبر متصفح الانترنت</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المتحكم في التفاعل هو العميل (يبدأ – ينهي – ويطلب - يوافق)</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زيادة المعرفة والمعلومات عن المتصفح وسلوكه في النت وتسجيله وتحليله وتتبعه وإعادة استخدامه</a:t>
            </a:r>
          </a:p>
          <a:p>
            <a:pPr marL="742950" lvl="0" indent="-742950" algn="r" rtl="1">
              <a:lnSpc>
                <a:spcPct val="107000"/>
              </a:lnSpc>
              <a:spcAft>
                <a:spcPts val="800"/>
              </a:spcAft>
              <a:buSzPts val="1000"/>
              <a:buFont typeface="Wingdings" panose="05000000000000000000" pitchFamily="2" charset="2"/>
              <a:buChar char="v"/>
              <a:tabLst>
                <a:tab pos="457200" algn="l"/>
              </a:tabLst>
            </a:pPr>
            <a:r>
              <a:rPr lang="ar-YE" sz="3200" b="1" dirty="0">
                <a:latin typeface="Calibri" panose="020F0502020204030204" pitchFamily="34" charset="0"/>
                <a:ea typeface="Calibri" panose="020F0502020204030204" pitchFamily="34" charset="0"/>
                <a:cs typeface="Arial" panose="020B0604020202020204" pitchFamily="34" charset="0"/>
              </a:rPr>
              <a:t>سهولة التفاعل مع المستخدم في بيئة الشبكة يزيد من جمع المعلومات العكسية</a:t>
            </a:r>
            <a:endParaRPr lang="en-US" sz="3200" b="1" dirty="0">
              <a:latin typeface="Calibri" panose="020F0502020204030204" pitchFamily="34" charset="0"/>
              <a:ea typeface="Calibri" panose="020F0502020204030204" pitchFamily="34" charset="0"/>
              <a:cs typeface="Arial" panose="020B0604020202020204" pitchFamily="34" charset="0"/>
            </a:endParaRPr>
          </a:p>
        </p:txBody>
      </p:sp>
      <p:sp>
        <p:nvSpPr>
          <p:cNvPr id="2" name="자유형: 도형 24">
            <a:extLst>
              <a:ext uri="{FF2B5EF4-FFF2-40B4-BE49-F238E27FC236}">
                <a16:creationId xmlns:a16="http://schemas.microsoft.com/office/drawing/2014/main" id="{45FCB432-E2CF-606D-D96F-A80A852BAA23}"/>
              </a:ext>
            </a:extLst>
          </p:cNvPr>
          <p:cNvSpPr/>
          <p:nvPr/>
        </p:nvSpPr>
        <p:spPr>
          <a:xfrm>
            <a:off x="9179169" y="1223342"/>
            <a:ext cx="2998216"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rgbClr val="00B0F0"/>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نموذج</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الاعمال الالكترونية</a:t>
            </a:r>
          </a:p>
          <a:p>
            <a:pPr algn="ctr" rtl="1"/>
            <a:endParaRPr lang="ar-YE" sz="4000" b="1"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8986440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08509-A990-909A-BF50-8194D7DEEEF0}"/>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56BFDAA5-62A0-E6C8-96CD-36A491488ABA}"/>
              </a:ext>
            </a:extLst>
          </p:cNvPr>
          <p:cNvSpPr txBox="1"/>
          <p:nvPr/>
        </p:nvSpPr>
        <p:spPr>
          <a:xfrm>
            <a:off x="184511" y="130469"/>
            <a:ext cx="8774852" cy="5806654"/>
          </a:xfrm>
          <a:prstGeom prst="rect">
            <a:avLst/>
          </a:prstGeom>
          <a:solidFill>
            <a:srgbClr val="0070C0"/>
          </a:solidFill>
        </p:spPr>
        <p:txBody>
          <a:bodyPr wrap="square">
            <a:spAutoFit/>
          </a:bodyPr>
          <a:lstStyle/>
          <a:p>
            <a:pPr algn="r" rtl="1">
              <a:lnSpc>
                <a:spcPct val="150000"/>
              </a:lnSpc>
            </a:pPr>
            <a:r>
              <a:rPr lang="ar-YE" sz="3600" b="1" dirty="0">
                <a:highlight>
                  <a:srgbClr val="00FFFF"/>
                </a:highlight>
                <a:latin typeface="Calibri" panose="020F0502020204030204" pitchFamily="34" charset="0"/>
                <a:ea typeface="Calibri" panose="020F0502020204030204" pitchFamily="34" charset="0"/>
                <a:cs typeface="Arial" panose="020B0604020202020204" pitchFamily="34" charset="0"/>
              </a:rPr>
              <a:t>نموذج استراتيجية الاعمال الالكترونية</a:t>
            </a:r>
          </a:p>
          <a:p>
            <a:pPr algn="r" rtl="1">
              <a:lnSpc>
                <a:spcPct val="150000"/>
              </a:lnSpc>
            </a:pPr>
            <a:r>
              <a:rPr lang="ar-YE" sz="3600" dirty="0" err="1"/>
              <a:t>يو</a:t>
            </a:r>
            <a:r>
              <a:rPr lang="ar-YE" sz="3600" dirty="0"/>
              <a:t> جد أربعة ابعاد أو محاور فًي نموذج الاستراتيجية الإلكترونية</a:t>
            </a:r>
          </a:p>
          <a:p>
            <a:pPr algn="r" rtl="1">
              <a:lnSpc>
                <a:spcPct val="150000"/>
              </a:lnSpc>
            </a:pPr>
            <a:r>
              <a:rPr lang="en-US" sz="3600" dirty="0">
                <a:highlight>
                  <a:srgbClr val="FFFF00"/>
                </a:highlight>
              </a:rPr>
              <a:t>Technology Leadership </a:t>
            </a:r>
            <a:endParaRPr lang="ar-YE" sz="3600" dirty="0">
              <a:highlight>
                <a:srgbClr val="FFFF00"/>
              </a:highlight>
            </a:endParaRPr>
          </a:p>
          <a:p>
            <a:pPr algn="r" rtl="1">
              <a:lnSpc>
                <a:spcPct val="150000"/>
              </a:lnSpc>
            </a:pPr>
            <a:r>
              <a:rPr lang="en-US" sz="3600" dirty="0">
                <a:highlight>
                  <a:srgbClr val="00FFFF"/>
                </a:highlight>
              </a:rPr>
              <a:t>Brand Leadership</a:t>
            </a:r>
            <a:endParaRPr lang="ar-YE" sz="3600" dirty="0">
              <a:highlight>
                <a:srgbClr val="00FFFF"/>
              </a:highlight>
            </a:endParaRPr>
          </a:p>
          <a:p>
            <a:pPr algn="r" rtl="1">
              <a:lnSpc>
                <a:spcPct val="150000"/>
              </a:lnSpc>
            </a:pPr>
            <a:r>
              <a:rPr lang="en-US" sz="3600" dirty="0">
                <a:highlight>
                  <a:srgbClr val="FF00FF"/>
                </a:highlight>
              </a:rPr>
              <a:t>Market Leadership</a:t>
            </a:r>
            <a:endParaRPr lang="ar-YE" sz="3600" dirty="0">
              <a:highlight>
                <a:srgbClr val="FF00FF"/>
              </a:highlight>
            </a:endParaRPr>
          </a:p>
          <a:p>
            <a:pPr algn="r" rtl="1">
              <a:lnSpc>
                <a:spcPct val="150000"/>
              </a:lnSpc>
            </a:pPr>
            <a:r>
              <a:rPr lang="en-US" sz="3600" dirty="0">
                <a:highlight>
                  <a:srgbClr val="C0C0C0"/>
                </a:highlight>
              </a:rPr>
              <a:t>Service Leadership</a:t>
            </a:r>
            <a:endParaRPr lang="ar-YE" sz="3600" b="1" dirty="0">
              <a:highlight>
                <a:srgbClr val="C0C0C0"/>
              </a:highlight>
              <a:latin typeface="Calibri" panose="020F0502020204030204" pitchFamily="34" charset="0"/>
              <a:ea typeface="Calibri" panose="020F0502020204030204" pitchFamily="34" charset="0"/>
              <a:cs typeface="Arial" panose="020B0604020202020204" pitchFamily="34" charset="0"/>
            </a:endParaRPr>
          </a:p>
        </p:txBody>
      </p:sp>
      <p:sp>
        <p:nvSpPr>
          <p:cNvPr id="2" name="자유형: 도형 24">
            <a:extLst>
              <a:ext uri="{FF2B5EF4-FFF2-40B4-BE49-F238E27FC236}">
                <a16:creationId xmlns:a16="http://schemas.microsoft.com/office/drawing/2014/main" id="{1997A96D-5637-7E35-BD4D-26B970B039BD}"/>
              </a:ext>
            </a:extLst>
          </p:cNvPr>
          <p:cNvSpPr/>
          <p:nvPr/>
        </p:nvSpPr>
        <p:spPr>
          <a:xfrm>
            <a:off x="9179169" y="1223342"/>
            <a:ext cx="2998216"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rgbClr val="00B0F0"/>
          </a:solidFill>
          <a:ln w="9525" cap="flat">
            <a:noFill/>
            <a:prstDash val="solid"/>
            <a:miter/>
          </a:ln>
        </p:spPr>
        <p:txBody>
          <a:bodyPr rtlCol="0" anchor="ctr"/>
          <a:lstStyle/>
          <a:p>
            <a:pPr algn="ctr" rtl="1"/>
            <a:r>
              <a:rPr lang="en-US" sz="2800" dirty="0"/>
              <a:t>Electronic Strategy Model </a:t>
            </a:r>
            <a:r>
              <a:rPr lang="ar-YE" sz="2800" dirty="0"/>
              <a:t>نموذج الاستراتيجية</a:t>
            </a:r>
          </a:p>
          <a:p>
            <a:pPr algn="ctr" rtl="1"/>
            <a:r>
              <a:rPr lang="ar-YE" sz="2800" b="1" dirty="0">
                <a:latin typeface="Calibri" panose="020F0502020204030204" pitchFamily="34" charset="0"/>
                <a:ea typeface="Calibri" panose="020F0502020204030204" pitchFamily="34" charset="0"/>
                <a:cs typeface="Arial" panose="020B0604020202020204" pitchFamily="34" charset="0"/>
              </a:rPr>
              <a:t>الالكترونية</a:t>
            </a:r>
          </a:p>
        </p:txBody>
      </p:sp>
    </p:spTree>
    <p:extLst>
      <p:ext uri="{BB962C8B-B14F-4D97-AF65-F5344CB8AC3E}">
        <p14:creationId xmlns:p14="http://schemas.microsoft.com/office/powerpoint/2010/main" val="25049507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AF14A-794D-052E-6583-0B6F560B8E79}"/>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6F594389-880A-E03B-5ADC-BFB9F43A1054}"/>
              </a:ext>
            </a:extLst>
          </p:cNvPr>
          <p:cNvSpPr txBox="1"/>
          <p:nvPr/>
        </p:nvSpPr>
        <p:spPr>
          <a:xfrm>
            <a:off x="404317" y="1383497"/>
            <a:ext cx="8774852" cy="4029501"/>
          </a:xfrm>
          <a:prstGeom prst="rect">
            <a:avLst/>
          </a:prstGeom>
          <a:solidFill>
            <a:srgbClr val="0070C0"/>
          </a:solidFill>
        </p:spPr>
        <p:txBody>
          <a:bodyPr wrap="square">
            <a:spAutoFit/>
          </a:bodyPr>
          <a:lstStyle/>
          <a:p>
            <a:pPr algn="r" rtl="1">
              <a:lnSpc>
                <a:spcPct val="150000"/>
              </a:lnSpc>
            </a:pPr>
            <a:r>
              <a:rPr lang="ar-YE" sz="4400" b="1" dirty="0">
                <a:highlight>
                  <a:srgbClr val="00FF00"/>
                </a:highlight>
                <a:latin typeface="Calibri" panose="020F0502020204030204" pitchFamily="34" charset="0"/>
                <a:ea typeface="Calibri" panose="020F0502020204030204" pitchFamily="34" charset="0"/>
                <a:cs typeface="Arial" panose="020B0604020202020204" pitchFamily="34" charset="0"/>
              </a:rPr>
              <a:t>أنواع منظمات الاعمال </a:t>
            </a:r>
            <a:r>
              <a:rPr lang="ar-YE" sz="4400" b="1" dirty="0">
                <a:highlight>
                  <a:srgbClr val="00FFFF"/>
                </a:highlight>
                <a:latin typeface="Calibri" panose="020F0502020204030204" pitchFamily="34" charset="0"/>
                <a:ea typeface="Calibri" panose="020F0502020204030204" pitchFamily="34" charset="0"/>
                <a:cs typeface="Arial" panose="020B0604020202020204" pitchFamily="34" charset="0"/>
              </a:rPr>
              <a:t>الالكترونية</a:t>
            </a:r>
          </a:p>
          <a:p>
            <a:pPr algn="r" rtl="1">
              <a:lnSpc>
                <a:spcPct val="150000"/>
              </a:lnSpc>
            </a:pPr>
            <a:r>
              <a:rPr lang="ar-YE" sz="4400" dirty="0">
                <a:highlight>
                  <a:srgbClr val="808080"/>
                </a:highlight>
              </a:rPr>
              <a:t>منظمات اعمال نشأت في بيئة الانترنت</a:t>
            </a:r>
          </a:p>
          <a:p>
            <a:pPr algn="r" rtl="1">
              <a:lnSpc>
                <a:spcPct val="150000"/>
              </a:lnSpc>
            </a:pPr>
            <a:r>
              <a:rPr lang="ar-YE" sz="4400" b="1" dirty="0">
                <a:highlight>
                  <a:srgbClr val="C0C0C0"/>
                </a:highlight>
                <a:latin typeface="Calibri" panose="020F0502020204030204" pitchFamily="34" charset="0"/>
                <a:ea typeface="Calibri" panose="020F0502020204030204" pitchFamily="34" charset="0"/>
                <a:cs typeface="Arial" panose="020B0604020202020204" pitchFamily="34" charset="0"/>
              </a:rPr>
              <a:t>منظمات انتقلت للعمل الى بيئة الانترنت</a:t>
            </a:r>
          </a:p>
          <a:p>
            <a:pPr algn="r" rtl="1">
              <a:lnSpc>
                <a:spcPct val="150000"/>
              </a:lnSpc>
            </a:pPr>
            <a:endParaRPr lang="ar-YE" sz="4400" b="1" dirty="0">
              <a:highlight>
                <a:srgbClr val="C0C0C0"/>
              </a:highlight>
              <a:latin typeface="Calibri" panose="020F0502020204030204" pitchFamily="34" charset="0"/>
              <a:ea typeface="Calibri" panose="020F0502020204030204" pitchFamily="34" charset="0"/>
              <a:cs typeface="Arial" panose="020B0604020202020204" pitchFamily="34" charset="0"/>
            </a:endParaRPr>
          </a:p>
        </p:txBody>
      </p:sp>
      <p:sp>
        <p:nvSpPr>
          <p:cNvPr id="2" name="자유형: 도형 24">
            <a:extLst>
              <a:ext uri="{FF2B5EF4-FFF2-40B4-BE49-F238E27FC236}">
                <a16:creationId xmlns:a16="http://schemas.microsoft.com/office/drawing/2014/main" id="{B73A0A55-7ACD-0419-996C-8222D28AA3EA}"/>
              </a:ext>
            </a:extLst>
          </p:cNvPr>
          <p:cNvSpPr/>
          <p:nvPr/>
        </p:nvSpPr>
        <p:spPr>
          <a:xfrm>
            <a:off x="9179169" y="1223342"/>
            <a:ext cx="2998216"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rgbClr val="00B0F0"/>
          </a:solidFill>
          <a:ln w="9525" cap="flat">
            <a:noFill/>
            <a:prstDash val="solid"/>
            <a:miter/>
          </a:ln>
        </p:spPr>
        <p:txBody>
          <a:bodyPr rtlCol="0" anchor="ctr"/>
          <a:lstStyle/>
          <a:p>
            <a:pPr algn="ctr" rtl="1"/>
            <a:r>
              <a:rPr lang="ar-YE" sz="2800" b="1" dirty="0">
                <a:latin typeface="Calibri" panose="020F0502020204030204" pitchFamily="34" charset="0"/>
                <a:ea typeface="Calibri" panose="020F0502020204030204" pitchFamily="34" charset="0"/>
                <a:cs typeface="Arial" panose="020B0604020202020204" pitchFamily="34" charset="0"/>
              </a:rPr>
              <a:t>أنواع منظمات الاعمال </a:t>
            </a:r>
          </a:p>
          <a:p>
            <a:pPr algn="ctr" rtl="1"/>
            <a:r>
              <a:rPr lang="ar-YE" sz="2800" b="1" dirty="0">
                <a:latin typeface="Calibri" panose="020F0502020204030204" pitchFamily="34" charset="0"/>
                <a:ea typeface="Calibri" panose="020F0502020204030204" pitchFamily="34" charset="0"/>
                <a:cs typeface="Arial" panose="020B0604020202020204" pitchFamily="34" charset="0"/>
              </a:rPr>
              <a:t>الالكترونية</a:t>
            </a:r>
          </a:p>
        </p:txBody>
      </p:sp>
    </p:spTree>
    <p:extLst>
      <p:ext uri="{BB962C8B-B14F-4D97-AF65-F5344CB8AC3E}">
        <p14:creationId xmlns:p14="http://schemas.microsoft.com/office/powerpoint/2010/main" val="7153655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53575-1E1A-956E-6BED-ED5F2C868B97}"/>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699567C9-9C6D-1D90-F07D-9A72B97D62DF}"/>
              </a:ext>
            </a:extLst>
          </p:cNvPr>
          <p:cNvSpPr txBox="1"/>
          <p:nvPr/>
        </p:nvSpPr>
        <p:spPr>
          <a:xfrm>
            <a:off x="689479" y="1556919"/>
            <a:ext cx="7909223" cy="3209533"/>
          </a:xfrm>
          <a:prstGeom prst="rect">
            <a:avLst/>
          </a:prstGeom>
          <a:solidFill>
            <a:schemeClr val="accent3">
              <a:lumMod val="60000"/>
              <a:lumOff val="40000"/>
            </a:schemeClr>
          </a:solidFill>
        </p:spPr>
        <p:txBody>
          <a:bodyPr wrap="square">
            <a:spAutoFit/>
          </a:bodyPr>
          <a:lstStyle/>
          <a:p>
            <a:pPr algn="ctr" rtl="1">
              <a:lnSpc>
                <a:spcPct val="115000"/>
              </a:lnSpc>
              <a:spcBef>
                <a:spcPts val="500"/>
              </a:spcBef>
              <a:spcAft>
                <a:spcPts val="1000"/>
              </a:spcAft>
            </a:pPr>
            <a:r>
              <a:rPr lang="ar-YE" sz="6000" b="1" dirty="0">
                <a:effectLst/>
                <a:highlight>
                  <a:srgbClr val="00FFFF"/>
                </a:highlight>
                <a:latin typeface="Calibri" panose="020F0502020204030204" pitchFamily="34" charset="0"/>
                <a:ea typeface="Calibri" panose="020F0502020204030204" pitchFamily="34" charset="0"/>
                <a:cs typeface="Arial" panose="020B0604020202020204" pitchFamily="34" charset="0"/>
              </a:rPr>
              <a:t>استراتيجية تكنولوجيا المعلومات والتحول الرقمي في المنظمات المعاصرة</a:t>
            </a:r>
            <a:endParaRPr lang="en-US" sz="6000" b="1" dirty="0">
              <a:effectLst/>
              <a:highlight>
                <a:srgbClr val="00FFFF"/>
              </a:highlight>
              <a:latin typeface="Calibri" panose="020F0502020204030204" pitchFamily="34" charset="0"/>
              <a:ea typeface="Calibri" panose="020F0502020204030204" pitchFamily="34" charset="0"/>
              <a:cs typeface="Arial" panose="020B0604020202020204" pitchFamily="34" charset="0"/>
            </a:endParaRPr>
          </a:p>
        </p:txBody>
      </p:sp>
      <p:sp>
        <p:nvSpPr>
          <p:cNvPr id="2" name="자유형: 도형 24">
            <a:extLst>
              <a:ext uri="{FF2B5EF4-FFF2-40B4-BE49-F238E27FC236}">
                <a16:creationId xmlns:a16="http://schemas.microsoft.com/office/drawing/2014/main" id="{A5A06574-2089-1B65-52AF-B9B39C8BB2DC}"/>
              </a:ext>
            </a:extLst>
          </p:cNvPr>
          <p:cNvSpPr/>
          <p:nvPr/>
        </p:nvSpPr>
        <p:spPr>
          <a:xfrm>
            <a:off x="8651454" y="77796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المحاضرة السادسة</a:t>
            </a:r>
          </a:p>
        </p:txBody>
      </p:sp>
    </p:spTree>
    <p:extLst>
      <p:ext uri="{BB962C8B-B14F-4D97-AF65-F5344CB8AC3E}">
        <p14:creationId xmlns:p14="http://schemas.microsoft.com/office/powerpoint/2010/main" val="7241456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CE17E-F087-F54B-ACD1-45CAB9672969}"/>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6D761453-3303-931C-3DA8-9868E3DD811C}"/>
              </a:ext>
            </a:extLst>
          </p:cNvPr>
          <p:cNvSpPr txBox="1"/>
          <p:nvPr/>
        </p:nvSpPr>
        <p:spPr>
          <a:xfrm>
            <a:off x="742231" y="1015775"/>
            <a:ext cx="7909223" cy="4826449"/>
          </a:xfrm>
          <a:prstGeom prst="rect">
            <a:avLst/>
          </a:prstGeom>
          <a:solidFill>
            <a:schemeClr val="accent3">
              <a:lumMod val="60000"/>
              <a:lumOff val="40000"/>
            </a:schemeClr>
          </a:solidFill>
        </p:spPr>
        <p:txBody>
          <a:bodyPr wrap="square">
            <a:spAutoFit/>
          </a:bodyPr>
          <a:lstStyle/>
          <a:p>
            <a:pPr marL="857250" indent="-857250" algn="r" rtl="1">
              <a:lnSpc>
                <a:spcPct val="115000"/>
              </a:lnSpc>
              <a:spcBef>
                <a:spcPts val="500"/>
              </a:spcBef>
              <a:spcAft>
                <a:spcPts val="1000"/>
              </a:spcAft>
              <a:buFontTx/>
              <a:buChar char="-"/>
            </a:pPr>
            <a:r>
              <a:rPr lang="ar-YE" sz="6000" b="1" dirty="0">
                <a:highlight>
                  <a:srgbClr val="00FFFF"/>
                </a:highlight>
                <a:latin typeface="Calibri" panose="020F0502020204030204" pitchFamily="34" charset="0"/>
                <a:ea typeface="Calibri" panose="020F0502020204030204" pitchFamily="34" charset="0"/>
                <a:cs typeface="Arial" panose="020B0604020202020204" pitchFamily="34" charset="0"/>
              </a:rPr>
              <a:t>أسئلة صح / خطأ</a:t>
            </a:r>
          </a:p>
          <a:p>
            <a:pPr marL="857250" indent="-857250" algn="r" rtl="1">
              <a:lnSpc>
                <a:spcPct val="115000"/>
              </a:lnSpc>
              <a:spcBef>
                <a:spcPts val="500"/>
              </a:spcBef>
              <a:spcAft>
                <a:spcPts val="1000"/>
              </a:spcAft>
              <a:buFontTx/>
              <a:buChar char="-"/>
            </a:pPr>
            <a:r>
              <a:rPr lang="ar-YE" sz="6000" b="1" dirty="0">
                <a:effectLst/>
                <a:highlight>
                  <a:srgbClr val="00FFFF"/>
                </a:highlight>
                <a:latin typeface="Calibri" panose="020F0502020204030204" pitchFamily="34" charset="0"/>
                <a:ea typeface="Calibri" panose="020F0502020204030204" pitchFamily="34" charset="0"/>
                <a:cs typeface="Arial" panose="020B0604020202020204" pitchFamily="34" charset="0"/>
              </a:rPr>
              <a:t>أسئلة اختيار من متعدد</a:t>
            </a:r>
            <a:endParaRPr lang="ar-YE" sz="6000" b="1" dirty="0">
              <a:highlight>
                <a:srgbClr val="00FFFF"/>
              </a:highlight>
              <a:latin typeface="Calibri" panose="020F0502020204030204" pitchFamily="34" charset="0"/>
              <a:ea typeface="Calibri" panose="020F0502020204030204" pitchFamily="34" charset="0"/>
              <a:cs typeface="Arial" panose="020B0604020202020204" pitchFamily="34" charset="0"/>
            </a:endParaRPr>
          </a:p>
          <a:p>
            <a:pPr marL="857250" indent="-857250" algn="r" rtl="1">
              <a:lnSpc>
                <a:spcPct val="115000"/>
              </a:lnSpc>
              <a:spcBef>
                <a:spcPts val="500"/>
              </a:spcBef>
              <a:spcAft>
                <a:spcPts val="1000"/>
              </a:spcAft>
              <a:buFontTx/>
              <a:buChar char="-"/>
            </a:pPr>
            <a:r>
              <a:rPr lang="ar-YE" sz="6000" b="1" dirty="0">
                <a:effectLst/>
                <a:highlight>
                  <a:srgbClr val="00FFFF"/>
                </a:highlight>
                <a:latin typeface="Calibri" panose="020F0502020204030204" pitchFamily="34" charset="0"/>
                <a:ea typeface="Calibri" panose="020F0502020204030204" pitchFamily="34" charset="0"/>
                <a:cs typeface="Arial" panose="020B0604020202020204" pitchFamily="34" charset="0"/>
              </a:rPr>
              <a:t>اسئلة مقالية</a:t>
            </a:r>
          </a:p>
          <a:p>
            <a:pPr marL="857250" indent="-857250" algn="r" rtl="1">
              <a:lnSpc>
                <a:spcPct val="115000"/>
              </a:lnSpc>
              <a:spcBef>
                <a:spcPts val="500"/>
              </a:spcBef>
              <a:spcAft>
                <a:spcPts val="1000"/>
              </a:spcAft>
              <a:buFontTx/>
              <a:buChar char="-"/>
            </a:pPr>
            <a:r>
              <a:rPr lang="ar-YE" sz="6000" b="1" dirty="0">
                <a:highlight>
                  <a:srgbClr val="00FFFF"/>
                </a:highlight>
                <a:latin typeface="Calibri" panose="020F0502020204030204" pitchFamily="34" charset="0"/>
                <a:ea typeface="Calibri" panose="020F0502020204030204" pitchFamily="34" charset="0"/>
                <a:cs typeface="Arial" panose="020B0604020202020204" pitchFamily="34" charset="0"/>
              </a:rPr>
              <a:t>اسئلة عدد</a:t>
            </a:r>
            <a:endParaRPr lang="ar-YE" sz="6000" b="1" dirty="0">
              <a:effectLst/>
              <a:highlight>
                <a:srgbClr val="00FFFF"/>
              </a:highlight>
              <a:latin typeface="Calibri" panose="020F0502020204030204" pitchFamily="34" charset="0"/>
              <a:ea typeface="Calibri" panose="020F0502020204030204" pitchFamily="34" charset="0"/>
              <a:cs typeface="Arial" panose="020B0604020202020204" pitchFamily="34" charset="0"/>
            </a:endParaRPr>
          </a:p>
        </p:txBody>
      </p:sp>
      <p:sp>
        <p:nvSpPr>
          <p:cNvPr id="2" name="자유형: 도형 24">
            <a:extLst>
              <a:ext uri="{FF2B5EF4-FFF2-40B4-BE49-F238E27FC236}">
                <a16:creationId xmlns:a16="http://schemas.microsoft.com/office/drawing/2014/main" id="{53ECB3EA-C9B0-EE7D-B34F-D8DDCBCFDA1B}"/>
              </a:ext>
            </a:extLst>
          </p:cNvPr>
          <p:cNvSpPr/>
          <p:nvPr/>
        </p:nvSpPr>
        <p:spPr>
          <a:xfrm>
            <a:off x="8651454" y="77796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نموذج اختبار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مقرر</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إدارة 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الاعمال</a:t>
            </a:r>
          </a:p>
        </p:txBody>
      </p:sp>
    </p:spTree>
    <p:extLst>
      <p:ext uri="{BB962C8B-B14F-4D97-AF65-F5344CB8AC3E}">
        <p14:creationId xmlns:p14="http://schemas.microsoft.com/office/powerpoint/2010/main" val="30406418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5F48F-2964-6C71-197D-C1E3808B6919}"/>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90ACC58C-D862-DDAF-65EC-C4A18DEC0B64}"/>
              </a:ext>
            </a:extLst>
          </p:cNvPr>
          <p:cNvSpPr txBox="1"/>
          <p:nvPr/>
        </p:nvSpPr>
        <p:spPr>
          <a:xfrm>
            <a:off x="181715" y="544135"/>
            <a:ext cx="8952660" cy="5777992"/>
          </a:xfrm>
          <a:prstGeom prst="rect">
            <a:avLst/>
          </a:prstGeom>
          <a:solidFill>
            <a:schemeClr val="accent3">
              <a:lumMod val="60000"/>
              <a:lumOff val="40000"/>
            </a:schemeClr>
          </a:solidFill>
        </p:spPr>
        <p:txBody>
          <a:bodyPr wrap="square">
            <a:spAutoFit/>
          </a:bodyPr>
          <a:lstStyle/>
          <a:p>
            <a:pPr marL="857250" indent="-857250" algn="r" rtl="1">
              <a:lnSpc>
                <a:spcPct val="115000"/>
              </a:lnSpc>
              <a:spcBef>
                <a:spcPts val="500"/>
              </a:spcBef>
              <a:spcAft>
                <a:spcPts val="1000"/>
              </a:spcAft>
              <a:buFontTx/>
              <a:buChar char="-"/>
            </a:pPr>
            <a:r>
              <a:rPr lang="ar-YE" sz="7200" b="1" dirty="0">
                <a:highlight>
                  <a:srgbClr val="00FFFF"/>
                </a:highlight>
                <a:latin typeface="Calibri" panose="020F0502020204030204" pitchFamily="34" charset="0"/>
                <a:ea typeface="Calibri" panose="020F0502020204030204" pitchFamily="34" charset="0"/>
                <a:cs typeface="Arial" panose="020B0604020202020204" pitchFamily="34" charset="0"/>
              </a:rPr>
              <a:t>أسئلة صح / خطأ</a:t>
            </a:r>
          </a:p>
          <a:p>
            <a:pPr marL="857250" indent="-857250" algn="r" rtl="1">
              <a:lnSpc>
                <a:spcPts val="3700"/>
              </a:lnSpc>
              <a:spcBef>
                <a:spcPts val="500"/>
              </a:spcBef>
              <a:spcAft>
                <a:spcPts val="600"/>
              </a:spcAft>
              <a:buFontTx/>
              <a:buChar char="-"/>
            </a:pPr>
            <a:r>
              <a:rPr lang="ar-YE" sz="3600" b="1" dirty="0">
                <a:effectLst/>
                <a:latin typeface="Calibri" panose="020F0502020204030204" pitchFamily="34" charset="0"/>
                <a:ea typeface="Calibri" panose="020F0502020204030204" pitchFamily="34" charset="0"/>
                <a:cs typeface="Arial" panose="020B0604020202020204" pitchFamily="34" charset="0"/>
              </a:rPr>
              <a:t>حوكمة تقنية المعلومات هي عملية توجيه وتسيطر على استخدام تكنولوجيا المعلومات في المنظمة  (    )</a:t>
            </a:r>
          </a:p>
          <a:p>
            <a:pPr marL="857250" indent="-857250" algn="r" rtl="1">
              <a:lnSpc>
                <a:spcPts val="3700"/>
              </a:lnSpc>
              <a:spcBef>
                <a:spcPts val="500"/>
              </a:spcBef>
              <a:spcAft>
                <a:spcPts val="600"/>
              </a:spcAft>
              <a:buFontTx/>
              <a:buChar char="-"/>
            </a:pPr>
            <a:r>
              <a:rPr lang="ar-YE" sz="3600" b="1" dirty="0">
                <a:latin typeface="Calibri" panose="020F0502020204030204" pitchFamily="34" charset="0"/>
                <a:ea typeface="Calibri" panose="020F0502020204030204" pitchFamily="34" charset="0"/>
                <a:cs typeface="Arial" panose="020B0604020202020204" pitchFamily="34" charset="0"/>
              </a:rPr>
              <a:t>يطلق على الاعمال الالكترونية مفهوم التجارة الالكترونية (  )</a:t>
            </a:r>
          </a:p>
          <a:p>
            <a:pPr marL="857250" indent="-857250" algn="r" rtl="1">
              <a:lnSpc>
                <a:spcPts val="3700"/>
              </a:lnSpc>
              <a:spcBef>
                <a:spcPts val="500"/>
              </a:spcBef>
              <a:spcAft>
                <a:spcPts val="600"/>
              </a:spcAft>
              <a:buFontTx/>
              <a:buChar char="-"/>
            </a:pPr>
            <a:r>
              <a:rPr lang="ar-YE" sz="3600" b="1" dirty="0">
                <a:latin typeface="Calibri" panose="020F0502020204030204" pitchFamily="34" charset="0"/>
                <a:ea typeface="Calibri" panose="020F0502020204030204" pitchFamily="34" charset="0"/>
                <a:cs typeface="Arial" panose="020B0604020202020204" pitchFamily="34" charset="0"/>
              </a:rPr>
              <a:t>الذكاء الصناعي مصدرا لتطوير أنظمة ذكاء الاعمال   (  )</a:t>
            </a:r>
          </a:p>
          <a:p>
            <a:pPr marL="857250" indent="-857250" algn="r" rtl="1">
              <a:lnSpc>
                <a:spcPts val="3700"/>
              </a:lnSpc>
              <a:spcBef>
                <a:spcPts val="500"/>
              </a:spcBef>
              <a:spcAft>
                <a:spcPts val="600"/>
              </a:spcAft>
              <a:buFontTx/>
              <a:buChar char="-"/>
            </a:pPr>
            <a:r>
              <a:rPr lang="ar-YE" sz="3600" b="1" dirty="0">
                <a:latin typeface="Calibri" panose="020F0502020204030204" pitchFamily="34" charset="0"/>
                <a:ea typeface="Calibri" panose="020F0502020204030204" pitchFamily="34" charset="0"/>
                <a:cs typeface="Arial" panose="020B0604020202020204" pitchFamily="34" charset="0"/>
              </a:rPr>
              <a:t>تتمثل البنية التحتية لتكنولوجيا المعلومات في الأجهزة والبرامج (   )</a:t>
            </a:r>
          </a:p>
        </p:txBody>
      </p:sp>
      <p:sp>
        <p:nvSpPr>
          <p:cNvPr id="2" name="자유형: 도형 24">
            <a:extLst>
              <a:ext uri="{FF2B5EF4-FFF2-40B4-BE49-F238E27FC236}">
                <a16:creationId xmlns:a16="http://schemas.microsoft.com/office/drawing/2014/main" id="{22854F45-78DA-0928-1622-BB5077CFEBDB}"/>
              </a:ext>
            </a:extLst>
          </p:cNvPr>
          <p:cNvSpPr/>
          <p:nvPr/>
        </p:nvSpPr>
        <p:spPr>
          <a:xfrm>
            <a:off x="8651454" y="77796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نموذج اختبار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مقرر</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إدارة 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الاعمال</a:t>
            </a:r>
          </a:p>
        </p:txBody>
      </p:sp>
    </p:spTree>
    <p:extLst>
      <p:ext uri="{BB962C8B-B14F-4D97-AF65-F5344CB8AC3E}">
        <p14:creationId xmlns:p14="http://schemas.microsoft.com/office/powerpoint/2010/main" val="25165851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0550B-1F0B-5FAC-EC33-D7CB001757F2}"/>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8F644C6F-AB0C-4330-E150-A65E17E8C3AB}"/>
              </a:ext>
            </a:extLst>
          </p:cNvPr>
          <p:cNvSpPr txBox="1"/>
          <p:nvPr/>
        </p:nvSpPr>
        <p:spPr>
          <a:xfrm>
            <a:off x="742231" y="1015775"/>
            <a:ext cx="7909223" cy="4561698"/>
          </a:xfrm>
          <a:prstGeom prst="rect">
            <a:avLst/>
          </a:prstGeom>
          <a:solidFill>
            <a:schemeClr val="accent3">
              <a:lumMod val="60000"/>
              <a:lumOff val="40000"/>
            </a:schemeClr>
          </a:solidFill>
        </p:spPr>
        <p:txBody>
          <a:bodyPr wrap="square">
            <a:spAutoFit/>
          </a:bodyPr>
          <a:lstStyle/>
          <a:p>
            <a:pPr marL="857250" indent="-857250" algn="r" rtl="1">
              <a:lnSpc>
                <a:spcPct val="115000"/>
              </a:lnSpc>
              <a:spcBef>
                <a:spcPts val="500"/>
              </a:spcBef>
              <a:spcAft>
                <a:spcPts val="1000"/>
              </a:spcAft>
              <a:buFontTx/>
              <a:buChar char="-"/>
            </a:pPr>
            <a:r>
              <a:rPr lang="ar-YE" sz="6000" b="1" dirty="0">
                <a:effectLst/>
                <a:highlight>
                  <a:srgbClr val="00FFFF"/>
                </a:highlight>
                <a:latin typeface="Calibri" panose="020F0502020204030204" pitchFamily="34" charset="0"/>
                <a:ea typeface="Calibri" panose="020F0502020204030204" pitchFamily="34" charset="0"/>
                <a:cs typeface="Arial" panose="020B0604020202020204" pitchFamily="34" charset="0"/>
              </a:rPr>
              <a:t>أسئلة اختيار من متعدد</a:t>
            </a:r>
          </a:p>
          <a:p>
            <a:pPr marL="857250" indent="-857250" algn="r" rtl="1">
              <a:lnSpc>
                <a:spcPct val="115000"/>
              </a:lnSpc>
              <a:spcBef>
                <a:spcPts val="500"/>
              </a:spcBef>
              <a:spcAft>
                <a:spcPts val="1000"/>
              </a:spcAft>
              <a:buFontTx/>
              <a:buChar char="-"/>
            </a:pPr>
            <a:r>
              <a:rPr lang="ar-YE" sz="2800" b="1" dirty="0">
                <a:latin typeface="Calibri" panose="020F0502020204030204" pitchFamily="34" charset="0"/>
                <a:ea typeface="Calibri" panose="020F0502020204030204" pitchFamily="34" charset="0"/>
                <a:cs typeface="Arial" panose="020B0604020202020204" pitchFamily="34" charset="0"/>
              </a:rPr>
              <a:t>من اهم اهداف حوكمة المعلومات :</a:t>
            </a:r>
          </a:p>
          <a:p>
            <a:pPr algn="r" rtl="1">
              <a:lnSpc>
                <a:spcPct val="115000"/>
              </a:lnSpc>
              <a:spcBef>
                <a:spcPts val="500"/>
              </a:spcBef>
              <a:spcAft>
                <a:spcPts val="1000"/>
              </a:spcAft>
            </a:pPr>
            <a:r>
              <a:rPr lang="en-US" sz="2800" b="1" dirty="0">
                <a:latin typeface="Calibri" panose="020F0502020204030204" pitchFamily="34" charset="0"/>
                <a:ea typeface="Calibri" panose="020F0502020204030204" pitchFamily="34" charset="0"/>
                <a:cs typeface="Arial" panose="020B0604020202020204" pitchFamily="34" charset="0"/>
              </a:rPr>
              <a:t>A	</a:t>
            </a:r>
            <a:r>
              <a:rPr lang="ar-YE" sz="2800" b="1" dirty="0">
                <a:latin typeface="Calibri" panose="020F0502020204030204" pitchFamily="34" charset="0"/>
                <a:ea typeface="Calibri" panose="020F0502020204030204" pitchFamily="34" charset="0"/>
                <a:cs typeface="Arial" panose="020B0604020202020204" pitchFamily="34" charset="0"/>
              </a:rPr>
              <a:t>تقليل التكاليف</a:t>
            </a:r>
            <a:endParaRPr lang="en-US" sz="2800" b="1" dirty="0">
              <a:latin typeface="Calibri" panose="020F0502020204030204" pitchFamily="34" charset="0"/>
              <a:ea typeface="Calibri" panose="020F0502020204030204" pitchFamily="34" charset="0"/>
              <a:cs typeface="Arial" panose="020B0604020202020204" pitchFamily="34" charset="0"/>
            </a:endParaRPr>
          </a:p>
          <a:p>
            <a:pPr algn="r" rtl="1">
              <a:lnSpc>
                <a:spcPct val="115000"/>
              </a:lnSpc>
              <a:spcBef>
                <a:spcPts val="500"/>
              </a:spcBef>
              <a:spcAft>
                <a:spcPts val="1000"/>
              </a:spcAft>
            </a:pPr>
            <a:r>
              <a:rPr lang="en-US" sz="2800" b="1" dirty="0">
                <a:latin typeface="Calibri" panose="020F0502020204030204" pitchFamily="34" charset="0"/>
                <a:ea typeface="Calibri" panose="020F0502020204030204" pitchFamily="34" charset="0"/>
                <a:cs typeface="Arial" panose="020B0604020202020204" pitchFamily="34" charset="0"/>
              </a:rPr>
              <a:t>B</a:t>
            </a:r>
            <a:r>
              <a:rPr lang="ar-YE" sz="2800" b="1" dirty="0">
                <a:latin typeface="Calibri" panose="020F0502020204030204" pitchFamily="34" charset="0"/>
                <a:ea typeface="Calibri" panose="020F0502020204030204" pitchFamily="34" charset="0"/>
                <a:cs typeface="Arial" panose="020B0604020202020204" pitchFamily="34" charset="0"/>
              </a:rPr>
              <a:t>	امن المعلومات</a:t>
            </a:r>
            <a:endParaRPr lang="en-US" sz="2800" b="1" dirty="0">
              <a:latin typeface="Calibri" panose="020F0502020204030204" pitchFamily="34" charset="0"/>
              <a:ea typeface="Calibri" panose="020F0502020204030204" pitchFamily="34" charset="0"/>
              <a:cs typeface="Arial" panose="020B0604020202020204" pitchFamily="34" charset="0"/>
            </a:endParaRPr>
          </a:p>
          <a:p>
            <a:pPr algn="r" rtl="1">
              <a:lnSpc>
                <a:spcPct val="115000"/>
              </a:lnSpc>
              <a:spcBef>
                <a:spcPts val="500"/>
              </a:spcBef>
              <a:spcAft>
                <a:spcPts val="1000"/>
              </a:spcAft>
            </a:pPr>
            <a:r>
              <a:rPr lang="en-US" sz="2800" b="1" dirty="0">
                <a:latin typeface="Calibri" panose="020F0502020204030204" pitchFamily="34" charset="0"/>
                <a:ea typeface="Calibri" panose="020F0502020204030204" pitchFamily="34" charset="0"/>
                <a:cs typeface="Arial" panose="020B0604020202020204" pitchFamily="34" charset="0"/>
              </a:rPr>
              <a:t>C</a:t>
            </a:r>
            <a:r>
              <a:rPr lang="ar-YE" sz="2800" b="1" dirty="0">
                <a:latin typeface="Calibri" panose="020F0502020204030204" pitchFamily="34" charset="0"/>
                <a:ea typeface="Calibri" panose="020F0502020204030204" pitchFamily="34" charset="0"/>
                <a:cs typeface="Arial" panose="020B0604020202020204" pitchFamily="34" charset="0"/>
              </a:rPr>
              <a:t>	تحسين اتخاذ القرار</a:t>
            </a:r>
            <a:endParaRPr lang="en-US" sz="2800" b="1" dirty="0">
              <a:latin typeface="Calibri" panose="020F0502020204030204" pitchFamily="34" charset="0"/>
              <a:ea typeface="Calibri" panose="020F0502020204030204" pitchFamily="34" charset="0"/>
              <a:cs typeface="Arial" panose="020B0604020202020204" pitchFamily="34" charset="0"/>
            </a:endParaRPr>
          </a:p>
          <a:p>
            <a:pPr algn="r" rtl="1">
              <a:lnSpc>
                <a:spcPct val="115000"/>
              </a:lnSpc>
              <a:spcBef>
                <a:spcPts val="500"/>
              </a:spcBef>
              <a:spcAft>
                <a:spcPts val="1000"/>
              </a:spcAft>
            </a:pPr>
            <a:r>
              <a:rPr lang="en-US" sz="2800" b="1" dirty="0">
                <a:latin typeface="Calibri" panose="020F0502020204030204" pitchFamily="34" charset="0"/>
                <a:ea typeface="Calibri" panose="020F0502020204030204" pitchFamily="34" charset="0"/>
                <a:cs typeface="Arial" panose="020B0604020202020204" pitchFamily="34" charset="0"/>
              </a:rPr>
              <a:t>D</a:t>
            </a:r>
            <a:r>
              <a:rPr lang="ar-YE" sz="2800" b="1" dirty="0">
                <a:latin typeface="Calibri" panose="020F0502020204030204" pitchFamily="34" charset="0"/>
                <a:ea typeface="Calibri" panose="020F0502020204030204" pitchFamily="34" charset="0"/>
                <a:cs typeface="Arial" panose="020B0604020202020204" pitchFamily="34" charset="0"/>
              </a:rPr>
              <a:t>	كل ما سبق</a:t>
            </a:r>
          </a:p>
        </p:txBody>
      </p:sp>
      <p:sp>
        <p:nvSpPr>
          <p:cNvPr id="2" name="자유형: 도형 24">
            <a:extLst>
              <a:ext uri="{FF2B5EF4-FFF2-40B4-BE49-F238E27FC236}">
                <a16:creationId xmlns:a16="http://schemas.microsoft.com/office/drawing/2014/main" id="{31C8CE8A-38AD-84A8-86C7-D21D123034C5}"/>
              </a:ext>
            </a:extLst>
          </p:cNvPr>
          <p:cNvSpPr/>
          <p:nvPr/>
        </p:nvSpPr>
        <p:spPr>
          <a:xfrm>
            <a:off x="8651454" y="77796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نموذج اختبار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مقرر</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إدارة 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الاعمال</a:t>
            </a:r>
          </a:p>
        </p:txBody>
      </p:sp>
    </p:spTree>
    <p:extLst>
      <p:ext uri="{BB962C8B-B14F-4D97-AF65-F5344CB8AC3E}">
        <p14:creationId xmlns:p14="http://schemas.microsoft.com/office/powerpoint/2010/main" val="18291154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C32B5-F3C3-D45C-8CA3-ABD8FA78DDEA}"/>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8AB7FFFD-D459-E0A6-892E-78755ED5728A}"/>
              </a:ext>
            </a:extLst>
          </p:cNvPr>
          <p:cNvSpPr txBox="1"/>
          <p:nvPr/>
        </p:nvSpPr>
        <p:spPr>
          <a:xfrm>
            <a:off x="742231" y="1015775"/>
            <a:ext cx="7909223" cy="4561698"/>
          </a:xfrm>
          <a:prstGeom prst="rect">
            <a:avLst/>
          </a:prstGeom>
          <a:solidFill>
            <a:schemeClr val="accent3">
              <a:lumMod val="60000"/>
              <a:lumOff val="40000"/>
            </a:schemeClr>
          </a:solidFill>
        </p:spPr>
        <p:txBody>
          <a:bodyPr wrap="square">
            <a:spAutoFit/>
          </a:bodyPr>
          <a:lstStyle/>
          <a:p>
            <a:pPr marL="857250" indent="-857250" algn="r" rtl="1">
              <a:lnSpc>
                <a:spcPct val="115000"/>
              </a:lnSpc>
              <a:spcBef>
                <a:spcPts val="500"/>
              </a:spcBef>
              <a:spcAft>
                <a:spcPts val="1000"/>
              </a:spcAft>
              <a:buFontTx/>
              <a:buChar char="-"/>
            </a:pPr>
            <a:r>
              <a:rPr lang="ar-YE" sz="6000" b="1" dirty="0">
                <a:effectLst/>
                <a:highlight>
                  <a:srgbClr val="00FFFF"/>
                </a:highlight>
                <a:latin typeface="Calibri" panose="020F0502020204030204" pitchFamily="34" charset="0"/>
                <a:ea typeface="Calibri" panose="020F0502020204030204" pitchFamily="34" charset="0"/>
                <a:cs typeface="Arial" panose="020B0604020202020204" pitchFamily="34" charset="0"/>
              </a:rPr>
              <a:t>أسئلة اختيار من متعدد</a:t>
            </a:r>
          </a:p>
          <a:p>
            <a:pPr marL="857250" indent="-857250" algn="r" rtl="1">
              <a:lnSpc>
                <a:spcPct val="115000"/>
              </a:lnSpc>
              <a:spcBef>
                <a:spcPts val="500"/>
              </a:spcBef>
              <a:spcAft>
                <a:spcPts val="1000"/>
              </a:spcAft>
              <a:buFontTx/>
              <a:buChar char="-"/>
            </a:pPr>
            <a:r>
              <a:rPr lang="ar-YE" sz="2800" b="1" dirty="0">
                <a:latin typeface="Calibri" panose="020F0502020204030204" pitchFamily="34" charset="0"/>
                <a:ea typeface="Calibri" panose="020F0502020204030204" pitchFamily="34" charset="0"/>
                <a:cs typeface="Arial" panose="020B0604020202020204" pitchFamily="34" charset="0"/>
              </a:rPr>
              <a:t>تتمثل المرحلة الأولى في دورة حياة المعلومات في:</a:t>
            </a:r>
          </a:p>
          <a:p>
            <a:pPr algn="r" rtl="1">
              <a:lnSpc>
                <a:spcPct val="115000"/>
              </a:lnSpc>
              <a:spcBef>
                <a:spcPts val="500"/>
              </a:spcBef>
              <a:spcAft>
                <a:spcPts val="1000"/>
              </a:spcAft>
            </a:pPr>
            <a:r>
              <a:rPr lang="en-US" sz="2800" b="1" dirty="0">
                <a:latin typeface="Calibri" panose="020F0502020204030204" pitchFamily="34" charset="0"/>
                <a:ea typeface="Calibri" panose="020F0502020204030204" pitchFamily="34" charset="0"/>
                <a:cs typeface="Arial" panose="020B0604020202020204" pitchFamily="34" charset="0"/>
              </a:rPr>
              <a:t>A	</a:t>
            </a:r>
            <a:r>
              <a:rPr lang="ar-YE" sz="2800" b="1" dirty="0">
                <a:latin typeface="Calibri" panose="020F0502020204030204" pitchFamily="34" charset="0"/>
                <a:ea typeface="Calibri" panose="020F0502020204030204" pitchFamily="34" charset="0"/>
                <a:cs typeface="Arial" panose="020B0604020202020204" pitchFamily="34" charset="0"/>
              </a:rPr>
              <a:t>التحليل</a:t>
            </a:r>
            <a:endParaRPr lang="en-US" sz="2800" b="1" dirty="0">
              <a:latin typeface="Calibri" panose="020F0502020204030204" pitchFamily="34" charset="0"/>
              <a:ea typeface="Calibri" panose="020F0502020204030204" pitchFamily="34" charset="0"/>
              <a:cs typeface="Arial" panose="020B0604020202020204" pitchFamily="34" charset="0"/>
            </a:endParaRPr>
          </a:p>
          <a:p>
            <a:pPr algn="r" rtl="1">
              <a:lnSpc>
                <a:spcPct val="115000"/>
              </a:lnSpc>
              <a:spcBef>
                <a:spcPts val="500"/>
              </a:spcBef>
              <a:spcAft>
                <a:spcPts val="1000"/>
              </a:spcAft>
            </a:pPr>
            <a:r>
              <a:rPr lang="en-US" sz="2800" b="1" dirty="0">
                <a:latin typeface="Calibri" panose="020F0502020204030204" pitchFamily="34" charset="0"/>
                <a:ea typeface="Calibri" panose="020F0502020204030204" pitchFamily="34" charset="0"/>
                <a:cs typeface="Arial" panose="020B0604020202020204" pitchFamily="34" charset="0"/>
              </a:rPr>
              <a:t>B</a:t>
            </a:r>
            <a:r>
              <a:rPr lang="ar-YE" sz="2800" b="1" dirty="0">
                <a:latin typeface="Calibri" panose="020F0502020204030204" pitchFamily="34" charset="0"/>
                <a:ea typeface="Calibri" panose="020F0502020204030204" pitchFamily="34" charset="0"/>
                <a:cs typeface="Arial" panose="020B0604020202020204" pitchFamily="34" charset="0"/>
              </a:rPr>
              <a:t>	التصميم</a:t>
            </a:r>
            <a:endParaRPr lang="en-US" sz="2800" b="1" dirty="0">
              <a:latin typeface="Calibri" panose="020F0502020204030204" pitchFamily="34" charset="0"/>
              <a:ea typeface="Calibri" panose="020F0502020204030204" pitchFamily="34" charset="0"/>
              <a:cs typeface="Arial" panose="020B0604020202020204" pitchFamily="34" charset="0"/>
            </a:endParaRPr>
          </a:p>
          <a:p>
            <a:pPr algn="r" rtl="1">
              <a:lnSpc>
                <a:spcPct val="115000"/>
              </a:lnSpc>
              <a:spcBef>
                <a:spcPts val="500"/>
              </a:spcBef>
              <a:spcAft>
                <a:spcPts val="1000"/>
              </a:spcAft>
            </a:pPr>
            <a:r>
              <a:rPr lang="en-US" sz="2800" b="1" dirty="0">
                <a:latin typeface="Calibri" panose="020F0502020204030204" pitchFamily="34" charset="0"/>
                <a:ea typeface="Calibri" panose="020F0502020204030204" pitchFamily="34" charset="0"/>
                <a:cs typeface="Arial" panose="020B0604020202020204" pitchFamily="34" charset="0"/>
              </a:rPr>
              <a:t>C</a:t>
            </a:r>
            <a:r>
              <a:rPr lang="ar-YE" sz="2800" b="1" dirty="0">
                <a:latin typeface="Calibri" panose="020F0502020204030204" pitchFamily="34" charset="0"/>
                <a:ea typeface="Calibri" panose="020F0502020204030204" pitchFamily="34" charset="0"/>
                <a:cs typeface="Arial" panose="020B0604020202020204" pitchFamily="34" charset="0"/>
              </a:rPr>
              <a:t>	البرمجة</a:t>
            </a:r>
            <a:endParaRPr lang="en-US" sz="2800" b="1" dirty="0">
              <a:latin typeface="Calibri" panose="020F0502020204030204" pitchFamily="34" charset="0"/>
              <a:ea typeface="Calibri" panose="020F0502020204030204" pitchFamily="34" charset="0"/>
              <a:cs typeface="Arial" panose="020B0604020202020204" pitchFamily="34" charset="0"/>
            </a:endParaRPr>
          </a:p>
          <a:p>
            <a:pPr algn="r" rtl="1">
              <a:lnSpc>
                <a:spcPct val="115000"/>
              </a:lnSpc>
              <a:spcBef>
                <a:spcPts val="500"/>
              </a:spcBef>
              <a:spcAft>
                <a:spcPts val="1000"/>
              </a:spcAft>
            </a:pPr>
            <a:r>
              <a:rPr lang="en-US" sz="2800" b="1" dirty="0">
                <a:latin typeface="Calibri" panose="020F0502020204030204" pitchFamily="34" charset="0"/>
                <a:ea typeface="Calibri" panose="020F0502020204030204" pitchFamily="34" charset="0"/>
                <a:cs typeface="Arial" panose="020B0604020202020204" pitchFamily="34" charset="0"/>
              </a:rPr>
              <a:t>D</a:t>
            </a:r>
            <a:r>
              <a:rPr lang="ar-YE" sz="2800" b="1" dirty="0">
                <a:latin typeface="Calibri" panose="020F0502020204030204" pitchFamily="34" charset="0"/>
                <a:ea typeface="Calibri" panose="020F0502020204030204" pitchFamily="34" charset="0"/>
                <a:cs typeface="Arial" panose="020B0604020202020204" pitchFamily="34" charset="0"/>
              </a:rPr>
              <a:t>	التطوير</a:t>
            </a:r>
          </a:p>
        </p:txBody>
      </p:sp>
      <p:sp>
        <p:nvSpPr>
          <p:cNvPr id="2" name="자유형: 도형 24">
            <a:extLst>
              <a:ext uri="{FF2B5EF4-FFF2-40B4-BE49-F238E27FC236}">
                <a16:creationId xmlns:a16="http://schemas.microsoft.com/office/drawing/2014/main" id="{BD9A6B95-DCC4-3CE7-3A55-46EEB9530F0B}"/>
              </a:ext>
            </a:extLst>
          </p:cNvPr>
          <p:cNvSpPr/>
          <p:nvPr/>
        </p:nvSpPr>
        <p:spPr>
          <a:xfrm>
            <a:off x="8651454" y="77796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نموذج اختبار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مقرر</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إدارة 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الاعمال</a:t>
            </a:r>
          </a:p>
        </p:txBody>
      </p:sp>
    </p:spTree>
    <p:extLst>
      <p:ext uri="{BB962C8B-B14F-4D97-AF65-F5344CB8AC3E}">
        <p14:creationId xmlns:p14="http://schemas.microsoft.com/office/powerpoint/2010/main" val="12358961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1F83F-F0A7-37B8-A13E-CDD799D028F4}"/>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B069B821-9C74-559E-0549-443A25227CE7}"/>
              </a:ext>
            </a:extLst>
          </p:cNvPr>
          <p:cNvSpPr txBox="1"/>
          <p:nvPr/>
        </p:nvSpPr>
        <p:spPr>
          <a:xfrm>
            <a:off x="742231" y="1015775"/>
            <a:ext cx="7909223" cy="5057218"/>
          </a:xfrm>
          <a:prstGeom prst="rect">
            <a:avLst/>
          </a:prstGeom>
          <a:solidFill>
            <a:schemeClr val="accent3">
              <a:lumMod val="60000"/>
              <a:lumOff val="40000"/>
            </a:schemeClr>
          </a:solidFill>
        </p:spPr>
        <p:txBody>
          <a:bodyPr wrap="square">
            <a:spAutoFit/>
          </a:bodyPr>
          <a:lstStyle/>
          <a:p>
            <a:pPr marL="857250" indent="-857250" algn="r" rtl="1">
              <a:lnSpc>
                <a:spcPct val="115000"/>
              </a:lnSpc>
              <a:spcBef>
                <a:spcPts val="500"/>
              </a:spcBef>
              <a:spcAft>
                <a:spcPts val="1000"/>
              </a:spcAft>
              <a:buFontTx/>
              <a:buChar char="-"/>
            </a:pPr>
            <a:r>
              <a:rPr lang="ar-YE" sz="6000" b="1" dirty="0">
                <a:effectLst/>
                <a:highlight>
                  <a:srgbClr val="00FFFF"/>
                </a:highlight>
                <a:latin typeface="Calibri" panose="020F0502020204030204" pitchFamily="34" charset="0"/>
                <a:ea typeface="Calibri" panose="020F0502020204030204" pitchFamily="34" charset="0"/>
                <a:cs typeface="Arial" panose="020B0604020202020204" pitchFamily="34" charset="0"/>
              </a:rPr>
              <a:t>أسئلة اختيار من متعدد</a:t>
            </a:r>
          </a:p>
          <a:p>
            <a:pPr marL="857250" indent="-857250" algn="r" rtl="1">
              <a:lnSpc>
                <a:spcPct val="115000"/>
              </a:lnSpc>
              <a:spcBef>
                <a:spcPts val="500"/>
              </a:spcBef>
              <a:spcAft>
                <a:spcPts val="1000"/>
              </a:spcAft>
              <a:buFontTx/>
              <a:buChar char="-"/>
            </a:pPr>
            <a:r>
              <a:rPr lang="ar-YE" sz="2800" b="1" dirty="0">
                <a:latin typeface="Calibri" panose="020F0502020204030204" pitchFamily="34" charset="0"/>
                <a:ea typeface="Calibri" panose="020F0502020204030204" pitchFamily="34" charset="0"/>
                <a:cs typeface="Arial" panose="020B0604020202020204" pitchFamily="34" charset="0"/>
              </a:rPr>
              <a:t>أي النماذج التالية تصف تحويل العمليات التجارية الى عمليات الكترونية:</a:t>
            </a:r>
          </a:p>
          <a:p>
            <a:pPr algn="r" rtl="1">
              <a:lnSpc>
                <a:spcPct val="115000"/>
              </a:lnSpc>
              <a:spcBef>
                <a:spcPts val="500"/>
              </a:spcBef>
              <a:spcAft>
                <a:spcPts val="1000"/>
              </a:spcAft>
            </a:pPr>
            <a:r>
              <a:rPr lang="en-US" sz="2800" b="1" dirty="0">
                <a:latin typeface="Calibri" panose="020F0502020204030204" pitchFamily="34" charset="0"/>
                <a:ea typeface="Calibri" panose="020F0502020204030204" pitchFamily="34" charset="0"/>
                <a:cs typeface="Arial" panose="020B0604020202020204" pitchFamily="34" charset="0"/>
              </a:rPr>
              <a:t>A	</a:t>
            </a:r>
            <a:r>
              <a:rPr lang="ar-YE" sz="2800" b="1" dirty="0">
                <a:latin typeface="Calibri" panose="020F0502020204030204" pitchFamily="34" charset="0"/>
                <a:ea typeface="Calibri" panose="020F0502020204030204" pitchFamily="34" charset="0"/>
                <a:cs typeface="Arial" panose="020B0604020202020204" pitchFamily="34" charset="0"/>
              </a:rPr>
              <a:t>نموذج الويب</a:t>
            </a:r>
            <a:endParaRPr lang="en-US" sz="2800" b="1" dirty="0">
              <a:latin typeface="Calibri" panose="020F0502020204030204" pitchFamily="34" charset="0"/>
              <a:ea typeface="Calibri" panose="020F0502020204030204" pitchFamily="34" charset="0"/>
              <a:cs typeface="Arial" panose="020B0604020202020204" pitchFamily="34" charset="0"/>
            </a:endParaRPr>
          </a:p>
          <a:p>
            <a:pPr algn="r" rtl="1">
              <a:lnSpc>
                <a:spcPct val="115000"/>
              </a:lnSpc>
              <a:spcBef>
                <a:spcPts val="500"/>
              </a:spcBef>
              <a:spcAft>
                <a:spcPts val="1000"/>
              </a:spcAft>
            </a:pPr>
            <a:r>
              <a:rPr lang="en-US" sz="2800" b="1" dirty="0">
                <a:latin typeface="Calibri" panose="020F0502020204030204" pitchFamily="34" charset="0"/>
                <a:ea typeface="Calibri" panose="020F0502020204030204" pitchFamily="34" charset="0"/>
                <a:cs typeface="Arial" panose="020B0604020202020204" pitchFamily="34" charset="0"/>
              </a:rPr>
              <a:t>B</a:t>
            </a:r>
            <a:r>
              <a:rPr lang="ar-YE" sz="2800" b="1" dirty="0">
                <a:latin typeface="Calibri" panose="020F0502020204030204" pitchFamily="34" charset="0"/>
                <a:ea typeface="Calibri" panose="020F0502020204030204" pitchFamily="34" charset="0"/>
                <a:cs typeface="Arial" panose="020B0604020202020204" pitchFamily="34" charset="0"/>
              </a:rPr>
              <a:t>	امن المعلومات</a:t>
            </a:r>
            <a:endParaRPr lang="en-US" sz="2800" b="1" dirty="0">
              <a:latin typeface="Calibri" panose="020F0502020204030204" pitchFamily="34" charset="0"/>
              <a:ea typeface="Calibri" panose="020F0502020204030204" pitchFamily="34" charset="0"/>
              <a:cs typeface="Arial" panose="020B0604020202020204" pitchFamily="34" charset="0"/>
            </a:endParaRPr>
          </a:p>
          <a:p>
            <a:pPr algn="r" rtl="1">
              <a:lnSpc>
                <a:spcPct val="115000"/>
              </a:lnSpc>
              <a:spcBef>
                <a:spcPts val="500"/>
              </a:spcBef>
              <a:spcAft>
                <a:spcPts val="1000"/>
              </a:spcAft>
            </a:pPr>
            <a:r>
              <a:rPr lang="en-US" sz="2800" b="1" dirty="0">
                <a:latin typeface="Calibri" panose="020F0502020204030204" pitchFamily="34" charset="0"/>
                <a:ea typeface="Calibri" panose="020F0502020204030204" pitchFamily="34" charset="0"/>
                <a:cs typeface="Arial" panose="020B0604020202020204" pitchFamily="34" charset="0"/>
              </a:rPr>
              <a:t>C</a:t>
            </a:r>
            <a:r>
              <a:rPr lang="ar-YE" sz="2800" b="1" dirty="0">
                <a:latin typeface="Calibri" panose="020F0502020204030204" pitchFamily="34" charset="0"/>
                <a:ea typeface="Calibri" panose="020F0502020204030204" pitchFamily="34" charset="0"/>
                <a:cs typeface="Arial" panose="020B0604020202020204" pitchFamily="34" charset="0"/>
              </a:rPr>
              <a:t>	نموذج الاعمال الالكترونية</a:t>
            </a:r>
            <a:endParaRPr lang="en-US" sz="2800" b="1" dirty="0">
              <a:latin typeface="Calibri" panose="020F0502020204030204" pitchFamily="34" charset="0"/>
              <a:ea typeface="Calibri" panose="020F0502020204030204" pitchFamily="34" charset="0"/>
              <a:cs typeface="Arial" panose="020B0604020202020204" pitchFamily="34" charset="0"/>
            </a:endParaRPr>
          </a:p>
          <a:p>
            <a:pPr algn="r" rtl="1">
              <a:lnSpc>
                <a:spcPct val="115000"/>
              </a:lnSpc>
              <a:spcBef>
                <a:spcPts val="500"/>
              </a:spcBef>
              <a:spcAft>
                <a:spcPts val="1000"/>
              </a:spcAft>
            </a:pPr>
            <a:r>
              <a:rPr lang="en-US" sz="2800" b="1" dirty="0">
                <a:latin typeface="Calibri" panose="020F0502020204030204" pitchFamily="34" charset="0"/>
                <a:ea typeface="Calibri" panose="020F0502020204030204" pitchFamily="34" charset="0"/>
                <a:cs typeface="Arial" panose="020B0604020202020204" pitchFamily="34" charset="0"/>
              </a:rPr>
              <a:t>D</a:t>
            </a:r>
            <a:r>
              <a:rPr lang="ar-YE" sz="2800" b="1" dirty="0">
                <a:latin typeface="Calibri" panose="020F0502020204030204" pitchFamily="34" charset="0"/>
                <a:ea typeface="Calibri" panose="020F0502020204030204" pitchFamily="34" charset="0"/>
                <a:cs typeface="Arial" panose="020B0604020202020204" pitchFamily="34" charset="0"/>
              </a:rPr>
              <a:t>	نموذج التجارة الالكترونية</a:t>
            </a:r>
          </a:p>
        </p:txBody>
      </p:sp>
      <p:sp>
        <p:nvSpPr>
          <p:cNvPr id="2" name="자유형: 도형 24">
            <a:extLst>
              <a:ext uri="{FF2B5EF4-FFF2-40B4-BE49-F238E27FC236}">
                <a16:creationId xmlns:a16="http://schemas.microsoft.com/office/drawing/2014/main" id="{AFC32AB0-4162-F5A0-817A-C81D869183DA}"/>
              </a:ext>
            </a:extLst>
          </p:cNvPr>
          <p:cNvSpPr/>
          <p:nvPr/>
        </p:nvSpPr>
        <p:spPr>
          <a:xfrm>
            <a:off x="8651454" y="77796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نموذج اختبار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مقرر</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إدارة 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الاعمال</a:t>
            </a:r>
          </a:p>
        </p:txBody>
      </p:sp>
    </p:spTree>
    <p:extLst>
      <p:ext uri="{BB962C8B-B14F-4D97-AF65-F5344CB8AC3E}">
        <p14:creationId xmlns:p14="http://schemas.microsoft.com/office/powerpoint/2010/main" val="328661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5E040-06DD-2785-438E-921824ECA859}"/>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6DA54FC1-78AD-6995-D825-A907FEC02AB8}"/>
              </a:ext>
            </a:extLst>
          </p:cNvPr>
          <p:cNvSpPr txBox="1"/>
          <p:nvPr/>
        </p:nvSpPr>
        <p:spPr>
          <a:xfrm>
            <a:off x="181715" y="409381"/>
            <a:ext cx="8923784" cy="6017032"/>
          </a:xfrm>
          <a:prstGeom prst="rect">
            <a:avLst/>
          </a:prstGeom>
          <a:solidFill>
            <a:schemeClr val="accent3">
              <a:lumMod val="60000"/>
              <a:lumOff val="40000"/>
            </a:schemeClr>
          </a:solidFill>
        </p:spPr>
        <p:txBody>
          <a:bodyPr wrap="square">
            <a:spAutoFit/>
          </a:bodyPr>
          <a:lstStyle/>
          <a:p>
            <a:pPr marL="857250" indent="-857250" algn="r" rtl="1">
              <a:spcBef>
                <a:spcPts val="500"/>
              </a:spcBef>
              <a:spcAft>
                <a:spcPts val="1000"/>
              </a:spcAft>
              <a:buFontTx/>
              <a:buChar char="-"/>
            </a:pPr>
            <a:r>
              <a:rPr lang="ar-YE" sz="5400" b="1" dirty="0">
                <a:effectLst/>
                <a:highlight>
                  <a:srgbClr val="00FFFF"/>
                </a:highlight>
                <a:latin typeface="Calibri" panose="020F0502020204030204" pitchFamily="34" charset="0"/>
                <a:ea typeface="Calibri" panose="020F0502020204030204" pitchFamily="34" charset="0"/>
                <a:cs typeface="Arial" panose="020B0604020202020204" pitchFamily="34" charset="0"/>
              </a:rPr>
              <a:t>اسئلة مقالية</a:t>
            </a:r>
          </a:p>
          <a:p>
            <a:pPr marL="857250" indent="-857250" algn="r" rtl="1">
              <a:spcBef>
                <a:spcPts val="500"/>
              </a:spcBef>
              <a:spcAft>
                <a:spcPts val="1000"/>
              </a:spcAft>
              <a:buFontTx/>
              <a:buChar char="-"/>
            </a:pPr>
            <a:r>
              <a:rPr lang="ar-YE" sz="3200" b="1" dirty="0">
                <a:effectLst/>
                <a:latin typeface="Calibri" panose="020F0502020204030204" pitchFamily="34" charset="0"/>
                <a:ea typeface="Calibri" panose="020F0502020204030204" pitchFamily="34" charset="0"/>
                <a:cs typeface="Arial" panose="020B0604020202020204" pitchFamily="34" charset="0"/>
              </a:rPr>
              <a:t>وضح أهمية حوكمة </a:t>
            </a:r>
            <a:r>
              <a:rPr lang="ar-YE" sz="3200" b="1" dirty="0" err="1">
                <a:effectLst/>
                <a:latin typeface="Calibri" panose="020F0502020204030204" pitchFamily="34" charset="0"/>
                <a:ea typeface="Calibri" panose="020F0502020204030204" pitchFamily="34" charset="0"/>
                <a:cs typeface="Arial" panose="020B0604020202020204" pitchFamily="34" charset="0"/>
              </a:rPr>
              <a:t>تقنمية</a:t>
            </a:r>
            <a:r>
              <a:rPr lang="ar-YE" sz="3200" b="1" dirty="0">
                <a:effectLst/>
                <a:latin typeface="Calibri" panose="020F0502020204030204" pitchFamily="34" charset="0"/>
                <a:ea typeface="Calibri" panose="020F0502020204030204" pitchFamily="34" charset="0"/>
                <a:cs typeface="Arial" panose="020B0604020202020204" pitchFamily="34" charset="0"/>
              </a:rPr>
              <a:t> المعلومات في المنظمات؟</a:t>
            </a:r>
          </a:p>
          <a:p>
            <a:pPr marL="857250" indent="-857250" algn="r" rtl="1">
              <a:spcBef>
                <a:spcPts val="500"/>
              </a:spcBef>
              <a:spcAft>
                <a:spcPts val="1000"/>
              </a:spcAft>
              <a:buFontTx/>
              <a:buChar char="-"/>
            </a:pPr>
            <a:r>
              <a:rPr lang="ar-YE" sz="3200" b="1" dirty="0">
                <a:latin typeface="Calibri" panose="020F0502020204030204" pitchFamily="34" charset="0"/>
                <a:ea typeface="Calibri" panose="020F0502020204030204" pitchFamily="34" charset="0"/>
                <a:cs typeface="Arial" panose="020B0604020202020204" pitchFamily="34" charset="0"/>
              </a:rPr>
              <a:t>ناقش فوائد واضرار الاعمال الإلكترونية على الشركات</a:t>
            </a:r>
          </a:p>
          <a:p>
            <a:pPr marL="857250" indent="-857250" algn="r" rtl="1">
              <a:spcBef>
                <a:spcPts val="500"/>
              </a:spcBef>
              <a:spcAft>
                <a:spcPts val="1000"/>
              </a:spcAft>
              <a:buFontTx/>
              <a:buChar char="-"/>
            </a:pPr>
            <a:r>
              <a:rPr lang="ar-YE" sz="3200" b="1" dirty="0">
                <a:effectLst/>
                <a:latin typeface="Calibri" panose="020F0502020204030204" pitchFamily="34" charset="0"/>
                <a:ea typeface="Calibri" panose="020F0502020204030204" pitchFamily="34" charset="0"/>
                <a:cs typeface="Arial" panose="020B0604020202020204" pitchFamily="34" charset="0"/>
              </a:rPr>
              <a:t>اشرح دور الذكاء الاصطناعي في تحسين عمليات الاعمال ودور تقنية الاعمال فيها؟</a:t>
            </a:r>
          </a:p>
          <a:p>
            <a:pPr marL="857250" indent="-857250" algn="r" rtl="1">
              <a:spcBef>
                <a:spcPts val="500"/>
              </a:spcBef>
              <a:spcAft>
                <a:spcPts val="1000"/>
              </a:spcAft>
              <a:buFontTx/>
              <a:buChar char="-"/>
            </a:pPr>
            <a:r>
              <a:rPr lang="ar-YE" sz="3200" b="1" dirty="0">
                <a:latin typeface="Calibri" panose="020F0502020204030204" pitchFamily="34" charset="0"/>
                <a:ea typeface="Calibri" panose="020F0502020204030204" pitchFamily="34" charset="0"/>
                <a:cs typeface="Arial" panose="020B0604020202020204" pitchFamily="34" charset="0"/>
              </a:rPr>
              <a:t>قارن بين نموذج الاعمال التقليدي والاعمال الالكترونية؟</a:t>
            </a:r>
          </a:p>
          <a:p>
            <a:pPr marL="857250" indent="-857250" algn="r" rtl="1">
              <a:spcBef>
                <a:spcPts val="500"/>
              </a:spcBef>
              <a:spcAft>
                <a:spcPts val="1000"/>
              </a:spcAft>
              <a:buFontTx/>
              <a:buChar char="-"/>
            </a:pPr>
            <a:r>
              <a:rPr lang="ar-YE" sz="3200" b="1" dirty="0">
                <a:effectLst/>
                <a:latin typeface="Calibri" panose="020F0502020204030204" pitchFamily="34" charset="0"/>
                <a:ea typeface="Calibri" panose="020F0502020204030204" pitchFamily="34" charset="0"/>
                <a:cs typeface="Arial" panose="020B0604020202020204" pitchFamily="34" charset="0"/>
              </a:rPr>
              <a:t>حلل أسباب فشل الشركات في تطبيق نظام إدارة علاقات العملاء (</a:t>
            </a:r>
            <a:r>
              <a:rPr lang="en-US" sz="3200" b="1" dirty="0">
                <a:effectLst/>
                <a:latin typeface="Calibri" panose="020F0502020204030204" pitchFamily="34" charset="0"/>
                <a:ea typeface="Calibri" panose="020F0502020204030204" pitchFamily="34" charset="0"/>
                <a:cs typeface="Arial" panose="020B0604020202020204" pitchFamily="34" charset="0"/>
              </a:rPr>
              <a:t>CRM</a:t>
            </a:r>
            <a:r>
              <a:rPr lang="ar-YE" sz="3200" b="1" dirty="0">
                <a:effectLst/>
                <a:latin typeface="Calibri" panose="020F0502020204030204" pitchFamily="34" charset="0"/>
                <a:ea typeface="Calibri" panose="020F0502020204030204" pitchFamily="34" charset="0"/>
                <a:cs typeface="Arial" panose="020B0604020202020204" pitchFamily="34" charset="0"/>
              </a:rPr>
              <a:t>)</a:t>
            </a:r>
            <a:r>
              <a:rPr lang="en-US" sz="3200" b="1" dirty="0">
                <a:effectLst/>
                <a:latin typeface="Calibri" panose="020F0502020204030204" pitchFamily="34" charset="0"/>
                <a:ea typeface="Calibri" panose="020F0502020204030204" pitchFamily="34" charset="0"/>
                <a:cs typeface="Arial" panose="020B0604020202020204" pitchFamily="34" charset="0"/>
              </a:rPr>
              <a:t> </a:t>
            </a:r>
            <a:r>
              <a:rPr lang="ar-YE" sz="3200" b="1" dirty="0">
                <a:effectLst/>
                <a:latin typeface="Calibri" panose="020F0502020204030204" pitchFamily="34" charset="0"/>
                <a:ea typeface="Calibri" panose="020F0502020204030204" pitchFamily="34" charset="0"/>
                <a:cs typeface="Arial" panose="020B0604020202020204" pitchFamily="34" charset="0"/>
              </a:rPr>
              <a:t> والحلول المقترحة لتفادي ذلك مستقبلا؟</a:t>
            </a:r>
          </a:p>
          <a:p>
            <a:pPr marL="857250" indent="-857250" algn="r" rtl="1">
              <a:spcBef>
                <a:spcPts val="500"/>
              </a:spcBef>
              <a:spcAft>
                <a:spcPts val="1000"/>
              </a:spcAft>
              <a:buFontTx/>
              <a:buChar char="-"/>
            </a:pPr>
            <a:r>
              <a:rPr lang="ar-YE" sz="3200" b="1" dirty="0">
                <a:latin typeface="Calibri" panose="020F0502020204030204" pitchFamily="34" charset="0"/>
                <a:ea typeface="Calibri" panose="020F0502020204030204" pitchFamily="34" charset="0"/>
                <a:cs typeface="Arial" panose="020B0604020202020204" pitchFamily="34" charset="0"/>
              </a:rPr>
              <a:t>قارن بين نموذجي حوكمة تقنية المعلومات ( </a:t>
            </a:r>
            <a:r>
              <a:rPr lang="en-US" sz="3200" b="1" dirty="0">
                <a:latin typeface="Calibri" panose="020F0502020204030204" pitchFamily="34" charset="0"/>
                <a:ea typeface="Calibri" panose="020F0502020204030204" pitchFamily="34" charset="0"/>
                <a:cs typeface="Arial" panose="020B0604020202020204" pitchFamily="34" charset="0"/>
              </a:rPr>
              <a:t>ITIL - COPI</a:t>
            </a:r>
            <a:r>
              <a:rPr lang="ar-YE" sz="3200" b="1" dirty="0">
                <a:latin typeface="Calibri" panose="020F0502020204030204" pitchFamily="34" charset="0"/>
                <a:ea typeface="Calibri" panose="020F0502020204030204" pitchFamily="34" charset="0"/>
                <a:cs typeface="Arial" panose="020B0604020202020204" pitchFamily="34" charset="0"/>
              </a:rPr>
              <a:t>)</a:t>
            </a:r>
            <a:endParaRPr lang="ar-YE" sz="3200" b="1" dirty="0">
              <a:effectLst/>
              <a:latin typeface="Calibri" panose="020F0502020204030204" pitchFamily="34" charset="0"/>
              <a:ea typeface="Calibri" panose="020F0502020204030204" pitchFamily="34" charset="0"/>
              <a:cs typeface="Arial" panose="020B0604020202020204" pitchFamily="34" charset="0"/>
            </a:endParaRPr>
          </a:p>
        </p:txBody>
      </p:sp>
      <p:sp>
        <p:nvSpPr>
          <p:cNvPr id="2" name="자유형: 도형 24">
            <a:extLst>
              <a:ext uri="{FF2B5EF4-FFF2-40B4-BE49-F238E27FC236}">
                <a16:creationId xmlns:a16="http://schemas.microsoft.com/office/drawing/2014/main" id="{D595A1AD-2A1A-63E0-1F2A-BA3431E8EEB6}"/>
              </a:ext>
            </a:extLst>
          </p:cNvPr>
          <p:cNvSpPr/>
          <p:nvPr/>
        </p:nvSpPr>
        <p:spPr>
          <a:xfrm>
            <a:off x="8651454" y="77796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نموذج اختبار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مقرر</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إدارة 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الاعمال</a:t>
            </a:r>
          </a:p>
        </p:txBody>
      </p:sp>
    </p:spTree>
    <p:extLst>
      <p:ext uri="{BB962C8B-B14F-4D97-AF65-F5344CB8AC3E}">
        <p14:creationId xmlns:p14="http://schemas.microsoft.com/office/powerpoint/2010/main" val="17856366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AF227-969F-D2DE-E683-284D0BF95539}"/>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B1824F79-BAEB-67E7-4EA2-E8F2166FDF33}"/>
              </a:ext>
            </a:extLst>
          </p:cNvPr>
          <p:cNvSpPr txBox="1"/>
          <p:nvPr/>
        </p:nvSpPr>
        <p:spPr>
          <a:xfrm>
            <a:off x="181714" y="228123"/>
            <a:ext cx="8923784" cy="6401753"/>
          </a:xfrm>
          <a:prstGeom prst="rect">
            <a:avLst/>
          </a:prstGeom>
          <a:solidFill>
            <a:schemeClr val="accent3">
              <a:lumMod val="60000"/>
              <a:lumOff val="40000"/>
            </a:schemeClr>
          </a:solidFill>
        </p:spPr>
        <p:txBody>
          <a:bodyPr wrap="square">
            <a:spAutoFit/>
          </a:bodyPr>
          <a:lstStyle/>
          <a:p>
            <a:pPr marL="857250" indent="-857250" algn="r" rtl="1">
              <a:spcBef>
                <a:spcPts val="500"/>
              </a:spcBef>
              <a:spcAft>
                <a:spcPts val="1000"/>
              </a:spcAft>
              <a:buFontTx/>
              <a:buChar char="-"/>
            </a:pPr>
            <a:r>
              <a:rPr lang="ar-YE" sz="5400" b="1" dirty="0">
                <a:effectLst/>
                <a:highlight>
                  <a:srgbClr val="00FFFF"/>
                </a:highlight>
                <a:latin typeface="Calibri" panose="020F0502020204030204" pitchFamily="34" charset="0"/>
                <a:ea typeface="Calibri" panose="020F0502020204030204" pitchFamily="34" charset="0"/>
                <a:cs typeface="Arial" panose="020B0604020202020204" pitchFamily="34" charset="0"/>
              </a:rPr>
              <a:t>اسئلة عدد:</a:t>
            </a:r>
          </a:p>
          <a:p>
            <a:pPr marL="857250" indent="-857250" algn="r" rtl="1">
              <a:spcBef>
                <a:spcPts val="500"/>
              </a:spcBef>
              <a:spcAft>
                <a:spcPts val="1000"/>
              </a:spcAft>
              <a:buFontTx/>
              <a:buChar char="-"/>
            </a:pPr>
            <a:r>
              <a:rPr lang="ar-YE" sz="3200" b="1" dirty="0">
                <a:effectLst/>
                <a:latin typeface="Calibri" panose="020F0502020204030204" pitchFamily="34" charset="0"/>
                <a:ea typeface="Calibri" panose="020F0502020204030204" pitchFamily="34" charset="0"/>
                <a:cs typeface="Arial" panose="020B0604020202020204" pitchFamily="34" charset="0"/>
              </a:rPr>
              <a:t>اذكر دون شرح كل مما يأتي :</a:t>
            </a:r>
          </a:p>
          <a:p>
            <a:pPr marL="1314450" lvl="1" indent="-857250" algn="r" rtl="1">
              <a:spcBef>
                <a:spcPts val="500"/>
              </a:spcBef>
              <a:spcAft>
                <a:spcPts val="1000"/>
              </a:spcAft>
              <a:buFontTx/>
              <a:buChar char="-"/>
            </a:pPr>
            <a:r>
              <a:rPr lang="ar-YE" sz="3200" b="1" dirty="0">
                <a:latin typeface="Calibri" panose="020F0502020204030204" pitchFamily="34" charset="0"/>
                <a:ea typeface="Calibri" panose="020F0502020204030204" pitchFamily="34" charset="0"/>
                <a:cs typeface="Arial" panose="020B0604020202020204" pitchFamily="34" charset="0"/>
              </a:rPr>
              <a:t>أنواع الشبكات في البنية التحتية لتقنية المعلومات</a:t>
            </a:r>
          </a:p>
          <a:p>
            <a:pPr marL="1314450" lvl="1" indent="-857250" algn="r" rtl="1">
              <a:spcBef>
                <a:spcPts val="500"/>
              </a:spcBef>
              <a:spcAft>
                <a:spcPts val="1000"/>
              </a:spcAft>
              <a:buFontTx/>
              <a:buChar char="-"/>
            </a:pPr>
            <a:r>
              <a:rPr lang="ar-YE" sz="3200" b="1" dirty="0">
                <a:effectLst/>
                <a:latin typeface="Calibri" panose="020F0502020204030204" pitchFamily="34" charset="0"/>
                <a:ea typeface="Calibri" panose="020F0502020204030204" pitchFamily="34" charset="0"/>
                <a:cs typeface="Arial" panose="020B0604020202020204" pitchFamily="34" charset="0"/>
              </a:rPr>
              <a:t>المكونات الأساسية </a:t>
            </a:r>
            <a:r>
              <a:rPr lang="ar-YE" sz="3200" b="1" dirty="0">
                <a:latin typeface="Calibri" panose="020F0502020204030204" pitchFamily="34" charset="0"/>
                <a:ea typeface="Calibri" panose="020F0502020204030204" pitchFamily="34" charset="0"/>
                <a:cs typeface="Arial" panose="020B0604020202020204" pitchFamily="34" charset="0"/>
              </a:rPr>
              <a:t>للبنية التحتية لتقنية المعلومات</a:t>
            </a:r>
          </a:p>
          <a:p>
            <a:pPr marL="1314450" lvl="1" indent="-857250" algn="r" rtl="1">
              <a:spcBef>
                <a:spcPts val="500"/>
              </a:spcBef>
              <a:spcAft>
                <a:spcPts val="1000"/>
              </a:spcAft>
              <a:buFontTx/>
              <a:buChar char="-"/>
            </a:pPr>
            <a:r>
              <a:rPr lang="ar-YE" sz="3200" b="1" dirty="0">
                <a:effectLst/>
                <a:latin typeface="Calibri" panose="020F0502020204030204" pitchFamily="34" charset="0"/>
                <a:ea typeface="Calibri" panose="020F0502020204030204" pitchFamily="34" charset="0"/>
                <a:cs typeface="Arial" panose="020B0604020202020204" pitchFamily="34" charset="0"/>
              </a:rPr>
              <a:t>التهديدات الأمنية التي تواجه إدارة تقنية المعلومات</a:t>
            </a:r>
          </a:p>
          <a:p>
            <a:pPr marL="1314450" lvl="1" indent="-857250" algn="r" rtl="1">
              <a:spcBef>
                <a:spcPts val="500"/>
              </a:spcBef>
              <a:spcAft>
                <a:spcPts val="1000"/>
              </a:spcAft>
              <a:buFontTx/>
              <a:buChar char="-"/>
            </a:pPr>
            <a:r>
              <a:rPr lang="ar-YE" sz="3200" b="1" dirty="0">
                <a:latin typeface="Calibri" panose="020F0502020204030204" pitchFamily="34" charset="0"/>
                <a:ea typeface="Calibri" panose="020F0502020204030204" pitchFamily="34" charset="0"/>
                <a:cs typeface="Arial" panose="020B0604020202020204" pitchFamily="34" charset="0"/>
              </a:rPr>
              <a:t>نماذج حوكمة المعلومات</a:t>
            </a:r>
          </a:p>
          <a:p>
            <a:pPr marL="1314450" lvl="1" indent="-857250" algn="r" rtl="1">
              <a:spcBef>
                <a:spcPts val="500"/>
              </a:spcBef>
              <a:spcAft>
                <a:spcPts val="1000"/>
              </a:spcAft>
              <a:buFontTx/>
              <a:buChar char="-"/>
            </a:pPr>
            <a:r>
              <a:rPr lang="ar-YE" sz="3200" b="1" dirty="0">
                <a:effectLst/>
                <a:latin typeface="Calibri" panose="020F0502020204030204" pitchFamily="34" charset="0"/>
                <a:ea typeface="Calibri" panose="020F0502020204030204" pitchFamily="34" charset="0"/>
                <a:cs typeface="Arial" panose="020B0604020202020204" pitchFamily="34" charset="0"/>
              </a:rPr>
              <a:t>أنواع السحابة الالكترونية</a:t>
            </a:r>
          </a:p>
          <a:p>
            <a:pPr marL="1314450" lvl="1" indent="-857250" algn="r" rtl="1">
              <a:spcBef>
                <a:spcPts val="500"/>
              </a:spcBef>
              <a:spcAft>
                <a:spcPts val="1000"/>
              </a:spcAft>
              <a:buFontTx/>
              <a:buChar char="-"/>
            </a:pPr>
            <a:r>
              <a:rPr lang="ar-YE" sz="3200" b="1" dirty="0">
                <a:latin typeface="Calibri" panose="020F0502020204030204" pitchFamily="34" charset="0"/>
                <a:ea typeface="Calibri" panose="020F0502020204030204" pitchFamily="34" charset="0"/>
                <a:cs typeface="Arial" panose="020B0604020202020204" pitchFamily="34" charset="0"/>
              </a:rPr>
              <a:t>نماذج التجارة الالكترونية</a:t>
            </a:r>
          </a:p>
          <a:p>
            <a:pPr marL="1314450" lvl="1" indent="-857250" algn="r" rtl="1">
              <a:spcBef>
                <a:spcPts val="500"/>
              </a:spcBef>
              <a:spcAft>
                <a:spcPts val="1000"/>
              </a:spcAft>
              <a:buFontTx/>
              <a:buChar char="-"/>
            </a:pPr>
            <a:r>
              <a:rPr lang="ar-YE" sz="3200" b="1" dirty="0">
                <a:effectLst/>
                <a:latin typeface="Calibri" panose="020F0502020204030204" pitchFamily="34" charset="0"/>
                <a:ea typeface="Calibri" panose="020F0502020204030204" pitchFamily="34" charset="0"/>
                <a:cs typeface="Arial" panose="020B0604020202020204" pitchFamily="34" charset="0"/>
              </a:rPr>
              <a:t>أنواع منظمات الاعمال الالكترونية</a:t>
            </a:r>
          </a:p>
        </p:txBody>
      </p:sp>
      <p:sp>
        <p:nvSpPr>
          <p:cNvPr id="2" name="자유형: 도형 24">
            <a:extLst>
              <a:ext uri="{FF2B5EF4-FFF2-40B4-BE49-F238E27FC236}">
                <a16:creationId xmlns:a16="http://schemas.microsoft.com/office/drawing/2014/main" id="{51177E13-043C-C1B8-EA05-0021F843EB47}"/>
              </a:ext>
            </a:extLst>
          </p:cNvPr>
          <p:cNvSpPr/>
          <p:nvPr/>
        </p:nvSpPr>
        <p:spPr>
          <a:xfrm>
            <a:off x="8651454" y="77796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نموذج اختبار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مقرر</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إدارة 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الاعمال</a:t>
            </a:r>
          </a:p>
        </p:txBody>
      </p:sp>
    </p:spTree>
    <p:extLst>
      <p:ext uri="{BB962C8B-B14F-4D97-AF65-F5344CB8AC3E}">
        <p14:creationId xmlns:p14="http://schemas.microsoft.com/office/powerpoint/2010/main" val="13221393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6F441-CC97-EF26-366C-320546E8FC12}"/>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3400DB5C-29AC-C476-3BC9-F9382FF48C37}"/>
              </a:ext>
            </a:extLst>
          </p:cNvPr>
          <p:cNvSpPr txBox="1"/>
          <p:nvPr/>
        </p:nvSpPr>
        <p:spPr>
          <a:xfrm>
            <a:off x="181714" y="362876"/>
            <a:ext cx="8923784" cy="6272486"/>
          </a:xfrm>
          <a:prstGeom prst="rect">
            <a:avLst/>
          </a:prstGeom>
          <a:solidFill>
            <a:schemeClr val="accent3">
              <a:lumMod val="60000"/>
              <a:lumOff val="40000"/>
            </a:schemeClr>
          </a:solidFill>
        </p:spPr>
        <p:txBody>
          <a:bodyPr wrap="square">
            <a:spAutoFit/>
          </a:bodyPr>
          <a:lstStyle/>
          <a:p>
            <a:pPr marL="857250" indent="-857250" algn="r" rtl="1">
              <a:spcBef>
                <a:spcPts val="500"/>
              </a:spcBef>
              <a:spcAft>
                <a:spcPts val="1000"/>
              </a:spcAft>
              <a:buFontTx/>
              <a:buChar char="-"/>
            </a:pPr>
            <a:r>
              <a:rPr lang="ar-YE" sz="5400" b="1" dirty="0">
                <a:effectLst/>
                <a:highlight>
                  <a:srgbClr val="00FFFF"/>
                </a:highlight>
                <a:latin typeface="Calibri" panose="020F0502020204030204" pitchFamily="34" charset="0"/>
                <a:ea typeface="Calibri" panose="020F0502020204030204" pitchFamily="34" charset="0"/>
                <a:cs typeface="Arial" panose="020B0604020202020204" pitchFamily="34" charset="0"/>
              </a:rPr>
              <a:t>اسئلة بحثية (مجموعة عمل):</a:t>
            </a:r>
          </a:p>
          <a:p>
            <a:pPr marL="857250" indent="-857250" algn="r" rtl="1">
              <a:spcBef>
                <a:spcPts val="500"/>
              </a:spcBef>
              <a:spcAft>
                <a:spcPts val="1000"/>
              </a:spcAft>
              <a:buFontTx/>
              <a:buChar char="-"/>
            </a:pPr>
            <a:r>
              <a:rPr lang="ar-YE" sz="3200" b="1" dirty="0">
                <a:effectLst/>
                <a:latin typeface="Calibri" panose="020F0502020204030204" pitchFamily="34" charset="0"/>
                <a:ea typeface="Calibri" panose="020F0502020204030204" pitchFamily="34" charset="0"/>
                <a:cs typeface="Arial" panose="020B0604020202020204" pitchFamily="34" charset="0"/>
              </a:rPr>
              <a:t>قم من خلال فريقك بتحليل التالي:</a:t>
            </a:r>
          </a:p>
          <a:p>
            <a:pPr marL="1314450" lvl="1" indent="-857250" algn="r" rtl="1">
              <a:spcBef>
                <a:spcPts val="500"/>
              </a:spcBef>
              <a:spcAft>
                <a:spcPts val="1000"/>
              </a:spcAft>
              <a:buFontTx/>
              <a:buChar char="-"/>
            </a:pPr>
            <a:r>
              <a:rPr lang="ar-YE" sz="3200" b="1" dirty="0">
                <a:latin typeface="Calibri" panose="020F0502020204030204" pitchFamily="34" charset="0"/>
                <a:ea typeface="Calibri" panose="020F0502020204030204" pitchFamily="34" charset="0"/>
                <a:cs typeface="Arial" panose="020B0604020202020204" pitchFamily="34" charset="0"/>
              </a:rPr>
              <a:t>فوائد ومخاطر السحابة الالكترونية وانواعها وما متطلبات بناء سحابة الكترونية للجامعة التي تنتمي اليها؟</a:t>
            </a:r>
          </a:p>
          <a:p>
            <a:pPr marL="1314450" lvl="1" indent="-857250" algn="r" rtl="1">
              <a:lnSpc>
                <a:spcPct val="115000"/>
              </a:lnSpc>
              <a:spcBef>
                <a:spcPts val="500"/>
              </a:spcBef>
              <a:spcAft>
                <a:spcPts val="1000"/>
              </a:spcAft>
              <a:buFontTx/>
              <a:buChar char="-"/>
            </a:pPr>
            <a:r>
              <a:rPr lang="ar-YE" sz="3200" b="1" dirty="0">
                <a:latin typeface="Calibri" panose="020F0502020204030204" pitchFamily="34" charset="0"/>
                <a:ea typeface="Calibri" panose="020F0502020204030204" pitchFamily="34" charset="0"/>
                <a:cs typeface="Arial" panose="020B0604020202020204" pitchFamily="34" charset="0"/>
              </a:rPr>
              <a:t>قدم تصور متكامل لبناء نظم تخطيط موارد (</a:t>
            </a:r>
            <a:r>
              <a:rPr lang="en-US" sz="3200" b="1" dirty="0">
                <a:latin typeface="Calibri" panose="020F0502020204030204" pitchFamily="34" charset="0"/>
                <a:ea typeface="Calibri" panose="020F0502020204030204" pitchFamily="34" charset="0"/>
                <a:cs typeface="Arial" panose="020B0604020202020204" pitchFamily="34" charset="0"/>
              </a:rPr>
              <a:t>ERP</a:t>
            </a:r>
            <a:r>
              <a:rPr lang="ar-YE" sz="3200" b="1" dirty="0">
                <a:latin typeface="Calibri" panose="020F0502020204030204" pitchFamily="34" charset="0"/>
                <a:ea typeface="Calibri" panose="020F0502020204030204" pitchFamily="34" charset="0"/>
                <a:cs typeface="Arial" panose="020B0604020202020204" pitchFamily="34" charset="0"/>
              </a:rPr>
              <a:t>) ونظم إدارة علاقات العملاء (</a:t>
            </a:r>
            <a:r>
              <a:rPr lang="en-US" sz="3200" b="1" dirty="0">
                <a:latin typeface="Calibri" panose="020F0502020204030204" pitchFamily="34" charset="0"/>
                <a:ea typeface="Calibri" panose="020F0502020204030204" pitchFamily="34" charset="0"/>
                <a:cs typeface="Arial" panose="020B0604020202020204" pitchFamily="34" charset="0"/>
              </a:rPr>
              <a:t>CRM</a:t>
            </a:r>
            <a:r>
              <a:rPr lang="ar-YE" sz="3200" b="1" dirty="0">
                <a:latin typeface="Calibri" panose="020F0502020204030204" pitchFamily="34" charset="0"/>
                <a:ea typeface="Calibri" panose="020F0502020204030204" pitchFamily="34" charset="0"/>
                <a:cs typeface="Arial" panose="020B0604020202020204" pitchFamily="34" charset="0"/>
              </a:rPr>
              <a:t>) لشركة مفترضة من لديك.</a:t>
            </a:r>
            <a:endParaRPr lang="en-US" sz="3200" b="1" dirty="0">
              <a:latin typeface="Calibri" panose="020F0502020204030204" pitchFamily="34" charset="0"/>
              <a:ea typeface="Calibri" panose="020F0502020204030204" pitchFamily="34" charset="0"/>
              <a:cs typeface="Arial" panose="020B0604020202020204" pitchFamily="34" charset="0"/>
            </a:endParaRPr>
          </a:p>
          <a:p>
            <a:pPr marL="1314450" lvl="1" indent="-857250" algn="r" rtl="1">
              <a:spcBef>
                <a:spcPts val="500"/>
              </a:spcBef>
              <a:spcAft>
                <a:spcPts val="1000"/>
              </a:spcAft>
              <a:buFontTx/>
              <a:buChar char="-"/>
            </a:pPr>
            <a:r>
              <a:rPr lang="ar-YE" sz="3200" b="1" dirty="0">
                <a:latin typeface="Calibri" panose="020F0502020204030204" pitchFamily="34" charset="0"/>
                <a:ea typeface="Calibri" panose="020F0502020204030204" pitchFamily="34" charset="0"/>
                <a:cs typeface="Arial" panose="020B0604020202020204" pitchFamily="34" charset="0"/>
              </a:rPr>
              <a:t>كمهندس ومدير إدارة تقنية المعلومات اكتب مقالة في الذكاء الصناعي في مجال إدارة الاعمال  وتطبيقاته المختلفة واهم نماذجه الممكن تطبيقها على المنظمات الصحية</a:t>
            </a:r>
          </a:p>
        </p:txBody>
      </p:sp>
      <p:sp>
        <p:nvSpPr>
          <p:cNvPr id="2" name="자유형: 도형 24">
            <a:extLst>
              <a:ext uri="{FF2B5EF4-FFF2-40B4-BE49-F238E27FC236}">
                <a16:creationId xmlns:a16="http://schemas.microsoft.com/office/drawing/2014/main" id="{CD498CCB-7112-0A28-74A7-F4094182C0C7}"/>
              </a:ext>
            </a:extLst>
          </p:cNvPr>
          <p:cNvSpPr/>
          <p:nvPr/>
        </p:nvSpPr>
        <p:spPr>
          <a:xfrm>
            <a:off x="8651454" y="777965"/>
            <a:ext cx="3358832" cy="4653885"/>
          </a:xfrm>
          <a:custGeom>
            <a:avLst/>
            <a:gdLst>
              <a:gd name="connsiteX0" fmla="*/ 3438906 w 3522345"/>
              <a:gd name="connsiteY0" fmla="*/ 1962531 h 3522345"/>
              <a:gd name="connsiteX1" fmla="*/ 1962531 w 3522345"/>
              <a:gd name="connsiteY1" fmla="*/ 3438906 h 3522345"/>
              <a:gd name="connsiteX2" fmla="*/ 1559814 w 3522345"/>
              <a:gd name="connsiteY2" fmla="*/ 3438906 h 3522345"/>
              <a:gd name="connsiteX3" fmla="*/ 83439 w 3522345"/>
              <a:gd name="connsiteY3" fmla="*/ 1962531 h 3522345"/>
              <a:gd name="connsiteX4" fmla="*/ 83439 w 3522345"/>
              <a:gd name="connsiteY4" fmla="*/ 1559814 h 3522345"/>
              <a:gd name="connsiteX5" fmla="*/ 1559814 w 3522345"/>
              <a:gd name="connsiteY5" fmla="*/ 83439 h 3522345"/>
              <a:gd name="connsiteX6" fmla="*/ 1962531 w 3522345"/>
              <a:gd name="connsiteY6" fmla="*/ 83439 h 3522345"/>
              <a:gd name="connsiteX7" fmla="*/ 3438906 w 3522345"/>
              <a:gd name="connsiteY7" fmla="*/ 1559814 h 3522345"/>
              <a:gd name="connsiteX8" fmla="*/ 3438906 w 3522345"/>
              <a:gd name="connsiteY8" fmla="*/ 1962531 h 35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2345" h="3522345">
                <a:moveTo>
                  <a:pt x="3438906" y="1962531"/>
                </a:moveTo>
                <a:lnTo>
                  <a:pt x="1962531" y="3438906"/>
                </a:lnTo>
                <a:cubicBezTo>
                  <a:pt x="1851279" y="3550158"/>
                  <a:pt x="1670971" y="3550158"/>
                  <a:pt x="1559814" y="3438906"/>
                </a:cubicBezTo>
                <a:lnTo>
                  <a:pt x="83439" y="1962531"/>
                </a:lnTo>
                <a:cubicBezTo>
                  <a:pt x="-27813" y="1851279"/>
                  <a:pt x="-27813" y="1670971"/>
                  <a:pt x="83439" y="1559814"/>
                </a:cubicBezTo>
                <a:lnTo>
                  <a:pt x="1559814" y="83439"/>
                </a:lnTo>
                <a:cubicBezTo>
                  <a:pt x="1671066" y="-27813"/>
                  <a:pt x="1851374" y="-27813"/>
                  <a:pt x="1962531" y="83439"/>
                </a:cubicBezTo>
                <a:lnTo>
                  <a:pt x="3438906" y="1559814"/>
                </a:lnTo>
                <a:cubicBezTo>
                  <a:pt x="3550158" y="1670971"/>
                  <a:pt x="3550158" y="1851279"/>
                  <a:pt x="3438906" y="1962531"/>
                </a:cubicBezTo>
                <a:close/>
              </a:path>
            </a:pathLst>
          </a:custGeom>
          <a:solidFill>
            <a:schemeClr val="accent3">
              <a:lumMod val="75000"/>
            </a:schemeClr>
          </a:solidFill>
          <a:ln w="9525" cap="flat">
            <a:noFill/>
            <a:prstDash val="solid"/>
            <a:miter/>
          </a:ln>
        </p:spPr>
        <p:txBody>
          <a:bodyPr rtlCol="0" anchor="ctr"/>
          <a:lstStyle/>
          <a:p>
            <a:pPr algn="ctr" rtl="1"/>
            <a:r>
              <a:rPr lang="ar-YE" sz="4000" b="1" dirty="0">
                <a:latin typeface="Calibri" panose="020F0502020204030204" pitchFamily="34" charset="0"/>
                <a:ea typeface="Calibri" panose="020F0502020204030204" pitchFamily="34" charset="0"/>
                <a:cs typeface="Arial" panose="020B0604020202020204" pitchFamily="34" charset="0"/>
              </a:rPr>
              <a:t>نموذج اختبار </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مقرر</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إدارة تقنية</a:t>
            </a:r>
          </a:p>
          <a:p>
            <a:pPr algn="ctr" rtl="1"/>
            <a:r>
              <a:rPr lang="ar-YE" sz="4000" b="1" dirty="0">
                <a:latin typeface="Calibri" panose="020F0502020204030204" pitchFamily="34" charset="0"/>
                <a:ea typeface="Calibri" panose="020F0502020204030204" pitchFamily="34" charset="0"/>
                <a:cs typeface="Arial" panose="020B0604020202020204" pitchFamily="34" charset="0"/>
              </a:rPr>
              <a:t>الاعمال</a:t>
            </a:r>
          </a:p>
        </p:txBody>
      </p:sp>
    </p:spTree>
    <p:extLst>
      <p:ext uri="{BB962C8B-B14F-4D97-AF65-F5344CB8AC3E}">
        <p14:creationId xmlns:p14="http://schemas.microsoft.com/office/powerpoint/2010/main" val="790844717"/>
      </p:ext>
    </p:extLst>
  </p:cSld>
  <p:clrMapOvr>
    <a:masterClrMapping/>
  </p:clrMapOvr>
</p:sld>
</file>

<file path=ppt/theme/theme1.xml><?xml version="1.0" encoding="utf-8"?>
<a:theme xmlns:a="http://schemas.openxmlformats.org/drawingml/2006/main" name="Cover and End Slide Master">
  <a:themeElements>
    <a:clrScheme name="ALLPPT-112">
      <a:dk1>
        <a:sysClr val="windowText" lastClr="000000"/>
      </a:dk1>
      <a:lt1>
        <a:sysClr val="window" lastClr="FFFFFF"/>
      </a:lt1>
      <a:dk2>
        <a:srgbClr val="1F497D"/>
      </a:dk2>
      <a:lt2>
        <a:srgbClr val="EEECE1"/>
      </a:lt2>
      <a:accent1>
        <a:srgbClr val="17B6FF"/>
      </a:accent1>
      <a:accent2>
        <a:srgbClr val="7CE200"/>
      </a:accent2>
      <a:accent3>
        <a:srgbClr val="FD9034"/>
      </a:accent3>
      <a:accent4>
        <a:srgbClr val="FFD434"/>
      </a:accent4>
      <a:accent5>
        <a:srgbClr val="DC00C8"/>
      </a:accent5>
      <a:accent6>
        <a:srgbClr val="FF0000"/>
      </a:accent6>
      <a:hlink>
        <a:srgbClr val="FFFFFF"/>
      </a:hlink>
      <a:folHlink>
        <a:srgbClr val="800080"/>
      </a:folHlink>
    </a:clrScheme>
    <a:fontScheme name="ALLPPT PONTS">
      <a:majorFont>
        <a:latin typeface="Arial"/>
        <a:ea typeface="Malgun Gothic"/>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112">
      <a:dk1>
        <a:sysClr val="windowText" lastClr="000000"/>
      </a:dk1>
      <a:lt1>
        <a:sysClr val="window" lastClr="FFFFFF"/>
      </a:lt1>
      <a:dk2>
        <a:srgbClr val="1F497D"/>
      </a:dk2>
      <a:lt2>
        <a:srgbClr val="EEECE1"/>
      </a:lt2>
      <a:accent1>
        <a:srgbClr val="17B6FF"/>
      </a:accent1>
      <a:accent2>
        <a:srgbClr val="7CE200"/>
      </a:accent2>
      <a:accent3>
        <a:srgbClr val="FD9034"/>
      </a:accent3>
      <a:accent4>
        <a:srgbClr val="FFD434"/>
      </a:accent4>
      <a:accent5>
        <a:srgbClr val="DC00C8"/>
      </a:accent5>
      <a:accent6>
        <a:srgbClr val="FF0000"/>
      </a:accent6>
      <a:hlink>
        <a:srgbClr val="FFFF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112">
      <a:dk1>
        <a:sysClr val="windowText" lastClr="000000"/>
      </a:dk1>
      <a:lt1>
        <a:sysClr val="window" lastClr="FFFFFF"/>
      </a:lt1>
      <a:dk2>
        <a:srgbClr val="1F497D"/>
      </a:dk2>
      <a:lt2>
        <a:srgbClr val="EEECE1"/>
      </a:lt2>
      <a:accent1>
        <a:srgbClr val="17B6FF"/>
      </a:accent1>
      <a:accent2>
        <a:srgbClr val="7CE200"/>
      </a:accent2>
      <a:accent3>
        <a:srgbClr val="FD9034"/>
      </a:accent3>
      <a:accent4>
        <a:srgbClr val="FFD434"/>
      </a:accent4>
      <a:accent5>
        <a:srgbClr val="DC00C8"/>
      </a:accent5>
      <a:accent6>
        <a:srgbClr val="FF0000"/>
      </a:accent6>
      <a:hlink>
        <a:srgbClr val="FFFF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9856</TotalTime>
  <Words>3722</Words>
  <Application>Microsoft Office PowerPoint</Application>
  <PresentationFormat>شاشة عريضة</PresentationFormat>
  <Paragraphs>624</Paragraphs>
  <Slides>77</Slides>
  <Notes>0</Notes>
  <HiddenSlides>0</HiddenSlides>
  <MMClips>0</MMClips>
  <ScaleCrop>false</ScaleCrop>
  <HeadingPairs>
    <vt:vector size="6" baseType="variant">
      <vt:variant>
        <vt:lpstr>الخطوط المستخدمة</vt:lpstr>
      </vt:variant>
      <vt:variant>
        <vt:i4>5</vt:i4>
      </vt:variant>
      <vt:variant>
        <vt:lpstr>نسق</vt:lpstr>
      </vt:variant>
      <vt:variant>
        <vt:i4>3</vt:i4>
      </vt:variant>
      <vt:variant>
        <vt:lpstr>عناوين الشرائح</vt:lpstr>
      </vt:variant>
      <vt:variant>
        <vt:i4>77</vt:i4>
      </vt:variant>
    </vt:vector>
  </HeadingPairs>
  <TitlesOfParts>
    <vt:vector size="85" baseType="lpstr">
      <vt:lpstr>-apple-system</vt:lpstr>
      <vt:lpstr>Arial</vt:lpstr>
      <vt:lpstr>Calibri</vt:lpstr>
      <vt:lpstr>Symbol</vt:lpstr>
      <vt:lpstr>Wingdings</vt:lpstr>
      <vt:lpstr>Cover and End Slide Master</vt:lpstr>
      <vt:lpstr>Contents Slide Master</vt:lpstr>
      <vt:lpstr>Section Break Slide Master</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gemal alkmim</cp:lastModifiedBy>
  <cp:revision>135</cp:revision>
  <dcterms:created xsi:type="dcterms:W3CDTF">2020-01-20T05:08:25Z</dcterms:created>
  <dcterms:modified xsi:type="dcterms:W3CDTF">2024-12-29T09:06:24Z</dcterms:modified>
</cp:coreProperties>
</file>